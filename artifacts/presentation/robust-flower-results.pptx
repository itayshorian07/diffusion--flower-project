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80261c37e24ef3" /><Relationship Type="http://schemas.openxmlformats.org/officeDocument/2006/relationships/extended-properties" Target="/docProps/app.xml" Id="R262b725290d945b3" /><Relationship Type="http://schemas.openxmlformats.org/officeDocument/2006/relationships/officeDocument" Target="/ppt/presentation.xml" Id="Rb8f974ebb3eb43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34f743c7f146b9"/>
  </p:sldMasterIdLst>
  <p:notesMasterIdLst>
    <p:notesMasterId xmlns:r="http://schemas.openxmlformats.org/officeDocument/2006/relationships" r:id="R214f424b75e8452b"/>
  </p:notesMasterIdLst>
  <p:sldIdLst>
    <p:sldId xmlns:r="http://schemas.openxmlformats.org/officeDocument/2006/relationships" id="256" r:id="Rfa5236a6a7204371"/>
    <p:sldId xmlns:r="http://schemas.openxmlformats.org/officeDocument/2006/relationships" id="257" r:id="R677d0c24af6340c8"/>
    <p:sldId xmlns:r="http://schemas.openxmlformats.org/officeDocument/2006/relationships" id="258" r:id="R5738b7a1fb654a94"/>
    <p:sldId xmlns:r="http://schemas.openxmlformats.org/officeDocument/2006/relationships" id="259" r:id="R38560ff9c1dd4b65"/>
    <p:sldId xmlns:r="http://schemas.openxmlformats.org/officeDocument/2006/relationships" id="260" r:id="R6a1e904ecb494d3f"/>
    <p:sldId xmlns:r="http://schemas.openxmlformats.org/officeDocument/2006/relationships" id="261" r:id="Rffd6749a331f4244"/>
    <p:sldId xmlns:r="http://schemas.openxmlformats.org/officeDocument/2006/relationships" id="262" r:id="R1c3b6bcf443044ae"/>
    <p:sldId xmlns:r="http://schemas.openxmlformats.org/officeDocument/2006/relationships" id="263" r:id="R1ece046de79a4a1f"/>
    <p:sldId xmlns:r="http://schemas.openxmlformats.org/officeDocument/2006/relationships" id="264" r:id="Rfba4be83607b41bd"/>
    <p:sldId xmlns:r="http://schemas.openxmlformats.org/officeDocument/2006/relationships" id="265" r:id="Rf31c16d7c2aa47a6"/>
    <p:sldId xmlns:r="http://schemas.openxmlformats.org/officeDocument/2006/relationships" id="266" r:id="Re0fc2c204e5c4b2e"/>
    <p:sldId xmlns:r="http://schemas.openxmlformats.org/officeDocument/2006/relationships" id="267" r:id="R29f716e257a04794"/>
    <p:sldId xmlns:r="http://schemas.openxmlformats.org/officeDocument/2006/relationships" id="268" r:id="Rcd3844c31f4041c6"/>
    <p:sldId xmlns:r="http://schemas.openxmlformats.org/officeDocument/2006/relationships" id="269" r:id="R36a3251184624184"/>
    <p:sldId xmlns:r="http://schemas.openxmlformats.org/officeDocument/2006/relationships" id="270" r:id="R4fa8c6dd3fec4237"/>
    <p:sldId xmlns:r="http://schemas.openxmlformats.org/officeDocument/2006/relationships" id="271" r:id="Re9e006b2c81142f4"/>
    <p:sldId xmlns:r="http://schemas.openxmlformats.org/officeDocument/2006/relationships" id="272" r:id="Ra5253276f44d44df"/>
    <p:sldId xmlns:r="http://schemas.openxmlformats.org/officeDocument/2006/relationships" id="273" r:id="R18d3c201e8f14c78"/>
    <p:sldId xmlns:r="http://schemas.openxmlformats.org/officeDocument/2006/relationships" id="274" r:id="R9e8ef4dcd9b74bb6"/>
    <p:sldId xmlns:r="http://schemas.openxmlformats.org/officeDocument/2006/relationships" id="275" r:id="Re9c021c3ad6d4391"/>
  </p:sldIdLst>
  <p:sldSz cx="9525000" cy="7143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e0c68823d34d6e" /><Relationship Type="http://schemas.openxmlformats.org/officeDocument/2006/relationships/slideMaster" Target="/ppt/slideMasters/slideMaster1.xml" Id="R6f34f743c7f146b9" /><Relationship Type="http://schemas.openxmlformats.org/officeDocument/2006/relationships/notesMaster" Target="/ppt/notesMasters/notesMaster1.xml" Id="R214f424b75e8452b" /><Relationship Type="http://schemas.openxmlformats.org/officeDocument/2006/relationships/presProps" Target="/ppt/presProps.xml" Id="Rfa3c864f7b544917" /><Relationship Type="http://schemas.openxmlformats.org/officeDocument/2006/relationships/tableStyles" Target="/ppt/tableStyles.xml" Id="Rab00f58e3aaa4b2f" /><Relationship Type="http://schemas.openxmlformats.org/officeDocument/2006/relationships/slide" Target="/ppt/slides/slide1.xml" Id="Rfa5236a6a7204371" /><Relationship Type="http://schemas.openxmlformats.org/officeDocument/2006/relationships/slide" Target="/ppt/slides/slide2.xml" Id="R677d0c24af6340c8" /><Relationship Type="http://schemas.openxmlformats.org/officeDocument/2006/relationships/slide" Target="/ppt/slides/slide3.xml" Id="R5738b7a1fb654a94" /><Relationship Type="http://schemas.openxmlformats.org/officeDocument/2006/relationships/slide" Target="/ppt/slides/slide4.xml" Id="R38560ff9c1dd4b65" /><Relationship Type="http://schemas.openxmlformats.org/officeDocument/2006/relationships/slide" Target="/ppt/slides/slide5.xml" Id="R6a1e904ecb494d3f" /><Relationship Type="http://schemas.openxmlformats.org/officeDocument/2006/relationships/slide" Target="/ppt/slides/slide6.xml" Id="Rffd6749a331f4244" /><Relationship Type="http://schemas.openxmlformats.org/officeDocument/2006/relationships/slide" Target="/ppt/slides/slide7.xml" Id="R1c3b6bcf443044ae" /><Relationship Type="http://schemas.openxmlformats.org/officeDocument/2006/relationships/slide" Target="/ppt/slides/slide8.xml" Id="R1ece046de79a4a1f" /><Relationship Type="http://schemas.openxmlformats.org/officeDocument/2006/relationships/slide" Target="/ppt/slides/slide9.xml" Id="Rfba4be83607b41bd" /><Relationship Type="http://schemas.openxmlformats.org/officeDocument/2006/relationships/slide" Target="/ppt/slides/slide10.xml" Id="Rf31c16d7c2aa47a6" /><Relationship Type="http://schemas.openxmlformats.org/officeDocument/2006/relationships/slide" Target="/ppt/slides/slide11.xml" Id="Re0fc2c204e5c4b2e" /><Relationship Type="http://schemas.openxmlformats.org/officeDocument/2006/relationships/slide" Target="/ppt/slides/slide12.xml" Id="R29f716e257a04794" /><Relationship Type="http://schemas.openxmlformats.org/officeDocument/2006/relationships/slide" Target="/ppt/slides/slide13.xml" Id="Rcd3844c31f4041c6" /><Relationship Type="http://schemas.openxmlformats.org/officeDocument/2006/relationships/slide" Target="/ppt/slides/slide14.xml" Id="R36a3251184624184" /><Relationship Type="http://schemas.openxmlformats.org/officeDocument/2006/relationships/slide" Target="/ppt/slides/slide15.xml" Id="R4fa8c6dd3fec4237" /><Relationship Type="http://schemas.openxmlformats.org/officeDocument/2006/relationships/slide" Target="/ppt/slides/slide16.xml" Id="Re9e006b2c81142f4" /><Relationship Type="http://schemas.openxmlformats.org/officeDocument/2006/relationships/slide" Target="/ppt/slides/slide17.xml" Id="Ra5253276f44d44df" /><Relationship Type="http://schemas.openxmlformats.org/officeDocument/2006/relationships/slide" Target="/ppt/slides/slide18.xml" Id="R18d3c201e8f14c78" /><Relationship Type="http://schemas.openxmlformats.org/officeDocument/2006/relationships/slide" Target="/ppt/slides/slide19.xml" Id="R9e8ef4dcd9b74bb6" /><Relationship Type="http://schemas.openxmlformats.org/officeDocument/2006/relationships/slide" Target="/ppt/slides/slide20.xml" Id="Re9c021c3ad6d43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dc50c76d5648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42597" dir="3806097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285a7b85f54097" /><Relationship Type="http://schemas.openxmlformats.org/officeDocument/2006/relationships/notesMaster" Target="/ppt/notesMasters/notesMaster1.xml" Id="R24225216b02e42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307db6fae64242" /><Relationship Type="http://schemas.openxmlformats.org/officeDocument/2006/relationships/notesMaster" Target="/ppt/notesMasters/notesMaster1.xml" Id="Rc631734b87e74b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d174796dd14092" /><Relationship Type="http://schemas.openxmlformats.org/officeDocument/2006/relationships/notesMaster" Target="/ppt/notesMasters/notesMaster1.xml" Id="R82db6ccf856d4c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ffe1501a914b3a" /><Relationship Type="http://schemas.openxmlformats.org/officeDocument/2006/relationships/notesMaster" Target="/ppt/notesMasters/notesMaster1.xml" Id="Rf82185d24ff243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6b0aac48834a6e" /><Relationship Type="http://schemas.openxmlformats.org/officeDocument/2006/relationships/notesMaster" Target="/ppt/notesMasters/notesMaster1.xml" Id="R268a9aca9b8448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154af058b54a1a" /><Relationship Type="http://schemas.openxmlformats.org/officeDocument/2006/relationships/notesMaster" Target="/ppt/notesMasters/notesMaster1.xml" Id="Re216c565a5dd4d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f832196161469e" /><Relationship Type="http://schemas.openxmlformats.org/officeDocument/2006/relationships/notesMaster" Target="/ppt/notesMasters/notesMaster1.xml" Id="R962ecd28f6cf46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a13e63511fa4022" /><Relationship Type="http://schemas.openxmlformats.org/officeDocument/2006/relationships/notesMaster" Target="/ppt/notesMasters/notesMaster1.xml" Id="R6df84199a03f462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eb6baff8a04418" /><Relationship Type="http://schemas.openxmlformats.org/officeDocument/2006/relationships/notesMaster" Target="/ppt/notesMasters/notesMaster1.xml" Id="R8b2919721a0b4bb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5d8161a03544cde" /><Relationship Type="http://schemas.openxmlformats.org/officeDocument/2006/relationships/notesMaster" Target="/ppt/notesMasters/notesMaster1.xml" Id="R81e6e4186bd24e2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869e51df08f4805" /><Relationship Type="http://schemas.openxmlformats.org/officeDocument/2006/relationships/notesMaster" Target="/ppt/notesMasters/notesMaster1.xml" Id="R99facad9a7a8479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9a453275d794859" /><Relationship Type="http://schemas.openxmlformats.org/officeDocument/2006/relationships/notesMaster" Target="/ppt/notesMasters/notesMaster1.xml" Id="R71ff7203ccb9487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7a7e13156354f06" /><Relationship Type="http://schemas.openxmlformats.org/officeDocument/2006/relationships/notesMaster" Target="/ppt/notesMasters/notesMaster1.xml" Id="Rebaaabb669df4e8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1f9a8e9261d449c" /><Relationship Type="http://schemas.openxmlformats.org/officeDocument/2006/relationships/notesMaster" Target="/ppt/notesMasters/notesMaster1.xml" Id="R699e354e105a4a4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864b2b332ca4c61" /><Relationship Type="http://schemas.openxmlformats.org/officeDocument/2006/relationships/notesMaster" Target="/ppt/notesMasters/notesMaster1.xml" Id="Rf7ef7e9f0cb9485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3c6dad4b1e04157" /><Relationship Type="http://schemas.openxmlformats.org/officeDocument/2006/relationships/notesMaster" Target="/ppt/notesMasters/notesMaster1.xml" Id="R621fc8fe94304ac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13f3077e5a743ee" /><Relationship Type="http://schemas.openxmlformats.org/officeDocument/2006/relationships/notesMaster" Target="/ppt/notesMasters/notesMaster1.xml" Id="Ra7eedba5b1f04ab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9dda20c36034c55" /><Relationship Type="http://schemas.openxmlformats.org/officeDocument/2006/relationships/notesMaster" Target="/ppt/notesMasters/notesMaster1.xml" Id="Refb01d1fb4754a1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8353e399e804d2a" /><Relationship Type="http://schemas.openxmlformats.org/officeDocument/2006/relationships/notesMaster" Target="/ppt/notesMasters/notesMaster1.xml" Id="R67e7d93160f045f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14cad068c434582" /><Relationship Type="http://schemas.openxmlformats.org/officeDocument/2006/relationships/notesMaster" Target="/ppt/notesMasters/notesMaster1.xml" Id="Re7f3261f066d4a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Study of the completed 1,000-reconstruction experiment. The noise standard-deviation ratio controls the likelihood used by FLOWER.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FLOWER paper (local Flower_main.pdf); config/robustness.json; artifacts/experiments/main/metrics.csv and 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FLOWER combines the velocity network with a measurement-aware proximal correction. This slide summarizes the paper rather than the new robustness experiment.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FLOWER paper (local Flower_main.pdf); config/robustness.json; artifacts/experiments/main/metrics.csv and 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endpoint covariance is approximated by ν_t² I. The refinement minimizes a Gaussian negative log density. Gamma=0 uses the refined mean, while source noise is still injected during progression. The OT practical setting does not meet all assumptions of the ideal posterior-sampling argument.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FLOWER paper (local Flower_main.pdf); config/robustness.json; artifacts/experiments/main/metrics.csv and 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Ratios refer to standard deviation, not variance. The actual measurements are generated once. Relative likelihood precision changes by 1/r².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FLOWER paper (local Flower_main.pdf); config/robustness.json; artifacts/experiments/main/metrics.csv and 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Images were selected without replacement from the paper benchmark pools. CelebA resolution 128×128, AFHQ-Cat 256×256. The full step counts and metric implementation conventions are in the report.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FLOWER paper (local Flower_main.pdf); config/robustness.json; artifacts/experiments/main/metrics.csv and 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Native editable chart. Values and paired 95% normal-approximation confidence intervals come directly from summary.csv. The zero value at ratio 1 is by construction. The lines join only the five measured ratios.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FLOWER paper (local Flower_main.pdf); config/robustness.json; artifacts/experiments/main/metrics.csv and 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Native editable chart. Values and paired 95% normal-approximation confidence intervals come directly from summary.csv. The zero value at ratio 1 is by construction. The lines join only the five measured ratios.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FLOWER paper (local Flower_main.pdf); config/robustness.json; artifacts/experiments/main/metrics.csv and 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Both panels share the same vertical scale. LPIPS uses the public implementation convention, documented explicitly in the report appendix. Absolute LPIPS values should not be compared with a differently normalized pipeline.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FLOWER paper (local Flower_main.pdf); config/robustness.json; artifacts/experiments/main/metrics.csv and 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Both panels share the same vertical scale. LPIPS uses the public implementation convention, documented explicitly in the report appendix. Absolute LPIPS values should not be compared with a differently normalized pipeline.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FLOWER paper (local Flower_main.pdf); config/robustness.json; artifacts/experiments/main/metrics.csv and 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data tables. Background colors indicate sign and magnitude qualitatively, while exact numbers are printed. Unlike the report heatmap, this slide does not claim a continuous color scale.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FLOWER paper (local Flower_main.pdf); config/robustness.json; artifacts/experiments/main/metrics.csv and 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Displayed images are the saved qualitative examples: CelebA 182702.jpg and AFHQ pixabay_cat_001348.jpg. The metrics beneath tiles refer to these individual images. Text about aggregate behavior uses summary.csv. The same measurement is used within each row.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FLOWER paper (local Flower_main.pdf); config/robustness.json; artifacts/experiments/main/metrics.csv and 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Displayed images are the saved qualitative examples: CelebA 182702.jpg and AFHQ pixabay_cat_001348.jpg. The metrics beneath tiles refer to these individual images. Text about aggregate behavior uses summary.csv. The same measurement is used within each row.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FLOWER paper (local Flower_main.pdf); config/robustness.json; artifacts/experiments/main/metrics.csv and 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Displayed images are the saved qualitative examples: CelebA 182702.jpg and AFHQ pixabay_cat_001348.jpg. The metrics beneath tiles refer to these individual images. Text about aggregate behavior uses summary.csv. The same measurement is used within each row.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FLOWER paper (local Flower_main.pdf); config/robustness.json; artifacts/experiments/main/metrics.csv and 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Displayed images are the saved qualitative examples: CelebA 182702.jpg and AFHQ pixabay_cat_001348.jpg. The metrics beneath tiles refer to these individual images. Text about aggregate behavior uses summary.csv. The same measurement is used within each row.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FLOWER paper (local Flower_main.pdf); config/robustness.json; artifacts/experiments/main/metrics.csv and 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Displayed images are the saved qualitative examples: CelebA 182702.jpg and AFHQ pixabay_cat_001348.jpg. The metrics beneath tiles refer to these individual images. Text about aggregate behavior uses summary.csv. The same measurement is used within each row.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FLOWER paper (local Flower_main.pdf); config/robustness.json; artifacts/experiments/main/metrics.csv and 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Stored diagnostic trajectory. The representative image is selected by the capture script using median image-level sensitivity. Early states are noisy by design. The ratio axis and the time axis are different experimental dimensions.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FLOWER paper (local Flower_main.pdf); config/robustness.json; artifacts/experiments/main/metrics.csv and 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first-column differences can be induced by earlier refinements. Do not claim the mismatch only affects the second column: it acts directly there, and indirectly changes later network predictions.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FLOWER paper (local Flower_main.pdf); config/robustness.json; artifacts/experiments/main/metrics.csv and 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Mechanistic explanations are interpretations of the refinement equation. The experiment does not isolate the cause of the super-resolution improvement. Task and true noise level vary together, so operator dependence is not a pure operator-only ablation.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FLOWER paper (local Flower_main.pdf); config/robustness.json; artifacts/experiments/main/metrics.csv and 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Conclusions are restricted to the five tested ratios and the fixed samples. No new reconstruction was run to produce these slides.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FLOWER paper (local Flower_main.pdf); config/robustness.json; artifacts/experiments/main/metrics.csv and 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Scientific sources and experimental files are cited throughout the speaker notes. Report includes derivations, full result tables, and details of the LPIPS convention.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FLOWER paper (local Flower_main.pdf); config/robustness.json; artifacts/experiments/main/metrics.csv and 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7a7d4ba56e47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2ca4529d99430d" /><Relationship Type="http://schemas.openxmlformats.org/officeDocument/2006/relationships/slideLayout" Target="/ppt/slideLayouts/slideLayout1.xml" Id="R013a290c16c348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3a290c16c348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42597" dir="3806097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6da31d020142bb" /><Relationship Type="http://schemas.openxmlformats.org/officeDocument/2006/relationships/notesSlide" Target="/ppt/notesSlides/notesSlide1.xml" Id="R909cf4d7670744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31c4197694ff0" /><Relationship Type="http://schemas.openxmlformats.org/officeDocument/2006/relationships/image" Target="/ppt/media/image.png" Id="R33c980822c3f42f0" /><Relationship Type="http://schemas.openxmlformats.org/officeDocument/2006/relationships/notesSlide" Target="/ppt/notesSlides/notesSlide2.xml" Id="Rd40b59ff69e04d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f56f7e39d14eed" /><Relationship Type="http://schemas.openxmlformats.org/officeDocument/2006/relationships/image" Target="/ppt/media/image2.png" Id="R5cc526a405f145cd" /><Relationship Type="http://schemas.openxmlformats.org/officeDocument/2006/relationships/image" Target="/ppt/media/image3.png" Id="Rd0798da2a0484e80" /><Relationship Type="http://schemas.openxmlformats.org/officeDocument/2006/relationships/notesSlide" Target="/ppt/notesSlides/notesSlide3.xml" Id="R56813964360946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0384f997444695" /><Relationship Type="http://schemas.openxmlformats.org/officeDocument/2006/relationships/notesSlide" Target="/ppt/notesSlides/notesSlide4.xml" Id="R11162013741144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edb452ba024e9f" /><Relationship Type="http://schemas.openxmlformats.org/officeDocument/2006/relationships/notesSlide" Target="/ppt/notesSlides/notesSlide5.xml" Id="Rd068c550af7d47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630eb8fe644442" /><Relationship Type="http://schemas.openxmlformats.org/officeDocument/2006/relationships/chart" Target="/ppt/slides/charts/chart1.xml" Id="R07e0238ece024a13" /><Relationship Type="http://schemas.openxmlformats.org/officeDocument/2006/relationships/notesSlide" Target="/ppt/notesSlides/notesSlide6.xml" Id="Rbb585d3e3fd049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3a557b67a14382" /><Relationship Type="http://schemas.openxmlformats.org/officeDocument/2006/relationships/chart" Target="/ppt/slides/charts/chart2.xml" Id="R6d38b67b75be4dda" /><Relationship Type="http://schemas.openxmlformats.org/officeDocument/2006/relationships/notesSlide" Target="/ppt/notesSlides/notesSlide7.xml" Id="R399998cea86f42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9e33e6707f47ac" /><Relationship Type="http://schemas.openxmlformats.org/officeDocument/2006/relationships/chart" Target="/ppt/slides/charts/chart3.xml" Id="R78415c57443e4dc6" /><Relationship Type="http://schemas.openxmlformats.org/officeDocument/2006/relationships/chart" Target="/ppt/slides/charts/chart4.xml" Id="Rfcb70ec9f38548a0" /><Relationship Type="http://schemas.openxmlformats.org/officeDocument/2006/relationships/notesSlide" Target="/ppt/notesSlides/notesSlide8.xml" Id="Rce148adb9b184e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c274f5f4364326" /><Relationship Type="http://schemas.openxmlformats.org/officeDocument/2006/relationships/chart" Target="/ppt/slides/charts/chart5.xml" Id="R05c3a095d1e04f90" /><Relationship Type="http://schemas.openxmlformats.org/officeDocument/2006/relationships/chart" Target="/ppt/slides/charts/chart6.xml" Id="R4be09becfeb14eb4" /><Relationship Type="http://schemas.openxmlformats.org/officeDocument/2006/relationships/notesSlide" Target="/ppt/notesSlides/notesSlide9.xml" Id="R9e709c280db1484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9139d7fea4996" /><Relationship Type="http://schemas.openxmlformats.org/officeDocument/2006/relationships/notesSlide" Target="/ppt/notesSlides/notesSlide10.xml" Id="R084f62db5f8b426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fff42b06043c0" /><Relationship Type="http://schemas.openxmlformats.org/officeDocument/2006/relationships/image" Target="/ppt/media/image4.png" Id="R3d712a43b11d4fd2" /><Relationship Type="http://schemas.openxmlformats.org/officeDocument/2006/relationships/image" Target="/ppt/media/image5.png" Id="R50327589150949c3" /><Relationship Type="http://schemas.openxmlformats.org/officeDocument/2006/relationships/image" Target="/ppt/media/image6.png" Id="Rcaabbf6acdc5422d" /><Relationship Type="http://schemas.openxmlformats.org/officeDocument/2006/relationships/image" Target="/ppt/media/image7.png" Id="R546d6b137e574238" /><Relationship Type="http://schemas.openxmlformats.org/officeDocument/2006/relationships/image" Target="/ppt/media/image8.png" Id="Rfca490ae053340d1" /><Relationship Type="http://schemas.openxmlformats.org/officeDocument/2006/relationships/image" Target="/ppt/media/image9.png" Id="Rce2be0a5c02642d4" /><Relationship Type="http://schemas.openxmlformats.org/officeDocument/2006/relationships/image" Target="/ppt/media/image10.png" Id="R1c35f9add0714d70" /><Relationship Type="http://schemas.openxmlformats.org/officeDocument/2006/relationships/image" Target="/ppt/media/image11.png" Id="R7817f6d28d8f4af1" /><Relationship Type="http://schemas.openxmlformats.org/officeDocument/2006/relationships/image" Target="/ppt/media/image12.png" Id="R3bd5851c530b428a" /><Relationship Type="http://schemas.openxmlformats.org/officeDocument/2006/relationships/image" Target="/ppt/media/image13.png" Id="R4ff9b57e3c8a49ea" /><Relationship Type="http://schemas.openxmlformats.org/officeDocument/2006/relationships/image" Target="/ppt/media/image14.png" Id="Ra9ef1cdb68a04a90" /><Relationship Type="http://schemas.openxmlformats.org/officeDocument/2006/relationships/image" Target="/ppt/media/image15.png" Id="R7cba386aa9954a40" /><Relationship Type="http://schemas.openxmlformats.org/officeDocument/2006/relationships/image" Target="/ppt/media/image16.png" Id="R87917824c98b4815" /><Relationship Type="http://schemas.openxmlformats.org/officeDocument/2006/relationships/image" Target="/ppt/media/image17.png" Id="Rf6e8adb20c2b41b8" /><Relationship Type="http://schemas.openxmlformats.org/officeDocument/2006/relationships/notesSlide" Target="/ppt/notesSlides/notesSlide11.xml" Id="R2bae856f2cf74b4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413380536a483d" /><Relationship Type="http://schemas.openxmlformats.org/officeDocument/2006/relationships/image" Target="/ppt/media/image18.png" Id="R300d092506dc4d05" /><Relationship Type="http://schemas.openxmlformats.org/officeDocument/2006/relationships/image" Target="/ppt/media/image19.png" Id="R8a8bc0758ba241d8" /><Relationship Type="http://schemas.openxmlformats.org/officeDocument/2006/relationships/image" Target="/ppt/media/image20.png" Id="R43c3da3e5cb747be" /><Relationship Type="http://schemas.openxmlformats.org/officeDocument/2006/relationships/image" Target="/ppt/media/image21.png" Id="R8e2296b7a7344a7d" /><Relationship Type="http://schemas.openxmlformats.org/officeDocument/2006/relationships/image" Target="/ppt/media/image22.png" Id="R7d67d289ed23486e" /><Relationship Type="http://schemas.openxmlformats.org/officeDocument/2006/relationships/image" Target="/ppt/media/image23.png" Id="R43c227a24c8e4699" /><Relationship Type="http://schemas.openxmlformats.org/officeDocument/2006/relationships/image" Target="/ppt/media/image24.png" Id="Rff8c75d93ca146fe" /><Relationship Type="http://schemas.openxmlformats.org/officeDocument/2006/relationships/image" Target="/ppt/media/image25.png" Id="R4362075df9aa497c" /><Relationship Type="http://schemas.openxmlformats.org/officeDocument/2006/relationships/image" Target="/ppt/media/image26.png" Id="R89eccd9578ad42f0" /><Relationship Type="http://schemas.openxmlformats.org/officeDocument/2006/relationships/image" Target="/ppt/media/image27.png" Id="R99eecce78c564479" /><Relationship Type="http://schemas.openxmlformats.org/officeDocument/2006/relationships/image" Target="/ppt/media/image28.png" Id="R0104bd5456f24558" /><Relationship Type="http://schemas.openxmlformats.org/officeDocument/2006/relationships/image" Target="/ppt/media/image29.png" Id="Ra13cd46ae1dc44a4" /><Relationship Type="http://schemas.openxmlformats.org/officeDocument/2006/relationships/image" Target="/ppt/media/image30.png" Id="Rf4a6469e74b04c36" /><Relationship Type="http://schemas.openxmlformats.org/officeDocument/2006/relationships/image" Target="/ppt/media/image31.png" Id="R58b655f995884b67" /><Relationship Type="http://schemas.openxmlformats.org/officeDocument/2006/relationships/notesSlide" Target="/ppt/notesSlides/notesSlide12.xml" Id="Rff5eabbde24e45d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e922965324622" /><Relationship Type="http://schemas.openxmlformats.org/officeDocument/2006/relationships/image" Target="/ppt/media/image32.png" Id="R5a3b038b67524f49" /><Relationship Type="http://schemas.openxmlformats.org/officeDocument/2006/relationships/image" Target="/ppt/media/image33.png" Id="R8d459204bc444bc3" /><Relationship Type="http://schemas.openxmlformats.org/officeDocument/2006/relationships/image" Target="/ppt/media/image34.png" Id="R8e5231976f7b411b" /><Relationship Type="http://schemas.openxmlformats.org/officeDocument/2006/relationships/image" Target="/ppt/media/image35.png" Id="R96cf93df5cd54c8d" /><Relationship Type="http://schemas.openxmlformats.org/officeDocument/2006/relationships/image" Target="/ppt/media/image36.png" Id="R7219feba10534547" /><Relationship Type="http://schemas.openxmlformats.org/officeDocument/2006/relationships/image" Target="/ppt/media/image37.png" Id="R02d0f53b98c042c4" /><Relationship Type="http://schemas.openxmlformats.org/officeDocument/2006/relationships/image" Target="/ppt/media/image38.png" Id="R8f1cdee7d3464b51" /><Relationship Type="http://schemas.openxmlformats.org/officeDocument/2006/relationships/image" Target="/ppt/media/image39.png" Id="R7d662ead35b84316" /><Relationship Type="http://schemas.openxmlformats.org/officeDocument/2006/relationships/image" Target="/ppt/media/image40.png" Id="R8146936e649e49a1" /><Relationship Type="http://schemas.openxmlformats.org/officeDocument/2006/relationships/image" Target="/ppt/media/image41.png" Id="R2404572331364995" /><Relationship Type="http://schemas.openxmlformats.org/officeDocument/2006/relationships/image" Target="/ppt/media/image42.png" Id="Rfc0ca777480a4b64" /><Relationship Type="http://schemas.openxmlformats.org/officeDocument/2006/relationships/image" Target="/ppt/media/image43.png" Id="R491b3bf86afe4db2" /><Relationship Type="http://schemas.openxmlformats.org/officeDocument/2006/relationships/image" Target="/ppt/media/image44.png" Id="R9e136c6f00b14418" /><Relationship Type="http://schemas.openxmlformats.org/officeDocument/2006/relationships/image" Target="/ppt/media/image45.png" Id="R91a8ab7790214e29" /><Relationship Type="http://schemas.openxmlformats.org/officeDocument/2006/relationships/notesSlide" Target="/ppt/notesSlides/notesSlide13.xml" Id="R5e8297742191414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c38fe4a0b2447a" /><Relationship Type="http://schemas.openxmlformats.org/officeDocument/2006/relationships/image" Target="/ppt/media/image46.png" Id="R42d1b16a997f4034" /><Relationship Type="http://schemas.openxmlformats.org/officeDocument/2006/relationships/image" Target="/ppt/media/image47.png" Id="Rcbc88983def34340" /><Relationship Type="http://schemas.openxmlformats.org/officeDocument/2006/relationships/image" Target="/ppt/media/image48.png" Id="R540d9abe011f410d" /><Relationship Type="http://schemas.openxmlformats.org/officeDocument/2006/relationships/image" Target="/ppt/media/image49.png" Id="R49fb4f2aee154c06" /><Relationship Type="http://schemas.openxmlformats.org/officeDocument/2006/relationships/image" Target="/ppt/media/image50.png" Id="R59b54af765164731" /><Relationship Type="http://schemas.openxmlformats.org/officeDocument/2006/relationships/image" Target="/ppt/media/image51.png" Id="R710fe488ee8b471b" /><Relationship Type="http://schemas.openxmlformats.org/officeDocument/2006/relationships/image" Target="/ppt/media/image52.png" Id="Rd8e28cb8cc154652" /><Relationship Type="http://schemas.openxmlformats.org/officeDocument/2006/relationships/image" Target="/ppt/media/image53.png" Id="R834e72b45785488e" /><Relationship Type="http://schemas.openxmlformats.org/officeDocument/2006/relationships/image" Target="/ppt/media/image54.png" Id="R7edee0d55b47425a" /><Relationship Type="http://schemas.openxmlformats.org/officeDocument/2006/relationships/image" Target="/ppt/media/image55.png" Id="Rdb882ecf18e64cfe" /><Relationship Type="http://schemas.openxmlformats.org/officeDocument/2006/relationships/image" Target="/ppt/media/image56.png" Id="R5dc6a49c33344e02" /><Relationship Type="http://schemas.openxmlformats.org/officeDocument/2006/relationships/image" Target="/ppt/media/image57.png" Id="R10ad580da25e4fe1" /><Relationship Type="http://schemas.openxmlformats.org/officeDocument/2006/relationships/image" Target="/ppt/media/image58.png" Id="Rfe246c86489a42c9" /><Relationship Type="http://schemas.openxmlformats.org/officeDocument/2006/relationships/image" Target="/ppt/media/image59.png" Id="R44a3af3355c842e3" /><Relationship Type="http://schemas.openxmlformats.org/officeDocument/2006/relationships/notesSlide" Target="/ppt/notesSlides/notesSlide14.xml" Id="Rc1d5586419a64ea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2f45cfe2094ca1" /><Relationship Type="http://schemas.openxmlformats.org/officeDocument/2006/relationships/image" Target="/ppt/media/image60.png" Id="R4e346b9b78d94566" /><Relationship Type="http://schemas.openxmlformats.org/officeDocument/2006/relationships/image" Target="/ppt/media/image61.png" Id="R97f3264981c149fe" /><Relationship Type="http://schemas.openxmlformats.org/officeDocument/2006/relationships/image" Target="/ppt/media/image62.png" Id="R97e75b317e8a407e" /><Relationship Type="http://schemas.openxmlformats.org/officeDocument/2006/relationships/image" Target="/ppt/media/image63.png" Id="R8cac8e9df0244aea" /><Relationship Type="http://schemas.openxmlformats.org/officeDocument/2006/relationships/image" Target="/ppt/media/image64.png" Id="R31ac925989334977" /><Relationship Type="http://schemas.openxmlformats.org/officeDocument/2006/relationships/image" Target="/ppt/media/image65.png" Id="Rec13d4d350a44d16" /><Relationship Type="http://schemas.openxmlformats.org/officeDocument/2006/relationships/image" Target="/ppt/media/image66.png" Id="R16c957de0ee745a4" /><Relationship Type="http://schemas.openxmlformats.org/officeDocument/2006/relationships/image" Target="/ppt/media/image67.png" Id="R910dab39e8024ef7" /><Relationship Type="http://schemas.openxmlformats.org/officeDocument/2006/relationships/image" Target="/ppt/media/image68.png" Id="Rf4143b119b5a4a82" /><Relationship Type="http://schemas.openxmlformats.org/officeDocument/2006/relationships/image" Target="/ppt/media/image69.png" Id="R3a634e73f3f44336" /><Relationship Type="http://schemas.openxmlformats.org/officeDocument/2006/relationships/image" Target="/ppt/media/image70.png" Id="Rbdff61c3128e4789" /><Relationship Type="http://schemas.openxmlformats.org/officeDocument/2006/relationships/image" Target="/ppt/media/image71.png" Id="R006af4c23c324509" /><Relationship Type="http://schemas.openxmlformats.org/officeDocument/2006/relationships/image" Target="/ppt/media/image72.png" Id="Rec0ef454092f45cd" /><Relationship Type="http://schemas.openxmlformats.org/officeDocument/2006/relationships/image" Target="/ppt/media/image73.png" Id="R1847f6ddb7b7439c" /><Relationship Type="http://schemas.openxmlformats.org/officeDocument/2006/relationships/notesSlide" Target="/ppt/notesSlides/notesSlide15.xml" Id="R89f3b225bc42478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efaa65a0fa4938" /><Relationship Type="http://schemas.openxmlformats.org/officeDocument/2006/relationships/image" Target="/ppt/media/image74.png" Id="Rb554c0026a5f4c4a" /><Relationship Type="http://schemas.openxmlformats.org/officeDocument/2006/relationships/image" Target="/ppt/media/image75.png" Id="R1d8ee7779a014f24" /><Relationship Type="http://schemas.openxmlformats.org/officeDocument/2006/relationships/image" Target="/ppt/media/image76.png" Id="R5f83f40b22fa463a" /><Relationship Type="http://schemas.openxmlformats.org/officeDocument/2006/relationships/image" Target="/ppt/media/image77.png" Id="Raf0c8d6d8edd4dea" /><Relationship Type="http://schemas.openxmlformats.org/officeDocument/2006/relationships/image" Target="/ppt/media/image78.png" Id="R0cdba4b3938847f1" /><Relationship Type="http://schemas.openxmlformats.org/officeDocument/2006/relationships/image" Target="/ppt/media/image79.png" Id="Rcbb0648a4df845f0" /><Relationship Type="http://schemas.openxmlformats.org/officeDocument/2006/relationships/image" Target="/ppt/media/image80.png" Id="R42578bf0ddfa4dfc" /><Relationship Type="http://schemas.openxmlformats.org/officeDocument/2006/relationships/image" Target="/ppt/media/image81.png" Id="Rd11fcb73a5d0421e" /><Relationship Type="http://schemas.openxmlformats.org/officeDocument/2006/relationships/image" Target="/ppt/media/image82.png" Id="Rfd79c01b07ff4403" /><Relationship Type="http://schemas.openxmlformats.org/officeDocument/2006/relationships/image" Target="/ppt/media/image83.png" Id="R837509b732df4d01" /><Relationship Type="http://schemas.openxmlformats.org/officeDocument/2006/relationships/image" Target="/ppt/media/image84.png" Id="R4dd43da8f28b4a89" /><Relationship Type="http://schemas.openxmlformats.org/officeDocument/2006/relationships/image" Target="/ppt/media/image85.png" Id="R7c265ec861e348eb" /><Relationship Type="http://schemas.openxmlformats.org/officeDocument/2006/relationships/image" Target="/ppt/media/image86.png" Id="R01995fbe910a4edc" /><Relationship Type="http://schemas.openxmlformats.org/officeDocument/2006/relationships/image" Target="/ppt/media/image87.png" Id="R8fae9ad569534e11" /><Relationship Type="http://schemas.openxmlformats.org/officeDocument/2006/relationships/image" Target="/ppt/media/image88.png" Id="R187a180dd5854e10" /><Relationship Type="http://schemas.openxmlformats.org/officeDocument/2006/relationships/notesSlide" Target="/ppt/notesSlides/notesSlide16.xml" Id="Rc07b4e10dcfc477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3e5548c2714c16" /><Relationship Type="http://schemas.openxmlformats.org/officeDocument/2006/relationships/image" Target="/ppt/media/image89.png" Id="Rf9449d899503409b" /><Relationship Type="http://schemas.openxmlformats.org/officeDocument/2006/relationships/image" Target="/ppt/media/image90.png" Id="R1fd546099276497e" /><Relationship Type="http://schemas.openxmlformats.org/officeDocument/2006/relationships/image" Target="/ppt/media/image91.png" Id="Ra205d984ec884a81" /><Relationship Type="http://schemas.openxmlformats.org/officeDocument/2006/relationships/image" Target="/ppt/media/image92.png" Id="Rcae35cf49da94f53" /><Relationship Type="http://schemas.openxmlformats.org/officeDocument/2006/relationships/image" Target="/ppt/media/image93.png" Id="R0cb2c05353e44685" /><Relationship Type="http://schemas.openxmlformats.org/officeDocument/2006/relationships/image" Target="/ppt/media/image94.png" Id="Rce4a5b9d22e74406" /><Relationship Type="http://schemas.openxmlformats.org/officeDocument/2006/relationships/image" Target="/ppt/media/image95.png" Id="R86dd23a96a56451e" /><Relationship Type="http://schemas.openxmlformats.org/officeDocument/2006/relationships/image" Target="/ppt/media/image96.png" Id="Rf5004ac0c2074b96" /><Relationship Type="http://schemas.openxmlformats.org/officeDocument/2006/relationships/image" Target="/ppt/media/image97.png" Id="Rf05f344b940845a4" /><Relationship Type="http://schemas.openxmlformats.org/officeDocument/2006/relationships/notesSlide" Target="/ppt/notesSlides/notesSlide17.xml" Id="Rd5ef4bf1eeae4d6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18e345ae714b66" /><Relationship Type="http://schemas.openxmlformats.org/officeDocument/2006/relationships/notesSlide" Target="/ppt/notesSlides/notesSlide18.xml" Id="Rd663ffd88b404c4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4bebcc31ea447a" /><Relationship Type="http://schemas.openxmlformats.org/officeDocument/2006/relationships/notesSlide" Target="/ppt/notesSlides/notesSlide19.xml" Id="R7a0bf253c3754cc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2c90a6f73c44f1" /><Relationship Type="http://schemas.openxmlformats.org/officeDocument/2006/relationships/notesSlide" Target="/ppt/notesSlides/notesSlide20.xml" Id="R229cc305536d488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Paired effect of the assumed noise level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 b="1">
              <a:solidFill>
                <a:srgbClr val="222222"/>
              </a:solidFill>
              <a:latin typeface="Roboto Condensed"/>
              <a:ea typeface="Roboto Condensed"/>
              <a:cs typeface="Roboto Condensed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Denoising</c:v>
          </c:tx>
          <c:spPr>
            <a:ln xmlns:a="http://schemas.openxmlformats.org/drawingml/2006/main" w="22860">
              <a:solidFill>
                <a:srgbClr val="3155A4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3155A4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0.0000</c:formatCode>
                <c:ptCount val="5"/>
                <c:pt idx="0">
                  <c:v>0.30928</c:v>
                </c:pt>
                <c:pt idx="1">
                  <c:v>0.092329</c:v>
                </c:pt>
                <c:pt idx="2">
                  <c:v>0</c:v>
                </c:pt>
                <c:pt idx="3">
                  <c:v>0.033714</c:v>
                </c:pt>
                <c:pt idx="4">
                  <c:v>0.057253</c:v>
                </c:pt>
              </c:numLit>
            </c:plus>
            <c:minus>
              <c:numLit>
                <c:formatCode>0.0000</c:formatCode>
                <c:ptCount val="5"/>
                <c:pt idx="0">
                  <c:v>0.30928</c:v>
                </c:pt>
                <c:pt idx="1">
                  <c:v>0.092329</c:v>
                </c:pt>
                <c:pt idx="2">
                  <c:v>0</c:v>
                </c:pt>
                <c:pt idx="3">
                  <c:v>0.033714</c:v>
                </c:pt>
                <c:pt idx="4">
                  <c:v>0.057253</c:v>
                </c:pt>
              </c:numLit>
            </c:minus>
          </c:errBars>
          <c:cat>
            <c:numRef>
              <c:f>'Chart Data'!$A$2:$A$6</c:f>
              <c:numCache>
                <c:formatCode>General</c:formatCode>
                <c:ptCount val="5"/>
                <c:pt idx="0">
                  <c:v>0.50</c:v>
                </c:pt>
                <c:pt idx="1">
                  <c:v>0.75</c:v>
                </c:pt>
                <c:pt idx="2">
                  <c:v>1.00</c:v>
                </c:pt>
                <c:pt idx="3">
                  <c:v>1.25</c:v>
                </c:pt>
                <c:pt idx="4">
                  <c:v>1.50</c:v>
                </c:pt>
              </c:numCache>
            </c:num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-2.101495</c:v>
                </c:pt>
                <c:pt idx="1">
                  <c:v>-0.000955</c:v>
                </c:pt>
                <c:pt idx="2">
                  <c:v>0</c:v>
                </c:pt>
                <c:pt idx="3">
                  <c:v>-0.656628</c:v>
                </c:pt>
                <c:pt idx="4">
                  <c:v>-1.43168</c:v>
                </c:pt>
              </c:numCache>
            </c:numRef>
          </c:val>
          <c:smooth val="0"/>
        </c:ser>
        <c:ser>
          <c:idx val="1"/>
          <c:order val="1"/>
          <c:tx>
            <c:v>Gaussian deblurring</c:v>
          </c:tx>
          <c:spPr>
            <a:ln xmlns:a="http://schemas.openxmlformats.org/drawingml/2006/main" w="22860">
              <a:solidFill>
                <a:srgbClr val="C55A25"/>
              </a:solidFill>
              <a:prstDash val="solid"/>
            </a:ln>
          </c:spPr>
          <c:marker>
            <c:symbol val="square"/>
            <c:size val="6"/>
            <c:spPr>
              <a:solidFill xmlns:a="http://schemas.openxmlformats.org/drawingml/2006/main">
                <a:srgbClr val="C55A25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0.0000</c:formatCode>
                <c:ptCount val="5"/>
                <c:pt idx="0">
                  <c:v>0.331274</c:v>
                </c:pt>
                <c:pt idx="1">
                  <c:v>0.106126</c:v>
                </c:pt>
                <c:pt idx="2">
                  <c:v>0</c:v>
                </c:pt>
                <c:pt idx="3">
                  <c:v>0.025625</c:v>
                </c:pt>
                <c:pt idx="4">
                  <c:v>0.039667</c:v>
                </c:pt>
              </c:numLit>
            </c:plus>
            <c:minus>
              <c:numLit>
                <c:formatCode>0.0000</c:formatCode>
                <c:ptCount val="5"/>
                <c:pt idx="0">
                  <c:v>0.331274</c:v>
                </c:pt>
                <c:pt idx="1">
                  <c:v>0.106126</c:v>
                </c:pt>
                <c:pt idx="2">
                  <c:v>0</c:v>
                </c:pt>
                <c:pt idx="3">
                  <c:v>0.025625</c:v>
                </c:pt>
                <c:pt idx="4">
                  <c:v>0.039667</c:v>
                </c:pt>
              </c:numLit>
            </c:minus>
          </c:errBars>
          <c:cat>
            <c:numRef>
              <c:f>'Chart Data'!$C$2:$C$6</c:f>
              <c:numCache>
                <c:formatCode>General</c:formatCode>
                <c:ptCount val="5"/>
                <c:pt idx="0">
                  <c:v>0.50</c:v>
                </c:pt>
                <c:pt idx="1">
                  <c:v>0.75</c:v>
                </c:pt>
                <c:pt idx="2">
                  <c:v>1.00</c:v>
                </c:pt>
                <c:pt idx="3">
                  <c:v>1.25</c:v>
                </c:pt>
                <c:pt idx="4">
                  <c:v>1.50</c:v>
                </c:pt>
              </c:numCache>
            </c:numRef>
          </c:cat>
          <c:val>
            <c:numRef>
              <c:f>'Chart Data'!$D$2:$D$6</c:f>
              <c:numCache>
                <c:formatCode>0.0</c:formatCode>
                <c:ptCount val="5"/>
                <c:pt idx="0">
                  <c:v>-1.507337</c:v>
                </c:pt>
                <c:pt idx="1">
                  <c:v>-0.070074</c:v>
                </c:pt>
                <c:pt idx="2">
                  <c:v>0</c:v>
                </c:pt>
                <c:pt idx="3">
                  <c:v>-0.323702</c:v>
                </c:pt>
                <c:pt idx="4">
                  <c:v>-0.72439</c:v>
                </c:pt>
              </c:numCache>
            </c:numRef>
          </c:val>
          <c:smooth val="0"/>
        </c:ser>
        <c:ser>
          <c:idx val="2"/>
          <c:order val="2"/>
          <c:tx>
            <c:v>Super-resolution</c:v>
          </c:tx>
          <c:spPr>
            <a:ln xmlns:a="http://schemas.openxmlformats.org/drawingml/2006/main" w="22860">
              <a:solidFill>
                <a:srgbClr val="8B5AA6"/>
              </a:solidFill>
              <a:prstDash val="solid"/>
            </a:ln>
          </c:spPr>
          <c:marker>
            <c:symbol val="triangle"/>
            <c:size val="6"/>
            <c:spPr>
              <a:solidFill xmlns:a="http://schemas.openxmlformats.org/drawingml/2006/main">
                <a:srgbClr val="8B5AA6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0.0000</c:formatCode>
                <c:ptCount val="5"/>
                <c:pt idx="0">
                  <c:v>0.065079</c:v>
                </c:pt>
                <c:pt idx="1">
                  <c:v>0.046173</c:v>
                </c:pt>
                <c:pt idx="2">
                  <c:v>0</c:v>
                </c:pt>
                <c:pt idx="3">
                  <c:v>0.052249</c:v>
                </c:pt>
                <c:pt idx="4">
                  <c:v>0.10329</c:v>
                </c:pt>
              </c:numLit>
            </c:plus>
            <c:minus>
              <c:numLit>
                <c:formatCode>0.0000</c:formatCode>
                <c:ptCount val="5"/>
                <c:pt idx="0">
                  <c:v>0.065079</c:v>
                </c:pt>
                <c:pt idx="1">
                  <c:v>0.046173</c:v>
                </c:pt>
                <c:pt idx="2">
                  <c:v>0</c:v>
                </c:pt>
                <c:pt idx="3">
                  <c:v>0.052249</c:v>
                </c:pt>
                <c:pt idx="4">
                  <c:v>0.10329</c:v>
                </c:pt>
              </c:numLit>
            </c:minus>
          </c:errBars>
          <c:cat>
            <c:numRef>
              <c:f>'Chart Data'!$E$2:$E$6</c:f>
              <c:numCache>
                <c:formatCode>General</c:formatCode>
                <c:ptCount val="5"/>
                <c:pt idx="0">
                  <c:v>0.50</c:v>
                </c:pt>
                <c:pt idx="1">
                  <c:v>0.75</c:v>
                </c:pt>
                <c:pt idx="2">
                  <c:v>1.00</c:v>
                </c:pt>
                <c:pt idx="3">
                  <c:v>1.25</c:v>
                </c:pt>
                <c:pt idx="4">
                  <c:v>1.50</c:v>
                </c:pt>
              </c:numCache>
            </c:numRef>
          </c:cat>
          <c:val>
            <c:numRef>
              <c:f>'Chart Data'!$F$2:$F$6</c:f>
              <c:numCache>
                <c:formatCode>0.0</c:formatCode>
                <c:ptCount val="5"/>
                <c:pt idx="0">
                  <c:v>0.41852</c:v>
                </c:pt>
                <c:pt idx="1">
                  <c:v>0.297491</c:v>
                </c:pt>
                <c:pt idx="2">
                  <c:v>0</c:v>
                </c:pt>
                <c:pt idx="3">
                  <c:v>-0.368621</c:v>
                </c:pt>
                <c:pt idx="4">
                  <c:v>-0.768993</c:v>
                </c:pt>
              </c:numCache>
            </c:numRef>
          </c:val>
          <c:smooth val="0"/>
        </c:ser>
        <c:ser>
          <c:idx val="3"/>
          <c:order val="3"/>
          <c:tx>
            <c:v>Random inpainting</c:v>
          </c:tx>
          <c:spPr>
            <a:ln xmlns:a="http://schemas.openxmlformats.org/drawingml/2006/main" w="22860">
              <a:solidFill>
                <a:srgbClr val="008477"/>
              </a:solidFill>
              <a:prstDash val="solid"/>
            </a:ln>
          </c:spPr>
          <c:marker>
            <c:symbol val="diamond"/>
            <c:size val="6"/>
            <c:spPr>
              <a:solidFill xmlns:a="http://schemas.openxmlformats.org/drawingml/2006/main">
                <a:srgbClr val="008477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0.0000</c:formatCode>
                <c:ptCount val="5"/>
                <c:pt idx="0">
                  <c:v>0.003825</c:v>
                </c:pt>
                <c:pt idx="1">
                  <c:v>0.002817</c:v>
                </c:pt>
                <c:pt idx="2">
                  <c:v>0</c:v>
                </c:pt>
                <c:pt idx="3">
                  <c:v>0.004651</c:v>
                </c:pt>
                <c:pt idx="4">
                  <c:v>0.010866</c:v>
                </c:pt>
              </c:numLit>
            </c:plus>
            <c:minus>
              <c:numLit>
                <c:formatCode>0.0000</c:formatCode>
                <c:ptCount val="5"/>
                <c:pt idx="0">
                  <c:v>0.003825</c:v>
                </c:pt>
                <c:pt idx="1">
                  <c:v>0.002817</c:v>
                </c:pt>
                <c:pt idx="2">
                  <c:v>0</c:v>
                </c:pt>
                <c:pt idx="3">
                  <c:v>0.004651</c:v>
                </c:pt>
                <c:pt idx="4">
                  <c:v>0.010866</c:v>
                </c:pt>
              </c:numLit>
            </c:minus>
          </c:errBars>
          <c:cat>
            <c:numRef>
              <c:f>'Chart Data'!$G$2:$G$6</c:f>
              <c:numCache>
                <c:formatCode>General</c:formatCode>
                <c:ptCount val="5"/>
                <c:pt idx="0">
                  <c:v>0.50</c:v>
                </c:pt>
                <c:pt idx="1">
                  <c:v>0.75</c:v>
                </c:pt>
                <c:pt idx="2">
                  <c:v>1.00</c:v>
                </c:pt>
                <c:pt idx="3">
                  <c:v>1.25</c:v>
                </c:pt>
                <c:pt idx="4">
                  <c:v>1.50</c:v>
                </c:pt>
              </c:numCache>
            </c:numRef>
          </c:cat>
          <c:val>
            <c:numRef>
              <c:f>'Chart Data'!$H$2:$H$6</c:f>
              <c:numCache>
                <c:formatCode>0.0</c:formatCode>
                <c:ptCount val="5"/>
                <c:pt idx="0">
                  <c:v>0.015509</c:v>
                </c:pt>
                <c:pt idx="1">
                  <c:v>0.012263</c:v>
                </c:pt>
                <c:pt idx="2">
                  <c:v>0</c:v>
                </c:pt>
                <c:pt idx="3">
                  <c:v>-0.020953</c:v>
                </c:pt>
                <c:pt idx="4">
                  <c:v>-0.049352</c:v>
                </c:pt>
              </c:numCache>
            </c:numRef>
          </c:val>
          <c:smooth val="0"/>
        </c:ser>
        <c:ser>
          <c:idx val="4"/>
          <c:order val="4"/>
          <c:tx>
            <c:v>Box inpainting</c:v>
          </c:tx>
          <c:spPr>
            <a:ln xmlns:a="http://schemas.openxmlformats.org/drawingml/2006/main" w="22860">
              <a:solidFill>
                <a:srgbClr val="AD4266"/>
              </a:solidFill>
              <a:prstDash val="solid"/>
            </a:ln>
          </c:spPr>
          <c:marker>
            <c:symbol val="star"/>
            <c:size val="6"/>
            <c:spPr>
              <a:solidFill xmlns:a="http://schemas.openxmlformats.org/drawingml/2006/main">
                <a:srgbClr val="AD4266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0.0000</c:formatCode>
                <c:ptCount val="5"/>
                <c:pt idx="0">
                  <c:v>0.123953</c:v>
                </c:pt>
                <c:pt idx="1">
                  <c:v>0.030953</c:v>
                </c:pt>
                <c:pt idx="2">
                  <c:v>0</c:v>
                </c:pt>
                <c:pt idx="3">
                  <c:v>0.012793</c:v>
                </c:pt>
                <c:pt idx="4">
                  <c:v>0.032889</c:v>
                </c:pt>
              </c:numLit>
            </c:plus>
            <c:minus>
              <c:numLit>
                <c:formatCode>0.0000</c:formatCode>
                <c:ptCount val="5"/>
                <c:pt idx="0">
                  <c:v>0.123953</c:v>
                </c:pt>
                <c:pt idx="1">
                  <c:v>0.030953</c:v>
                </c:pt>
                <c:pt idx="2">
                  <c:v>0</c:v>
                </c:pt>
                <c:pt idx="3">
                  <c:v>0.012793</c:v>
                </c:pt>
                <c:pt idx="4">
                  <c:v>0.032889</c:v>
                </c:pt>
              </c:numLit>
            </c:minus>
          </c:errBars>
          <c:cat>
            <c:numRef>
              <c:f>'Chart Data'!$I$2:$I$6</c:f>
              <c:numCache>
                <c:formatCode>General</c:formatCode>
                <c:ptCount val="5"/>
                <c:pt idx="0">
                  <c:v>0.50</c:v>
                </c:pt>
                <c:pt idx="1">
                  <c:v>0.75</c:v>
                </c:pt>
                <c:pt idx="2">
                  <c:v>1.00</c:v>
                </c:pt>
                <c:pt idx="3">
                  <c:v>1.25</c:v>
                </c:pt>
                <c:pt idx="4">
                  <c:v>1.50</c:v>
                </c:pt>
              </c:numCache>
            </c:numRef>
          </c:cat>
          <c:val>
            <c:numRef>
              <c:f>'Chart Data'!$J$2:$J$6</c:f>
              <c:numCache>
                <c:formatCode>0.0</c:formatCode>
                <c:ptCount val="5"/>
                <c:pt idx="0">
                  <c:v>-0.559882</c:v>
                </c:pt>
                <c:pt idx="1">
                  <c:v>-0.123611</c:v>
                </c:pt>
                <c:pt idx="2">
                  <c:v>0</c:v>
                </c:pt>
                <c:pt idx="3">
                  <c:v>-0.039521</c:v>
                </c:pt>
                <c:pt idx="4">
                  <c:v>-0.135165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Roboto Condensed"/>
                  <a:ea typeface="Roboto Condensed"/>
                  <a:cs typeface="Roboto Condense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222222"/>
                    </a:solidFill>
                    <a:latin typeface="Roboto Condensed"/>
                    <a:ea typeface="Roboto Condensed"/>
                    <a:cs typeface="Roboto Condensed"/>
                  </a:rPr>
                  <a:t>Assumed / true standard deviation, 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222222"/>
                  </a:solidFill>
                  <a:latin typeface="Roboto Condensed"/>
                  <a:ea typeface="Roboto Condensed"/>
                  <a:cs typeface="Roboto Condensed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</a:p>
        </c:txPr>
        <c:crossAx val="48672768"/>
      </c:catAx>
      <c:valAx>
        <c:axId val="48672768"/>
        <c:scaling>
          <c:orientation val="minMax"/>
          <c:max val="0.75"/>
          <c:min val="-2.5"/>
        </c:scaling>
        <c:delete val="0"/>
        <c:axPos val="l"/>
        <c:majorGridlines>
          <c:spPr>
            <a:ln xmlns:a="http://schemas.openxmlformats.org/drawingml/2006/main" w="6668">
              <a:solidFill>
                <a:srgbClr val="D5D8D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222222"/>
                    </a:solidFill>
                    <a:latin typeface="Roboto Condensed"/>
                    <a:ea typeface="Roboto Condensed"/>
                    <a:cs typeface="Roboto Condensed"/>
                  </a:rPr>
                  <a:t>Mean ΔPSNR (dB)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222222"/>
                  </a:solidFill>
                  <a:latin typeface="Roboto Condensed"/>
                  <a:ea typeface="Roboto Condensed"/>
                  <a:cs typeface="Roboto Condensed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</a:p>
        </c:txPr>
        <c:crossAx val="48650112"/>
        <c:crossesAt val="-2.5"/>
        <c:crossBetween val="between"/>
        <c:majorUnit val="0.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222222"/>
              </a:solidFill>
              <a:latin typeface="Roboto Condensed"/>
              <a:ea typeface="Roboto Condensed"/>
              <a:cs typeface="Roboto Condensed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Paired effect of the assumed noise level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 b="1">
              <a:solidFill>
                <a:srgbClr val="222222"/>
              </a:solidFill>
              <a:latin typeface="Roboto Condensed"/>
              <a:ea typeface="Roboto Condensed"/>
              <a:cs typeface="Roboto Condensed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Denoising</c:v>
          </c:tx>
          <c:spPr>
            <a:ln xmlns:a="http://schemas.openxmlformats.org/drawingml/2006/main" w="22860">
              <a:solidFill>
                <a:srgbClr val="3155A4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3155A4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0.0000</c:formatCode>
                <c:ptCount val="5"/>
                <c:pt idx="0">
                  <c:v>0.266141</c:v>
                </c:pt>
                <c:pt idx="1">
                  <c:v>0.043986</c:v>
                </c:pt>
                <c:pt idx="2">
                  <c:v>0</c:v>
                </c:pt>
                <c:pt idx="3">
                  <c:v>0.029605</c:v>
                </c:pt>
                <c:pt idx="4">
                  <c:v>0.049238</c:v>
                </c:pt>
              </c:numLit>
            </c:plus>
            <c:minus>
              <c:numLit>
                <c:formatCode>0.0000</c:formatCode>
                <c:ptCount val="5"/>
                <c:pt idx="0">
                  <c:v>0.266141</c:v>
                </c:pt>
                <c:pt idx="1">
                  <c:v>0.043986</c:v>
                </c:pt>
                <c:pt idx="2">
                  <c:v>0</c:v>
                </c:pt>
                <c:pt idx="3">
                  <c:v>0.029605</c:v>
                </c:pt>
                <c:pt idx="4">
                  <c:v>0.049238</c:v>
                </c:pt>
              </c:numLit>
            </c:minus>
          </c:errBars>
          <c:cat>
            <c:numRef>
              <c:f>'Chart Data'!$A$2:$A$6</c:f>
              <c:numCache>
                <c:formatCode>General</c:formatCode>
                <c:ptCount val="5"/>
                <c:pt idx="0">
                  <c:v>0.50</c:v>
                </c:pt>
                <c:pt idx="1">
                  <c:v>0.75</c:v>
                </c:pt>
                <c:pt idx="2">
                  <c:v>1.00</c:v>
                </c:pt>
                <c:pt idx="3">
                  <c:v>1.25</c:v>
                </c:pt>
                <c:pt idx="4">
                  <c:v>1.50</c:v>
                </c:pt>
              </c:numCache>
            </c:num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-1.250386</c:v>
                </c:pt>
                <c:pt idx="1">
                  <c:v>0.346729</c:v>
                </c:pt>
                <c:pt idx="2">
                  <c:v>0</c:v>
                </c:pt>
                <c:pt idx="3">
                  <c:v>-0.701615</c:v>
                </c:pt>
                <c:pt idx="4">
                  <c:v>-1.425741</c:v>
                </c:pt>
              </c:numCache>
            </c:numRef>
          </c:val>
          <c:smooth val="0"/>
        </c:ser>
        <c:ser>
          <c:idx val="1"/>
          <c:order val="1"/>
          <c:tx>
            <c:v>Gaussian deblurring</c:v>
          </c:tx>
          <c:spPr>
            <a:ln xmlns:a="http://schemas.openxmlformats.org/drawingml/2006/main" w="22860">
              <a:solidFill>
                <a:srgbClr val="C55A25"/>
              </a:solidFill>
              <a:prstDash val="solid"/>
            </a:ln>
          </c:spPr>
          <c:marker>
            <c:symbol val="square"/>
            <c:size val="6"/>
            <c:spPr>
              <a:solidFill xmlns:a="http://schemas.openxmlformats.org/drawingml/2006/main">
                <a:srgbClr val="C55A25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0.0000</c:formatCode>
                <c:ptCount val="5"/>
                <c:pt idx="0">
                  <c:v>0.112444</c:v>
                </c:pt>
                <c:pt idx="1">
                  <c:v>0.051743</c:v>
                </c:pt>
                <c:pt idx="2">
                  <c:v>0</c:v>
                </c:pt>
                <c:pt idx="3">
                  <c:v>0.06742</c:v>
                </c:pt>
                <c:pt idx="4">
                  <c:v>0.089965</c:v>
                </c:pt>
              </c:numLit>
            </c:plus>
            <c:minus>
              <c:numLit>
                <c:formatCode>0.0000</c:formatCode>
                <c:ptCount val="5"/>
                <c:pt idx="0">
                  <c:v>0.112444</c:v>
                </c:pt>
                <c:pt idx="1">
                  <c:v>0.051743</c:v>
                </c:pt>
                <c:pt idx="2">
                  <c:v>0</c:v>
                </c:pt>
                <c:pt idx="3">
                  <c:v>0.06742</c:v>
                </c:pt>
                <c:pt idx="4">
                  <c:v>0.089965</c:v>
                </c:pt>
              </c:numLit>
            </c:minus>
          </c:errBars>
          <c:cat>
            <c:numRef>
              <c:f>'Chart Data'!$C$2:$C$6</c:f>
              <c:numCache>
                <c:formatCode>General</c:formatCode>
                <c:ptCount val="5"/>
                <c:pt idx="0">
                  <c:v>0.50</c:v>
                </c:pt>
                <c:pt idx="1">
                  <c:v>0.75</c:v>
                </c:pt>
                <c:pt idx="2">
                  <c:v>1.00</c:v>
                </c:pt>
                <c:pt idx="3">
                  <c:v>1.25</c:v>
                </c:pt>
                <c:pt idx="4">
                  <c:v>1.50</c:v>
                </c:pt>
              </c:numCache>
            </c:numRef>
          </c:cat>
          <c:val>
            <c:numRef>
              <c:f>'Chart Data'!$D$2:$D$6</c:f>
              <c:numCache>
                <c:formatCode>0.0</c:formatCode>
                <c:ptCount val="5"/>
                <c:pt idx="0">
                  <c:v>-0.090838</c:v>
                </c:pt>
                <c:pt idx="1">
                  <c:v>0.086118</c:v>
                </c:pt>
                <c:pt idx="2">
                  <c:v>0</c:v>
                </c:pt>
                <c:pt idx="3">
                  <c:v>-0.123439</c:v>
                </c:pt>
                <c:pt idx="4">
                  <c:v>-0.298185</c:v>
                </c:pt>
              </c:numCache>
            </c:numRef>
          </c:val>
          <c:smooth val="0"/>
        </c:ser>
        <c:ser>
          <c:idx val="2"/>
          <c:order val="2"/>
          <c:tx>
            <c:v>Super-resolution</c:v>
          </c:tx>
          <c:spPr>
            <a:ln xmlns:a="http://schemas.openxmlformats.org/drawingml/2006/main" w="22860">
              <a:solidFill>
                <a:srgbClr val="8B5AA6"/>
              </a:solidFill>
              <a:prstDash val="solid"/>
            </a:ln>
          </c:spPr>
          <c:marker>
            <c:symbol val="triangle"/>
            <c:size val="6"/>
            <c:spPr>
              <a:solidFill xmlns:a="http://schemas.openxmlformats.org/drawingml/2006/main">
                <a:srgbClr val="8B5AA6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0.0000</c:formatCode>
                <c:ptCount val="5"/>
                <c:pt idx="0">
                  <c:v>0.100572</c:v>
                </c:pt>
                <c:pt idx="1">
                  <c:v>0.051536</c:v>
                </c:pt>
                <c:pt idx="2">
                  <c:v>0</c:v>
                </c:pt>
                <c:pt idx="3">
                  <c:v>0.048493</c:v>
                </c:pt>
                <c:pt idx="4">
                  <c:v>0.092241</c:v>
                </c:pt>
              </c:numLit>
            </c:plus>
            <c:minus>
              <c:numLit>
                <c:formatCode>0.0000</c:formatCode>
                <c:ptCount val="5"/>
                <c:pt idx="0">
                  <c:v>0.100572</c:v>
                </c:pt>
                <c:pt idx="1">
                  <c:v>0.051536</c:v>
                </c:pt>
                <c:pt idx="2">
                  <c:v>0</c:v>
                </c:pt>
                <c:pt idx="3">
                  <c:v>0.048493</c:v>
                </c:pt>
                <c:pt idx="4">
                  <c:v>0.092241</c:v>
                </c:pt>
              </c:numLit>
            </c:minus>
          </c:errBars>
          <c:cat>
            <c:numRef>
              <c:f>'Chart Data'!$E$2:$E$6</c:f>
              <c:numCache>
                <c:formatCode>General</c:formatCode>
                <c:ptCount val="5"/>
                <c:pt idx="0">
                  <c:v>0.50</c:v>
                </c:pt>
                <c:pt idx="1">
                  <c:v>0.75</c:v>
                </c:pt>
                <c:pt idx="2">
                  <c:v>1.00</c:v>
                </c:pt>
                <c:pt idx="3">
                  <c:v>1.25</c:v>
                </c:pt>
                <c:pt idx="4">
                  <c:v>1.50</c:v>
                </c:pt>
              </c:numCache>
            </c:numRef>
          </c:cat>
          <c:val>
            <c:numRef>
              <c:f>'Chart Data'!$F$2:$F$6</c:f>
              <c:numCache>
                <c:formatCode>0.0</c:formatCode>
                <c:ptCount val="5"/>
                <c:pt idx="0">
                  <c:v>0.470301</c:v>
                </c:pt>
                <c:pt idx="1">
                  <c:v>0.259342</c:v>
                </c:pt>
                <c:pt idx="2">
                  <c:v>0</c:v>
                </c:pt>
                <c:pt idx="3">
                  <c:v>-0.286253</c:v>
                </c:pt>
                <c:pt idx="4">
                  <c:v>-0.595065</c:v>
                </c:pt>
              </c:numCache>
            </c:numRef>
          </c:val>
          <c:smooth val="0"/>
        </c:ser>
        <c:ser>
          <c:idx val="3"/>
          <c:order val="3"/>
          <c:tx>
            <c:v>Random inpainting</c:v>
          </c:tx>
          <c:spPr>
            <a:ln xmlns:a="http://schemas.openxmlformats.org/drawingml/2006/main" w="22860">
              <a:solidFill>
                <a:srgbClr val="008477"/>
              </a:solidFill>
              <a:prstDash val="solid"/>
            </a:ln>
          </c:spPr>
          <c:marker>
            <c:symbol val="diamond"/>
            <c:size val="6"/>
            <c:spPr>
              <a:solidFill xmlns:a="http://schemas.openxmlformats.org/drawingml/2006/main">
                <a:srgbClr val="008477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0.0000</c:formatCode>
                <c:ptCount val="5"/>
                <c:pt idx="0">
                  <c:v>0.006616</c:v>
                </c:pt>
                <c:pt idx="1">
                  <c:v>0.004719</c:v>
                </c:pt>
                <c:pt idx="2">
                  <c:v>0</c:v>
                </c:pt>
                <c:pt idx="3">
                  <c:v>0.007095</c:v>
                </c:pt>
                <c:pt idx="4">
                  <c:v>0.016032</c:v>
                </c:pt>
              </c:numLit>
            </c:plus>
            <c:minus>
              <c:numLit>
                <c:formatCode>0.0000</c:formatCode>
                <c:ptCount val="5"/>
                <c:pt idx="0">
                  <c:v>0.006616</c:v>
                </c:pt>
                <c:pt idx="1">
                  <c:v>0.004719</c:v>
                </c:pt>
                <c:pt idx="2">
                  <c:v>0</c:v>
                </c:pt>
                <c:pt idx="3">
                  <c:v>0.007095</c:v>
                </c:pt>
                <c:pt idx="4">
                  <c:v>0.016032</c:v>
                </c:pt>
              </c:numLit>
            </c:minus>
          </c:errBars>
          <c:cat>
            <c:numRef>
              <c:f>'Chart Data'!$G$2:$G$6</c:f>
              <c:numCache>
                <c:formatCode>General</c:formatCode>
                <c:ptCount val="5"/>
                <c:pt idx="0">
                  <c:v>0.50</c:v>
                </c:pt>
                <c:pt idx="1">
                  <c:v>0.75</c:v>
                </c:pt>
                <c:pt idx="2">
                  <c:v>1.00</c:v>
                </c:pt>
                <c:pt idx="3">
                  <c:v>1.25</c:v>
                </c:pt>
                <c:pt idx="4">
                  <c:v>1.50</c:v>
                </c:pt>
              </c:numCache>
            </c:numRef>
          </c:cat>
          <c:val>
            <c:numRef>
              <c:f>'Chart Data'!$H$2:$H$6</c:f>
              <c:numCache>
                <c:formatCode>0.0</c:formatCode>
                <c:ptCount val="5"/>
                <c:pt idx="0">
                  <c:v>0.023134</c:v>
                </c:pt>
                <c:pt idx="1">
                  <c:v>0.016933</c:v>
                </c:pt>
                <c:pt idx="2">
                  <c:v>0</c:v>
                </c:pt>
                <c:pt idx="3">
                  <c:v>-0.02555</c:v>
                </c:pt>
                <c:pt idx="4">
                  <c:v>-0.057863</c:v>
                </c:pt>
              </c:numCache>
            </c:numRef>
          </c:val>
          <c:smooth val="0"/>
        </c:ser>
        <c:ser>
          <c:idx val="4"/>
          <c:order val="4"/>
          <c:tx>
            <c:v>Box inpainting</c:v>
          </c:tx>
          <c:spPr>
            <a:ln xmlns:a="http://schemas.openxmlformats.org/drawingml/2006/main" w="22860">
              <a:solidFill>
                <a:srgbClr val="AD4266"/>
              </a:solidFill>
              <a:prstDash val="solid"/>
            </a:ln>
          </c:spPr>
          <c:marker>
            <c:symbol val="star"/>
            <c:size val="6"/>
            <c:spPr>
              <a:solidFill xmlns:a="http://schemas.openxmlformats.org/drawingml/2006/main">
                <a:srgbClr val="AD4266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0.0000</c:formatCode>
                <c:ptCount val="5"/>
                <c:pt idx="0">
                  <c:v>0.113336</c:v>
                </c:pt>
                <c:pt idx="1">
                  <c:v>0.031698</c:v>
                </c:pt>
                <c:pt idx="2">
                  <c:v>0</c:v>
                </c:pt>
                <c:pt idx="3">
                  <c:v>0.005586</c:v>
                </c:pt>
                <c:pt idx="4">
                  <c:v>0.016403</c:v>
                </c:pt>
              </c:numLit>
            </c:plus>
            <c:minus>
              <c:numLit>
                <c:formatCode>0.0000</c:formatCode>
                <c:ptCount val="5"/>
                <c:pt idx="0">
                  <c:v>0.113336</c:v>
                </c:pt>
                <c:pt idx="1">
                  <c:v>0.031698</c:v>
                </c:pt>
                <c:pt idx="2">
                  <c:v>0</c:v>
                </c:pt>
                <c:pt idx="3">
                  <c:v>0.005586</c:v>
                </c:pt>
                <c:pt idx="4">
                  <c:v>0.016403</c:v>
                </c:pt>
              </c:numLit>
            </c:minus>
          </c:errBars>
          <c:cat>
            <c:numRef>
              <c:f>'Chart Data'!$I$2:$I$6</c:f>
              <c:numCache>
                <c:formatCode>General</c:formatCode>
                <c:ptCount val="5"/>
                <c:pt idx="0">
                  <c:v>0.50</c:v>
                </c:pt>
                <c:pt idx="1">
                  <c:v>0.75</c:v>
                </c:pt>
                <c:pt idx="2">
                  <c:v>1.00</c:v>
                </c:pt>
                <c:pt idx="3">
                  <c:v>1.25</c:v>
                </c:pt>
                <c:pt idx="4">
                  <c:v>1.50</c:v>
                </c:pt>
              </c:numCache>
            </c:numRef>
          </c:cat>
          <c:val>
            <c:numRef>
              <c:f>'Chart Data'!$J$2:$J$6</c:f>
              <c:numCache>
                <c:formatCode>0.0</c:formatCode>
                <c:ptCount val="5"/>
                <c:pt idx="0">
                  <c:v>-0.307419</c:v>
                </c:pt>
                <c:pt idx="1">
                  <c:v>-0.073518</c:v>
                </c:pt>
                <c:pt idx="2">
                  <c:v>0</c:v>
                </c:pt>
                <c:pt idx="3">
                  <c:v>-0.017879</c:v>
                </c:pt>
                <c:pt idx="4">
                  <c:v>-0.067649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Roboto Condensed"/>
                  <a:ea typeface="Roboto Condensed"/>
                  <a:cs typeface="Roboto Condense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222222"/>
                    </a:solidFill>
                    <a:latin typeface="Roboto Condensed"/>
                    <a:ea typeface="Roboto Condensed"/>
                    <a:cs typeface="Roboto Condensed"/>
                  </a:rPr>
                  <a:t>Assumed / true standard deviation, 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222222"/>
                  </a:solidFill>
                  <a:latin typeface="Roboto Condensed"/>
                  <a:ea typeface="Roboto Condensed"/>
                  <a:cs typeface="Roboto Condensed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</a:p>
        </c:txPr>
        <c:crossAx val="48672768"/>
      </c:catAx>
      <c:valAx>
        <c:axId val="48672768"/>
        <c:scaling>
          <c:orientation val="minMax"/>
          <c:max val="0.75"/>
          <c:min val="-2.5"/>
        </c:scaling>
        <c:delete val="0"/>
        <c:axPos val="l"/>
        <c:majorGridlines>
          <c:spPr>
            <a:ln xmlns:a="http://schemas.openxmlformats.org/drawingml/2006/main" w="6668">
              <a:solidFill>
                <a:srgbClr val="D5D8D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222222"/>
                    </a:solidFill>
                    <a:latin typeface="Roboto Condensed"/>
                    <a:ea typeface="Roboto Condensed"/>
                    <a:cs typeface="Roboto Condensed"/>
                  </a:rPr>
                  <a:t>Mean ΔPSNR (dB)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222222"/>
                  </a:solidFill>
                  <a:latin typeface="Roboto Condensed"/>
                  <a:ea typeface="Roboto Condensed"/>
                  <a:cs typeface="Roboto Condensed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</a:p>
        </c:txPr>
        <c:crossAx val="48650112"/>
        <c:crossesAt val="-2.5"/>
        <c:crossBetween val="between"/>
        <c:majorUnit val="0.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222222"/>
              </a:solidFill>
              <a:latin typeface="Roboto Condensed"/>
              <a:ea typeface="Roboto Condensed"/>
              <a:cs typeface="Roboto Condensed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CelebA SSIM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 b="1">
              <a:solidFill>
                <a:srgbClr val="222222"/>
              </a:solidFill>
              <a:latin typeface="Roboto Condensed"/>
              <a:ea typeface="Roboto Condensed"/>
              <a:cs typeface="Roboto Condensed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Denoising</c:v>
          </c:tx>
          <c:spPr>
            <a:ln xmlns:a="http://schemas.openxmlformats.org/drawingml/2006/main" w="22860">
              <a:solidFill>
                <a:srgbClr val="3155A4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3155A4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0.0000</c:formatCode>
                <c:ptCount val="5"/>
                <c:pt idx="0">
                  <c:v>0.017095</c:v>
                </c:pt>
                <c:pt idx="1">
                  <c:v>0.004535</c:v>
                </c:pt>
                <c:pt idx="2">
                  <c:v>0</c:v>
                </c:pt>
                <c:pt idx="3">
                  <c:v>0.002338</c:v>
                </c:pt>
                <c:pt idx="4">
                  <c:v>0.004633</c:v>
                </c:pt>
              </c:numLit>
            </c:plus>
            <c:minus>
              <c:numLit>
                <c:formatCode>0.0000</c:formatCode>
                <c:ptCount val="5"/>
                <c:pt idx="0">
                  <c:v>0.017095</c:v>
                </c:pt>
                <c:pt idx="1">
                  <c:v>0.004535</c:v>
                </c:pt>
                <c:pt idx="2">
                  <c:v>0</c:v>
                </c:pt>
                <c:pt idx="3">
                  <c:v>0.002338</c:v>
                </c:pt>
                <c:pt idx="4">
                  <c:v>0.004633</c:v>
                </c:pt>
              </c:numLit>
            </c:minus>
          </c:errBars>
          <c:cat>
            <c:numRef>
              <c:f>'Chart Data'!$A$2:$A$6</c:f>
              <c:numCache>
                <c:formatCode>General</c:formatCode>
                <c:ptCount val="5"/>
                <c:pt idx="0">
                  <c:v>0.50</c:v>
                </c:pt>
                <c:pt idx="1">
                  <c:v>0.75</c:v>
                </c:pt>
                <c:pt idx="2">
                  <c:v>1.00</c:v>
                </c:pt>
                <c:pt idx="3">
                  <c:v>1.25</c:v>
                </c:pt>
                <c:pt idx="4">
                  <c:v>1.50</c:v>
                </c:pt>
              </c:numCache>
            </c:numRef>
          </c:cat>
          <c:val>
            <c:numRef>
              <c:f>'Chart Data'!$B$2:$B$6</c:f>
              <c:numCache>
                <c:formatCode>0.00</c:formatCode>
                <c:ptCount val="5"/>
                <c:pt idx="0">
                  <c:v>-0.113543</c:v>
                </c:pt>
                <c:pt idx="1">
                  <c:v>-0.010355</c:v>
                </c:pt>
                <c:pt idx="2">
                  <c:v>0</c:v>
                </c:pt>
                <c:pt idx="3">
                  <c:v>-0.010251</c:v>
                </c:pt>
                <c:pt idx="4">
                  <c:v>-0.023787</c:v>
                </c:pt>
              </c:numCache>
            </c:numRef>
          </c:val>
          <c:smooth val="0"/>
        </c:ser>
        <c:ser>
          <c:idx val="1"/>
          <c:order val="1"/>
          <c:tx>
            <c:v>Gaussian deblurring</c:v>
          </c:tx>
          <c:spPr>
            <a:ln xmlns:a="http://schemas.openxmlformats.org/drawingml/2006/main" w="22860">
              <a:solidFill>
                <a:srgbClr val="C55A25"/>
              </a:solidFill>
              <a:prstDash val="solid"/>
            </a:ln>
          </c:spPr>
          <c:marker>
            <c:symbol val="square"/>
            <c:size val="6"/>
            <c:spPr>
              <a:solidFill xmlns:a="http://schemas.openxmlformats.org/drawingml/2006/main">
                <a:srgbClr val="C55A25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0.0000</c:formatCode>
                <c:ptCount val="5"/>
                <c:pt idx="0">
                  <c:v>0.008227</c:v>
                </c:pt>
                <c:pt idx="1">
                  <c:v>0.002509</c:v>
                </c:pt>
                <c:pt idx="2">
                  <c:v>0</c:v>
                </c:pt>
                <c:pt idx="3">
                  <c:v>0.000758</c:v>
                </c:pt>
                <c:pt idx="4">
                  <c:v>0.001574</c:v>
                </c:pt>
              </c:numLit>
            </c:plus>
            <c:minus>
              <c:numLit>
                <c:formatCode>0.0000</c:formatCode>
                <c:ptCount val="5"/>
                <c:pt idx="0">
                  <c:v>0.008227</c:v>
                </c:pt>
                <c:pt idx="1">
                  <c:v>0.002509</c:v>
                </c:pt>
                <c:pt idx="2">
                  <c:v>0</c:v>
                </c:pt>
                <c:pt idx="3">
                  <c:v>0.000758</c:v>
                </c:pt>
                <c:pt idx="4">
                  <c:v>0.001574</c:v>
                </c:pt>
              </c:numLit>
            </c:minus>
          </c:errBars>
          <c:cat>
            <c:numRef>
              <c:f>'Chart Data'!$C$2:$C$6</c:f>
              <c:numCache>
                <c:formatCode>General</c:formatCode>
                <c:ptCount val="5"/>
                <c:pt idx="0">
                  <c:v>0.50</c:v>
                </c:pt>
                <c:pt idx="1">
                  <c:v>0.75</c:v>
                </c:pt>
                <c:pt idx="2">
                  <c:v>1.00</c:v>
                </c:pt>
                <c:pt idx="3">
                  <c:v>1.25</c:v>
                </c:pt>
                <c:pt idx="4">
                  <c:v>1.50</c:v>
                </c:pt>
              </c:numCache>
            </c:numRef>
          </c:cat>
          <c:val>
            <c:numRef>
              <c:f>'Chart Data'!$D$2:$D$6</c:f>
              <c:numCache>
                <c:formatCode>0.00</c:formatCode>
                <c:ptCount val="5"/>
                <c:pt idx="0">
                  <c:v>-0.04916</c:v>
                </c:pt>
                <c:pt idx="1">
                  <c:v>-0.006031</c:v>
                </c:pt>
                <c:pt idx="2">
                  <c:v>0</c:v>
                </c:pt>
                <c:pt idx="3">
                  <c:v>-0.003087</c:v>
                </c:pt>
                <c:pt idx="4">
                  <c:v>-0.007914</c:v>
                </c:pt>
              </c:numCache>
            </c:numRef>
          </c:val>
          <c:smooth val="0"/>
        </c:ser>
        <c:ser>
          <c:idx val="2"/>
          <c:order val="2"/>
          <c:tx>
            <c:v>Super-resolution</c:v>
          </c:tx>
          <c:spPr>
            <a:ln xmlns:a="http://schemas.openxmlformats.org/drawingml/2006/main" w="22860">
              <a:solidFill>
                <a:srgbClr val="8B5AA6"/>
              </a:solidFill>
              <a:prstDash val="solid"/>
            </a:ln>
          </c:spPr>
          <c:marker>
            <c:symbol val="triangle"/>
            <c:size val="6"/>
            <c:spPr>
              <a:solidFill xmlns:a="http://schemas.openxmlformats.org/drawingml/2006/main">
                <a:srgbClr val="8B5AA6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0.0000</c:formatCode>
                <c:ptCount val="5"/>
                <c:pt idx="0">
                  <c:v>0.002319</c:v>
                </c:pt>
                <c:pt idx="1">
                  <c:v>0.001135</c:v>
                </c:pt>
                <c:pt idx="2">
                  <c:v>0</c:v>
                </c:pt>
                <c:pt idx="3">
                  <c:v>0.001339</c:v>
                </c:pt>
                <c:pt idx="4">
                  <c:v>0.002798</c:v>
                </c:pt>
              </c:numLit>
            </c:plus>
            <c:minus>
              <c:numLit>
                <c:formatCode>0.0000</c:formatCode>
                <c:ptCount val="5"/>
                <c:pt idx="0">
                  <c:v>0.002319</c:v>
                </c:pt>
                <c:pt idx="1">
                  <c:v>0.001135</c:v>
                </c:pt>
                <c:pt idx="2">
                  <c:v>0</c:v>
                </c:pt>
                <c:pt idx="3">
                  <c:v>0.001339</c:v>
                </c:pt>
                <c:pt idx="4">
                  <c:v>0.002798</c:v>
                </c:pt>
              </c:numLit>
            </c:minus>
          </c:errBars>
          <c:cat>
            <c:numRef>
              <c:f>'Chart Data'!$E$2:$E$6</c:f>
              <c:numCache>
                <c:formatCode>General</c:formatCode>
                <c:ptCount val="5"/>
                <c:pt idx="0">
                  <c:v>0.50</c:v>
                </c:pt>
                <c:pt idx="1">
                  <c:v>0.75</c:v>
                </c:pt>
                <c:pt idx="2">
                  <c:v>1.00</c:v>
                </c:pt>
                <c:pt idx="3">
                  <c:v>1.25</c:v>
                </c:pt>
                <c:pt idx="4">
                  <c:v>1.50</c:v>
                </c:pt>
              </c:numCache>
            </c:numRef>
          </c:cat>
          <c:val>
            <c:numRef>
              <c:f>'Chart Data'!$F$2:$F$6</c:f>
              <c:numCache>
                <c:formatCode>0.00</c:formatCode>
                <c:ptCount val="5"/>
                <c:pt idx="0">
                  <c:v>0.002524</c:v>
                </c:pt>
                <c:pt idx="1">
                  <c:v>0.004511</c:v>
                </c:pt>
                <c:pt idx="2">
                  <c:v>0</c:v>
                </c:pt>
                <c:pt idx="3">
                  <c:v>-0.006763</c:v>
                </c:pt>
                <c:pt idx="4">
                  <c:v>-0.014545</c:v>
                </c:pt>
              </c:numCache>
            </c:numRef>
          </c:val>
          <c:smooth val="0"/>
        </c:ser>
        <c:ser>
          <c:idx val="3"/>
          <c:order val="3"/>
          <c:tx>
            <c:v>Random inpainting</c:v>
          </c:tx>
          <c:spPr>
            <a:ln xmlns:a="http://schemas.openxmlformats.org/drawingml/2006/main" w="22860">
              <a:solidFill>
                <a:srgbClr val="008477"/>
              </a:solidFill>
              <a:prstDash val="solid"/>
            </a:ln>
          </c:spPr>
          <c:marker>
            <c:symbol val="diamond"/>
            <c:size val="6"/>
            <c:spPr>
              <a:solidFill xmlns:a="http://schemas.openxmlformats.org/drawingml/2006/main">
                <a:srgbClr val="008477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0.0000</c:formatCode>
                <c:ptCount val="5"/>
                <c:pt idx="0">
                  <c:v>0.000257</c:v>
                </c:pt>
                <c:pt idx="1">
                  <c:v>0.00013</c:v>
                </c:pt>
                <c:pt idx="2">
                  <c:v>0</c:v>
                </c:pt>
                <c:pt idx="3">
                  <c:v>0.000133</c:v>
                </c:pt>
                <c:pt idx="4">
                  <c:v>0.000273</c:v>
                </c:pt>
              </c:numLit>
            </c:plus>
            <c:minus>
              <c:numLit>
                <c:formatCode>0.0000</c:formatCode>
                <c:ptCount val="5"/>
                <c:pt idx="0">
                  <c:v>0.000257</c:v>
                </c:pt>
                <c:pt idx="1">
                  <c:v>0.00013</c:v>
                </c:pt>
                <c:pt idx="2">
                  <c:v>0</c:v>
                </c:pt>
                <c:pt idx="3">
                  <c:v>0.000133</c:v>
                </c:pt>
                <c:pt idx="4">
                  <c:v>0.000273</c:v>
                </c:pt>
              </c:numLit>
            </c:minus>
          </c:errBars>
          <c:cat>
            <c:numRef>
              <c:f>'Chart Data'!$G$2:$G$6</c:f>
              <c:numCache>
                <c:formatCode>General</c:formatCode>
                <c:ptCount val="5"/>
                <c:pt idx="0">
                  <c:v>0.50</c:v>
                </c:pt>
                <c:pt idx="1">
                  <c:v>0.75</c:v>
                </c:pt>
                <c:pt idx="2">
                  <c:v>1.00</c:v>
                </c:pt>
                <c:pt idx="3">
                  <c:v>1.25</c:v>
                </c:pt>
                <c:pt idx="4">
                  <c:v>1.50</c:v>
                </c:pt>
              </c:numCache>
            </c:numRef>
          </c:cat>
          <c:val>
            <c:numRef>
              <c:f>'Chart Data'!$H$2:$H$6</c:f>
              <c:numCache>
                <c:formatCode>0.00</c:formatCode>
                <c:ptCount val="5"/>
                <c:pt idx="0">
                  <c:v>-0.000434</c:v>
                </c:pt>
                <c:pt idx="1">
                  <c:v>-8E-05</c:v>
                </c:pt>
                <c:pt idx="2">
                  <c:v>0</c:v>
                </c:pt>
                <c:pt idx="3">
                  <c:v>-0.000203</c:v>
                </c:pt>
                <c:pt idx="4">
                  <c:v>-0.000647</c:v>
                </c:pt>
              </c:numCache>
            </c:numRef>
          </c:val>
          <c:smooth val="0"/>
        </c:ser>
        <c:ser>
          <c:idx val="4"/>
          <c:order val="4"/>
          <c:tx>
            <c:v>Box inpainting</c:v>
          </c:tx>
          <c:spPr>
            <a:ln xmlns:a="http://schemas.openxmlformats.org/drawingml/2006/main" w="22860">
              <a:solidFill>
                <a:srgbClr val="AD4266"/>
              </a:solidFill>
              <a:prstDash val="solid"/>
            </a:ln>
          </c:spPr>
          <c:marker>
            <c:symbol val="star"/>
            <c:size val="6"/>
            <c:spPr>
              <a:solidFill xmlns:a="http://schemas.openxmlformats.org/drawingml/2006/main">
                <a:srgbClr val="AD4266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0.0000</c:formatCode>
                <c:ptCount val="5"/>
                <c:pt idx="0">
                  <c:v>0.006068</c:v>
                </c:pt>
                <c:pt idx="1">
                  <c:v>0.002084</c:v>
                </c:pt>
                <c:pt idx="2">
                  <c:v>0</c:v>
                </c:pt>
                <c:pt idx="3">
                  <c:v>0.000605</c:v>
                </c:pt>
                <c:pt idx="4">
                  <c:v>0.000953</c:v>
                </c:pt>
              </c:numLit>
            </c:plus>
            <c:minus>
              <c:numLit>
                <c:formatCode>0.0000</c:formatCode>
                <c:ptCount val="5"/>
                <c:pt idx="0">
                  <c:v>0.006068</c:v>
                </c:pt>
                <c:pt idx="1">
                  <c:v>0.002084</c:v>
                </c:pt>
                <c:pt idx="2">
                  <c:v>0</c:v>
                </c:pt>
                <c:pt idx="3">
                  <c:v>0.000605</c:v>
                </c:pt>
                <c:pt idx="4">
                  <c:v>0.000953</c:v>
                </c:pt>
              </c:numLit>
            </c:minus>
          </c:errBars>
          <c:cat>
            <c:numRef>
              <c:f>'Chart Data'!$I$2:$I$6</c:f>
              <c:numCache>
                <c:formatCode>General</c:formatCode>
                <c:ptCount val="5"/>
                <c:pt idx="0">
                  <c:v>0.50</c:v>
                </c:pt>
                <c:pt idx="1">
                  <c:v>0.75</c:v>
                </c:pt>
                <c:pt idx="2">
                  <c:v>1.00</c:v>
                </c:pt>
                <c:pt idx="3">
                  <c:v>1.25</c:v>
                </c:pt>
                <c:pt idx="4">
                  <c:v>1.50</c:v>
                </c:pt>
              </c:numCache>
            </c:numRef>
          </c:cat>
          <c:val>
            <c:numRef>
              <c:f>'Chart Data'!$J$2:$J$6</c:f>
              <c:numCache>
                <c:formatCode>0.00</c:formatCode>
                <c:ptCount val="5"/>
                <c:pt idx="0">
                  <c:v>-0.048747</c:v>
                </c:pt>
                <c:pt idx="1">
                  <c:v>-0.013461</c:v>
                </c:pt>
                <c:pt idx="2">
                  <c:v>0</c:v>
                </c:pt>
                <c:pt idx="3">
                  <c:v>0.001329</c:v>
                </c:pt>
                <c:pt idx="4">
                  <c:v>-0.000959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Roboto Condensed"/>
                  <a:ea typeface="Roboto Condensed"/>
                  <a:cs typeface="Roboto Condense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222222"/>
                    </a:solidFill>
                    <a:latin typeface="Roboto Condensed"/>
                    <a:ea typeface="Roboto Condensed"/>
                    <a:cs typeface="Roboto Condensed"/>
                  </a:rPr>
                  <a:t>Assumed / true standard deviation, 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222222"/>
                  </a:solidFill>
                  <a:latin typeface="Roboto Condensed"/>
                  <a:ea typeface="Roboto Condensed"/>
                  <a:cs typeface="Roboto Condensed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</a:p>
        </c:txPr>
        <c:crossAx val="48672768"/>
      </c:catAx>
      <c:valAx>
        <c:axId val="48672768"/>
        <c:scaling>
          <c:orientation val="minMax"/>
          <c:max val="0.05"/>
          <c:min val="-0.15"/>
        </c:scaling>
        <c:delete val="0"/>
        <c:axPos val="l"/>
        <c:majorGridlines>
          <c:spPr>
            <a:ln xmlns:a="http://schemas.openxmlformats.org/drawingml/2006/main" w="6668">
              <a:solidFill>
                <a:srgbClr val="D5D8D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222222"/>
                    </a:solidFill>
                    <a:latin typeface="Roboto Condensed"/>
                    <a:ea typeface="Roboto Condensed"/>
                    <a:cs typeface="Roboto Condensed"/>
                  </a:rPr>
                  <a:t>Mean ΔSSIM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222222"/>
                  </a:solidFill>
                  <a:latin typeface="Roboto Condensed"/>
                  <a:ea typeface="Roboto Condensed"/>
                  <a:cs typeface="Roboto Condensed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</a:p>
        </c:txPr>
        <c:crossAx val="48650112"/>
        <c:crossesAt val="-0.15"/>
        <c:crossBetween val="between"/>
        <c:majorUnit val="0.0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AFHQ-Cat SSIM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 b="1">
              <a:solidFill>
                <a:srgbClr val="222222"/>
              </a:solidFill>
              <a:latin typeface="Roboto Condensed"/>
              <a:ea typeface="Roboto Condensed"/>
              <a:cs typeface="Roboto Condensed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Denoising</c:v>
          </c:tx>
          <c:spPr>
            <a:ln xmlns:a="http://schemas.openxmlformats.org/drawingml/2006/main" w="22860">
              <a:solidFill>
                <a:srgbClr val="3155A4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3155A4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0.0000</c:formatCode>
                <c:ptCount val="5"/>
                <c:pt idx="0">
                  <c:v>0.013082</c:v>
                </c:pt>
                <c:pt idx="1">
                  <c:v>0.001967</c:v>
                </c:pt>
                <c:pt idx="2">
                  <c:v>0</c:v>
                </c:pt>
                <c:pt idx="3">
                  <c:v>0.003031</c:v>
                </c:pt>
                <c:pt idx="4">
                  <c:v>0.006239</c:v>
                </c:pt>
              </c:numLit>
            </c:plus>
            <c:minus>
              <c:numLit>
                <c:formatCode>0.0000</c:formatCode>
                <c:ptCount val="5"/>
                <c:pt idx="0">
                  <c:v>0.013082</c:v>
                </c:pt>
                <c:pt idx="1">
                  <c:v>0.001967</c:v>
                </c:pt>
                <c:pt idx="2">
                  <c:v>0</c:v>
                </c:pt>
                <c:pt idx="3">
                  <c:v>0.003031</c:v>
                </c:pt>
                <c:pt idx="4">
                  <c:v>0.006239</c:v>
                </c:pt>
              </c:numLit>
            </c:minus>
          </c:errBars>
          <c:cat>
            <c:numRef>
              <c:f>'Chart Data'!$A$2:$A$6</c:f>
              <c:numCache>
                <c:formatCode>General</c:formatCode>
                <c:ptCount val="5"/>
                <c:pt idx="0">
                  <c:v>0.50</c:v>
                </c:pt>
                <c:pt idx="1">
                  <c:v>0.75</c:v>
                </c:pt>
                <c:pt idx="2">
                  <c:v>1.00</c:v>
                </c:pt>
                <c:pt idx="3">
                  <c:v>1.25</c:v>
                </c:pt>
                <c:pt idx="4">
                  <c:v>1.50</c:v>
                </c:pt>
              </c:numCache>
            </c:numRef>
          </c:cat>
          <c:val>
            <c:numRef>
              <c:f>'Chart Data'!$B$2:$B$6</c:f>
              <c:numCache>
                <c:formatCode>0.00</c:formatCode>
                <c:ptCount val="5"/>
                <c:pt idx="0">
                  <c:v>-0.070821</c:v>
                </c:pt>
                <c:pt idx="1">
                  <c:v>0.010552</c:v>
                </c:pt>
                <c:pt idx="2">
                  <c:v>0</c:v>
                </c:pt>
                <c:pt idx="3">
                  <c:v>-0.021843</c:v>
                </c:pt>
                <c:pt idx="4">
                  <c:v>-0.045425</c:v>
                </c:pt>
              </c:numCache>
            </c:numRef>
          </c:val>
          <c:smooth val="0"/>
        </c:ser>
        <c:ser>
          <c:idx val="1"/>
          <c:order val="1"/>
          <c:tx>
            <c:v>Gaussian deblurring</c:v>
          </c:tx>
          <c:spPr>
            <a:ln xmlns:a="http://schemas.openxmlformats.org/drawingml/2006/main" w="22860">
              <a:solidFill>
                <a:srgbClr val="C55A25"/>
              </a:solidFill>
              <a:prstDash val="solid"/>
            </a:ln>
          </c:spPr>
          <c:marker>
            <c:symbol val="square"/>
            <c:size val="6"/>
            <c:spPr>
              <a:solidFill xmlns:a="http://schemas.openxmlformats.org/drawingml/2006/main">
                <a:srgbClr val="C55A25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0.0000</c:formatCode>
                <c:ptCount val="5"/>
                <c:pt idx="0">
                  <c:v>0.003203</c:v>
                </c:pt>
                <c:pt idx="1">
                  <c:v>0.001153</c:v>
                </c:pt>
                <c:pt idx="2">
                  <c:v>0</c:v>
                </c:pt>
                <c:pt idx="3">
                  <c:v>0.001248</c:v>
                </c:pt>
                <c:pt idx="4">
                  <c:v>0.002523</c:v>
                </c:pt>
              </c:numLit>
            </c:plus>
            <c:minus>
              <c:numLit>
                <c:formatCode>0.0000</c:formatCode>
                <c:ptCount val="5"/>
                <c:pt idx="0">
                  <c:v>0.003203</c:v>
                </c:pt>
                <c:pt idx="1">
                  <c:v>0.001153</c:v>
                </c:pt>
                <c:pt idx="2">
                  <c:v>0</c:v>
                </c:pt>
                <c:pt idx="3">
                  <c:v>0.001248</c:v>
                </c:pt>
                <c:pt idx="4">
                  <c:v>0.002523</c:v>
                </c:pt>
              </c:numLit>
            </c:minus>
          </c:errBars>
          <c:cat>
            <c:numRef>
              <c:f>'Chart Data'!$C$2:$C$6</c:f>
              <c:numCache>
                <c:formatCode>General</c:formatCode>
                <c:ptCount val="5"/>
                <c:pt idx="0">
                  <c:v>0.50</c:v>
                </c:pt>
                <c:pt idx="1">
                  <c:v>0.75</c:v>
                </c:pt>
                <c:pt idx="2">
                  <c:v>1.00</c:v>
                </c:pt>
                <c:pt idx="3">
                  <c:v>1.25</c:v>
                </c:pt>
                <c:pt idx="4">
                  <c:v>1.50</c:v>
                </c:pt>
              </c:numCache>
            </c:numRef>
          </c:cat>
          <c:val>
            <c:numRef>
              <c:f>'Chart Data'!$D$2:$D$6</c:f>
              <c:numCache>
                <c:formatCode>0.00</c:formatCode>
                <c:ptCount val="5"/>
                <c:pt idx="0">
                  <c:v>0.005173</c:v>
                </c:pt>
                <c:pt idx="1">
                  <c:v>0.007448</c:v>
                </c:pt>
                <c:pt idx="2">
                  <c:v>0</c:v>
                </c:pt>
                <c:pt idx="3">
                  <c:v>-0.008246</c:v>
                </c:pt>
                <c:pt idx="4">
                  <c:v>-0.016127</c:v>
                </c:pt>
              </c:numCache>
            </c:numRef>
          </c:val>
          <c:smooth val="0"/>
        </c:ser>
        <c:ser>
          <c:idx val="2"/>
          <c:order val="2"/>
          <c:tx>
            <c:v>Super-resolution</c:v>
          </c:tx>
          <c:spPr>
            <a:ln xmlns:a="http://schemas.openxmlformats.org/drawingml/2006/main" w="22860">
              <a:solidFill>
                <a:srgbClr val="8B5AA6"/>
              </a:solidFill>
              <a:prstDash val="solid"/>
            </a:ln>
          </c:spPr>
          <c:marker>
            <c:symbol val="triangle"/>
            <c:size val="6"/>
            <c:spPr>
              <a:solidFill xmlns:a="http://schemas.openxmlformats.org/drawingml/2006/main">
                <a:srgbClr val="8B5AA6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0.0000</c:formatCode>
                <c:ptCount val="5"/>
                <c:pt idx="0">
                  <c:v>0.002782</c:v>
                </c:pt>
                <c:pt idx="1">
                  <c:v>0.001318</c:v>
                </c:pt>
                <c:pt idx="2">
                  <c:v>0</c:v>
                </c:pt>
                <c:pt idx="3">
                  <c:v>0.001164</c:v>
                </c:pt>
                <c:pt idx="4">
                  <c:v>0.002535</c:v>
                </c:pt>
              </c:numLit>
            </c:plus>
            <c:minus>
              <c:numLit>
                <c:formatCode>0.0000</c:formatCode>
                <c:ptCount val="5"/>
                <c:pt idx="0">
                  <c:v>0.002782</c:v>
                </c:pt>
                <c:pt idx="1">
                  <c:v>0.001318</c:v>
                </c:pt>
                <c:pt idx="2">
                  <c:v>0</c:v>
                </c:pt>
                <c:pt idx="3">
                  <c:v>0.001164</c:v>
                </c:pt>
                <c:pt idx="4">
                  <c:v>0.002535</c:v>
                </c:pt>
              </c:numLit>
            </c:minus>
          </c:errBars>
          <c:cat>
            <c:numRef>
              <c:f>'Chart Data'!$E$2:$E$6</c:f>
              <c:numCache>
                <c:formatCode>General</c:formatCode>
                <c:ptCount val="5"/>
                <c:pt idx="0">
                  <c:v>0.50</c:v>
                </c:pt>
                <c:pt idx="1">
                  <c:v>0.75</c:v>
                </c:pt>
                <c:pt idx="2">
                  <c:v>1.00</c:v>
                </c:pt>
                <c:pt idx="3">
                  <c:v>1.25</c:v>
                </c:pt>
                <c:pt idx="4">
                  <c:v>1.50</c:v>
                </c:pt>
              </c:numCache>
            </c:numRef>
          </c:cat>
          <c:val>
            <c:numRef>
              <c:f>'Chart Data'!$F$2:$F$6</c:f>
              <c:numCache>
                <c:formatCode>0.00</c:formatCode>
                <c:ptCount val="5"/>
                <c:pt idx="0">
                  <c:v>0.024112</c:v>
                </c:pt>
                <c:pt idx="1">
                  <c:v>0.012877</c:v>
                </c:pt>
                <c:pt idx="2">
                  <c:v>0</c:v>
                </c:pt>
                <c:pt idx="3">
                  <c:v>-0.013042</c:v>
                </c:pt>
                <c:pt idx="4">
                  <c:v>-0.026287</c:v>
                </c:pt>
              </c:numCache>
            </c:numRef>
          </c:val>
          <c:smooth val="0"/>
        </c:ser>
        <c:ser>
          <c:idx val="3"/>
          <c:order val="3"/>
          <c:tx>
            <c:v>Random inpainting</c:v>
          </c:tx>
          <c:spPr>
            <a:ln xmlns:a="http://schemas.openxmlformats.org/drawingml/2006/main" w="22860">
              <a:solidFill>
                <a:srgbClr val="008477"/>
              </a:solidFill>
              <a:prstDash val="solid"/>
            </a:ln>
          </c:spPr>
          <c:marker>
            <c:symbol val="diamond"/>
            <c:size val="6"/>
            <c:spPr>
              <a:solidFill xmlns:a="http://schemas.openxmlformats.org/drawingml/2006/main">
                <a:srgbClr val="008477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0.0000</c:formatCode>
                <c:ptCount val="5"/>
                <c:pt idx="0">
                  <c:v>0.000154</c:v>
                </c:pt>
                <c:pt idx="1">
                  <c:v>7.4e-05</c:v>
                </c:pt>
                <c:pt idx="2">
                  <c:v>0</c:v>
                </c:pt>
                <c:pt idx="3">
                  <c:v>8.3e-05</c:v>
                </c:pt>
                <c:pt idx="4">
                  <c:v>0.000178</c:v>
                </c:pt>
              </c:numLit>
            </c:plus>
            <c:minus>
              <c:numLit>
                <c:formatCode>0.0000</c:formatCode>
                <c:ptCount val="5"/>
                <c:pt idx="0">
                  <c:v>0.000154</c:v>
                </c:pt>
                <c:pt idx="1">
                  <c:v>7.4e-05</c:v>
                </c:pt>
                <c:pt idx="2">
                  <c:v>0</c:v>
                </c:pt>
                <c:pt idx="3">
                  <c:v>8.3e-05</c:v>
                </c:pt>
                <c:pt idx="4">
                  <c:v>0.000178</c:v>
                </c:pt>
              </c:numLit>
            </c:minus>
          </c:errBars>
          <c:cat>
            <c:numRef>
              <c:f>'Chart Data'!$G$2:$G$6</c:f>
              <c:numCache>
                <c:formatCode>General</c:formatCode>
                <c:ptCount val="5"/>
                <c:pt idx="0">
                  <c:v>0.50</c:v>
                </c:pt>
                <c:pt idx="1">
                  <c:v>0.75</c:v>
                </c:pt>
                <c:pt idx="2">
                  <c:v>1.00</c:v>
                </c:pt>
                <c:pt idx="3">
                  <c:v>1.25</c:v>
                </c:pt>
                <c:pt idx="4">
                  <c:v>1.50</c:v>
                </c:pt>
              </c:numCache>
            </c:numRef>
          </c:cat>
          <c:val>
            <c:numRef>
              <c:f>'Chart Data'!$H$2:$H$6</c:f>
              <c:numCache>
                <c:formatCode>0.00</c:formatCode>
                <c:ptCount val="5"/>
                <c:pt idx="0">
                  <c:v>0.000336</c:v>
                </c:pt>
                <c:pt idx="1">
                  <c:v>0.000376</c:v>
                </c:pt>
                <c:pt idx="2">
                  <c:v>0</c:v>
                </c:pt>
                <c:pt idx="3">
                  <c:v>-0.000697</c:v>
                </c:pt>
                <c:pt idx="4">
                  <c:v>-0.001637</c:v>
                </c:pt>
              </c:numCache>
            </c:numRef>
          </c:val>
          <c:smooth val="0"/>
        </c:ser>
        <c:ser>
          <c:idx val="4"/>
          <c:order val="4"/>
          <c:tx>
            <c:v>Box inpainting</c:v>
          </c:tx>
          <c:spPr>
            <a:ln xmlns:a="http://schemas.openxmlformats.org/drawingml/2006/main" w="22860">
              <a:solidFill>
                <a:srgbClr val="AD4266"/>
              </a:solidFill>
              <a:prstDash val="solid"/>
            </a:ln>
          </c:spPr>
          <c:marker>
            <c:symbol val="star"/>
            <c:size val="6"/>
            <c:spPr>
              <a:solidFill xmlns:a="http://schemas.openxmlformats.org/drawingml/2006/main">
                <a:srgbClr val="AD4266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0.0000</c:formatCode>
                <c:ptCount val="5"/>
                <c:pt idx="0">
                  <c:v>0.006249</c:v>
                </c:pt>
                <c:pt idx="1">
                  <c:v>0.002055</c:v>
                </c:pt>
                <c:pt idx="2">
                  <c:v>0</c:v>
                </c:pt>
                <c:pt idx="3">
                  <c:v>0.000471</c:v>
                </c:pt>
                <c:pt idx="4">
                  <c:v>0.000793</c:v>
                </c:pt>
              </c:numLit>
            </c:plus>
            <c:minus>
              <c:numLit>
                <c:formatCode>0.0000</c:formatCode>
                <c:ptCount val="5"/>
                <c:pt idx="0">
                  <c:v>0.006249</c:v>
                </c:pt>
                <c:pt idx="1">
                  <c:v>0.002055</c:v>
                </c:pt>
                <c:pt idx="2">
                  <c:v>0</c:v>
                </c:pt>
                <c:pt idx="3">
                  <c:v>0.000471</c:v>
                </c:pt>
                <c:pt idx="4">
                  <c:v>0.000793</c:v>
                </c:pt>
              </c:numLit>
            </c:minus>
          </c:errBars>
          <c:cat>
            <c:numRef>
              <c:f>'Chart Data'!$I$2:$I$6</c:f>
              <c:numCache>
                <c:formatCode>General</c:formatCode>
                <c:ptCount val="5"/>
                <c:pt idx="0">
                  <c:v>0.50</c:v>
                </c:pt>
                <c:pt idx="1">
                  <c:v>0.75</c:v>
                </c:pt>
                <c:pt idx="2">
                  <c:v>1.00</c:v>
                </c:pt>
                <c:pt idx="3">
                  <c:v>1.25</c:v>
                </c:pt>
                <c:pt idx="4">
                  <c:v>1.50</c:v>
                </c:pt>
              </c:numCache>
            </c:numRef>
          </c:cat>
          <c:val>
            <c:numRef>
              <c:f>'Chart Data'!$J$2:$J$6</c:f>
              <c:numCache>
                <c:formatCode>0.00</c:formatCode>
                <c:ptCount val="5"/>
                <c:pt idx="0">
                  <c:v>-0.046199</c:v>
                </c:pt>
                <c:pt idx="1">
                  <c:v>-0.012595</c:v>
                </c:pt>
                <c:pt idx="2">
                  <c:v>0</c:v>
                </c:pt>
                <c:pt idx="3">
                  <c:v>-5E-06</c:v>
                </c:pt>
                <c:pt idx="4">
                  <c:v>-0.004195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Roboto Condensed"/>
                  <a:ea typeface="Roboto Condensed"/>
                  <a:cs typeface="Roboto Condense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222222"/>
                    </a:solidFill>
                    <a:latin typeface="Roboto Condensed"/>
                    <a:ea typeface="Roboto Condensed"/>
                    <a:cs typeface="Roboto Condensed"/>
                  </a:rPr>
                  <a:t>Assumed / true standard deviation, 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222222"/>
                  </a:solidFill>
                  <a:latin typeface="Roboto Condensed"/>
                  <a:ea typeface="Roboto Condensed"/>
                  <a:cs typeface="Roboto Condensed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</a:p>
        </c:txPr>
        <c:crossAx val="48672768"/>
      </c:catAx>
      <c:valAx>
        <c:axId val="48672768"/>
        <c:scaling>
          <c:orientation val="minMax"/>
          <c:max val="0.05"/>
          <c:min val="-0.15"/>
        </c:scaling>
        <c:delete val="0"/>
        <c:axPos val="l"/>
        <c:majorGridlines>
          <c:spPr>
            <a:ln xmlns:a="http://schemas.openxmlformats.org/drawingml/2006/main" w="6668">
              <a:solidFill>
                <a:srgbClr val="D5D8D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222222"/>
                    </a:solidFill>
                    <a:latin typeface="Roboto Condensed"/>
                    <a:ea typeface="Roboto Condensed"/>
                    <a:cs typeface="Roboto Condensed"/>
                  </a:rPr>
                  <a:t>Mean ΔSSIM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222222"/>
                  </a:solidFill>
                  <a:latin typeface="Roboto Condensed"/>
                  <a:ea typeface="Roboto Condensed"/>
                  <a:cs typeface="Roboto Condensed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</a:p>
        </c:txPr>
        <c:crossAx val="48650112"/>
        <c:crossesAt val="-0.15"/>
        <c:crossBetween val="between"/>
        <c:majorUnit val="0.0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CelebA LPIPS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 b="1">
              <a:solidFill>
                <a:srgbClr val="222222"/>
              </a:solidFill>
              <a:latin typeface="Roboto Condensed"/>
              <a:ea typeface="Roboto Condensed"/>
              <a:cs typeface="Roboto Condensed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Denoising</c:v>
          </c:tx>
          <c:spPr>
            <a:ln xmlns:a="http://schemas.openxmlformats.org/drawingml/2006/main" w="22860">
              <a:solidFill>
                <a:srgbClr val="3155A4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3155A4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0.0000</c:formatCode>
                <c:ptCount val="5"/>
                <c:pt idx="0">
                  <c:v>0.015064</c:v>
                </c:pt>
                <c:pt idx="1">
                  <c:v>0.004663</c:v>
                </c:pt>
                <c:pt idx="2">
                  <c:v>0</c:v>
                </c:pt>
                <c:pt idx="3">
                  <c:v>0.002768</c:v>
                </c:pt>
                <c:pt idx="4">
                  <c:v>0.005098</c:v>
                </c:pt>
              </c:numLit>
            </c:plus>
            <c:minus>
              <c:numLit>
                <c:formatCode>0.0000</c:formatCode>
                <c:ptCount val="5"/>
                <c:pt idx="0">
                  <c:v>0.015064</c:v>
                </c:pt>
                <c:pt idx="1">
                  <c:v>0.004663</c:v>
                </c:pt>
                <c:pt idx="2">
                  <c:v>0</c:v>
                </c:pt>
                <c:pt idx="3">
                  <c:v>0.002768</c:v>
                </c:pt>
                <c:pt idx="4">
                  <c:v>0.005098</c:v>
                </c:pt>
              </c:numLit>
            </c:minus>
          </c:errBars>
          <c:cat>
            <c:numRef>
              <c:f>'Chart Data'!$A$2:$A$6</c:f>
              <c:numCache>
                <c:formatCode>General</c:formatCode>
                <c:ptCount val="5"/>
                <c:pt idx="0">
                  <c:v>0.50</c:v>
                </c:pt>
                <c:pt idx="1">
                  <c:v>0.75</c:v>
                </c:pt>
                <c:pt idx="2">
                  <c:v>1.00</c:v>
                </c:pt>
                <c:pt idx="3">
                  <c:v>1.25</c:v>
                </c:pt>
                <c:pt idx="4">
                  <c:v>1.50</c:v>
                </c:pt>
              </c:numCache>
            </c:numRef>
          </c:cat>
          <c:val>
            <c:numRef>
              <c:f>'Chart Data'!$B$2:$B$6</c:f>
              <c:numCache>
                <c:formatCode>0.00</c:formatCode>
                <c:ptCount val="5"/>
                <c:pt idx="0">
                  <c:v>0.041092</c:v>
                </c:pt>
                <c:pt idx="1">
                  <c:v>-0.007103</c:v>
                </c:pt>
                <c:pt idx="2">
                  <c:v>0</c:v>
                </c:pt>
                <c:pt idx="3">
                  <c:v>0.014388</c:v>
                </c:pt>
                <c:pt idx="4">
                  <c:v>0.027121</c:v>
                </c:pt>
              </c:numCache>
            </c:numRef>
          </c:val>
          <c:smooth val="0"/>
        </c:ser>
        <c:ser>
          <c:idx val="1"/>
          <c:order val="1"/>
          <c:tx>
            <c:v>Gaussian deblurring</c:v>
          </c:tx>
          <c:spPr>
            <a:ln xmlns:a="http://schemas.openxmlformats.org/drawingml/2006/main" w="22860">
              <a:solidFill>
                <a:srgbClr val="C55A25"/>
              </a:solidFill>
              <a:prstDash val="solid"/>
            </a:ln>
          </c:spPr>
          <c:marker>
            <c:symbol val="square"/>
            <c:size val="6"/>
            <c:spPr>
              <a:solidFill xmlns:a="http://schemas.openxmlformats.org/drawingml/2006/main">
                <a:srgbClr val="C55A25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0.0000</c:formatCode>
                <c:ptCount val="5"/>
                <c:pt idx="0">
                  <c:v>0.012739</c:v>
                </c:pt>
                <c:pt idx="1">
                  <c:v>0.003005</c:v>
                </c:pt>
                <c:pt idx="2">
                  <c:v>0</c:v>
                </c:pt>
                <c:pt idx="3">
                  <c:v>0.001434</c:v>
                </c:pt>
                <c:pt idx="4">
                  <c:v>0.002628</c:v>
                </c:pt>
              </c:numLit>
            </c:plus>
            <c:minus>
              <c:numLit>
                <c:formatCode>0.0000</c:formatCode>
                <c:ptCount val="5"/>
                <c:pt idx="0">
                  <c:v>0.012739</c:v>
                </c:pt>
                <c:pt idx="1">
                  <c:v>0.003005</c:v>
                </c:pt>
                <c:pt idx="2">
                  <c:v>0</c:v>
                </c:pt>
                <c:pt idx="3">
                  <c:v>0.001434</c:v>
                </c:pt>
                <c:pt idx="4">
                  <c:v>0.002628</c:v>
                </c:pt>
              </c:numLit>
            </c:minus>
          </c:errBars>
          <c:cat>
            <c:numRef>
              <c:f>'Chart Data'!$C$2:$C$6</c:f>
              <c:numCache>
                <c:formatCode>General</c:formatCode>
                <c:ptCount val="5"/>
                <c:pt idx="0">
                  <c:v>0.50</c:v>
                </c:pt>
                <c:pt idx="1">
                  <c:v>0.75</c:v>
                </c:pt>
                <c:pt idx="2">
                  <c:v>1.00</c:v>
                </c:pt>
                <c:pt idx="3">
                  <c:v>1.25</c:v>
                </c:pt>
                <c:pt idx="4">
                  <c:v>1.50</c:v>
                </c:pt>
              </c:numCache>
            </c:numRef>
          </c:cat>
          <c:val>
            <c:numRef>
              <c:f>'Chart Data'!$D$2:$D$6</c:f>
              <c:numCache>
                <c:formatCode>0.00</c:formatCode>
                <c:ptCount val="5"/>
                <c:pt idx="0">
                  <c:v>0.022008</c:v>
                </c:pt>
                <c:pt idx="1">
                  <c:v>-0.004832</c:v>
                </c:pt>
                <c:pt idx="2">
                  <c:v>0</c:v>
                </c:pt>
                <c:pt idx="3">
                  <c:v>0.007532</c:v>
                </c:pt>
                <c:pt idx="4">
                  <c:v>0.013762</c:v>
                </c:pt>
              </c:numCache>
            </c:numRef>
          </c:val>
          <c:smooth val="0"/>
        </c:ser>
        <c:ser>
          <c:idx val="2"/>
          <c:order val="2"/>
          <c:tx>
            <c:v>Super-resolution</c:v>
          </c:tx>
          <c:spPr>
            <a:ln xmlns:a="http://schemas.openxmlformats.org/drawingml/2006/main" w="22860">
              <a:solidFill>
                <a:srgbClr val="8B5AA6"/>
              </a:solidFill>
              <a:prstDash val="solid"/>
            </a:ln>
          </c:spPr>
          <c:marker>
            <c:symbol val="triangle"/>
            <c:size val="6"/>
            <c:spPr>
              <a:solidFill xmlns:a="http://schemas.openxmlformats.org/drawingml/2006/main">
                <a:srgbClr val="8B5AA6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0.0000</c:formatCode>
                <c:ptCount val="5"/>
                <c:pt idx="0">
                  <c:v>0.002462</c:v>
                </c:pt>
                <c:pt idx="1">
                  <c:v>0.001191</c:v>
                </c:pt>
                <c:pt idx="2">
                  <c:v>0</c:v>
                </c:pt>
                <c:pt idx="3">
                  <c:v>0.001161</c:v>
                </c:pt>
                <c:pt idx="4">
                  <c:v>0.002224</c:v>
                </c:pt>
              </c:numLit>
            </c:plus>
            <c:minus>
              <c:numLit>
                <c:formatCode>0.0000</c:formatCode>
                <c:ptCount val="5"/>
                <c:pt idx="0">
                  <c:v>0.002462</c:v>
                </c:pt>
                <c:pt idx="1">
                  <c:v>0.001191</c:v>
                </c:pt>
                <c:pt idx="2">
                  <c:v>0</c:v>
                </c:pt>
                <c:pt idx="3">
                  <c:v>0.001161</c:v>
                </c:pt>
                <c:pt idx="4">
                  <c:v>0.002224</c:v>
                </c:pt>
              </c:numLit>
            </c:minus>
          </c:errBars>
          <c:cat>
            <c:numRef>
              <c:f>'Chart Data'!$E$2:$E$6</c:f>
              <c:numCache>
                <c:formatCode>General</c:formatCode>
                <c:ptCount val="5"/>
                <c:pt idx="0">
                  <c:v>0.50</c:v>
                </c:pt>
                <c:pt idx="1">
                  <c:v>0.75</c:v>
                </c:pt>
                <c:pt idx="2">
                  <c:v>1.00</c:v>
                </c:pt>
                <c:pt idx="3">
                  <c:v>1.25</c:v>
                </c:pt>
                <c:pt idx="4">
                  <c:v>1.50</c:v>
                </c:pt>
              </c:numCache>
            </c:numRef>
          </c:cat>
          <c:val>
            <c:numRef>
              <c:f>'Chart Data'!$F$2:$F$6</c:f>
              <c:numCache>
                <c:formatCode>0.00</c:formatCode>
                <c:ptCount val="5"/>
                <c:pt idx="0">
                  <c:v>-0.011542</c:v>
                </c:pt>
                <c:pt idx="1">
                  <c:v>-0.006268</c:v>
                </c:pt>
                <c:pt idx="2">
                  <c:v>0</c:v>
                </c:pt>
                <c:pt idx="3">
                  <c:v>0.006447</c:v>
                </c:pt>
                <c:pt idx="4">
                  <c:v>0.012837</c:v>
                </c:pt>
              </c:numCache>
            </c:numRef>
          </c:val>
          <c:smooth val="0"/>
        </c:ser>
        <c:ser>
          <c:idx val="3"/>
          <c:order val="3"/>
          <c:tx>
            <c:v>Random inpainting</c:v>
          </c:tx>
          <c:spPr>
            <a:ln xmlns:a="http://schemas.openxmlformats.org/drawingml/2006/main" w="22860">
              <a:solidFill>
                <a:srgbClr val="008477"/>
              </a:solidFill>
              <a:prstDash val="solid"/>
            </a:ln>
          </c:spPr>
          <c:marker>
            <c:symbol val="diamond"/>
            <c:size val="6"/>
            <c:spPr>
              <a:solidFill xmlns:a="http://schemas.openxmlformats.org/drawingml/2006/main">
                <a:srgbClr val="008477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0.0000</c:formatCode>
                <c:ptCount val="5"/>
                <c:pt idx="0">
                  <c:v>0.000357</c:v>
                </c:pt>
                <c:pt idx="1">
                  <c:v>0.000198</c:v>
                </c:pt>
                <c:pt idx="2">
                  <c:v>0</c:v>
                </c:pt>
                <c:pt idx="3">
                  <c:v>0.000225</c:v>
                </c:pt>
                <c:pt idx="4">
                  <c:v>0.000456</c:v>
                </c:pt>
              </c:numLit>
            </c:plus>
            <c:minus>
              <c:numLit>
                <c:formatCode>0.0000</c:formatCode>
                <c:ptCount val="5"/>
                <c:pt idx="0">
                  <c:v>0.000357</c:v>
                </c:pt>
                <c:pt idx="1">
                  <c:v>0.000198</c:v>
                </c:pt>
                <c:pt idx="2">
                  <c:v>0</c:v>
                </c:pt>
                <c:pt idx="3">
                  <c:v>0.000225</c:v>
                </c:pt>
                <c:pt idx="4">
                  <c:v>0.000456</c:v>
                </c:pt>
              </c:numLit>
            </c:minus>
          </c:errBars>
          <c:cat>
            <c:numRef>
              <c:f>'Chart Data'!$G$2:$G$6</c:f>
              <c:numCache>
                <c:formatCode>General</c:formatCode>
                <c:ptCount val="5"/>
                <c:pt idx="0">
                  <c:v>0.50</c:v>
                </c:pt>
                <c:pt idx="1">
                  <c:v>0.75</c:v>
                </c:pt>
                <c:pt idx="2">
                  <c:v>1.00</c:v>
                </c:pt>
                <c:pt idx="3">
                  <c:v>1.25</c:v>
                </c:pt>
                <c:pt idx="4">
                  <c:v>1.50</c:v>
                </c:pt>
              </c:numCache>
            </c:numRef>
          </c:cat>
          <c:val>
            <c:numRef>
              <c:f>'Chart Data'!$H$2:$H$6</c:f>
              <c:numCache>
                <c:formatCode>0.00</c:formatCode>
                <c:ptCount val="5"/>
                <c:pt idx="0">
                  <c:v>-0.000972</c:v>
                </c:pt>
                <c:pt idx="1">
                  <c:v>-0.000552</c:v>
                </c:pt>
                <c:pt idx="2">
                  <c:v>0</c:v>
                </c:pt>
                <c:pt idx="3">
                  <c:v>0.000657</c:v>
                </c:pt>
                <c:pt idx="4">
                  <c:v>0.001397</c:v>
                </c:pt>
              </c:numCache>
            </c:numRef>
          </c:val>
          <c:smooth val="0"/>
        </c:ser>
        <c:ser>
          <c:idx val="4"/>
          <c:order val="4"/>
          <c:tx>
            <c:v>Box inpainting</c:v>
          </c:tx>
          <c:spPr>
            <a:ln xmlns:a="http://schemas.openxmlformats.org/drawingml/2006/main" w="22860">
              <a:solidFill>
                <a:srgbClr val="AD4266"/>
              </a:solidFill>
              <a:prstDash val="solid"/>
            </a:ln>
          </c:spPr>
          <c:marker>
            <c:symbol val="star"/>
            <c:size val="6"/>
            <c:spPr>
              <a:solidFill xmlns:a="http://schemas.openxmlformats.org/drawingml/2006/main">
                <a:srgbClr val="AD4266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0.0000</c:formatCode>
                <c:ptCount val="5"/>
                <c:pt idx="0">
                  <c:v>0.004816</c:v>
                </c:pt>
                <c:pt idx="1">
                  <c:v>0.002104</c:v>
                </c:pt>
                <c:pt idx="2">
                  <c:v>0</c:v>
                </c:pt>
                <c:pt idx="3">
                  <c:v>0.000692</c:v>
                </c:pt>
                <c:pt idx="4">
                  <c:v>0.001833</c:v>
                </c:pt>
              </c:numLit>
            </c:plus>
            <c:minus>
              <c:numLit>
                <c:formatCode>0.0000</c:formatCode>
                <c:ptCount val="5"/>
                <c:pt idx="0">
                  <c:v>0.004816</c:v>
                </c:pt>
                <c:pt idx="1">
                  <c:v>0.002104</c:v>
                </c:pt>
                <c:pt idx="2">
                  <c:v>0</c:v>
                </c:pt>
                <c:pt idx="3">
                  <c:v>0.000692</c:v>
                </c:pt>
                <c:pt idx="4">
                  <c:v>0.001833</c:v>
                </c:pt>
              </c:numLit>
            </c:minus>
          </c:errBars>
          <c:cat>
            <c:numRef>
              <c:f>'Chart Data'!$I$2:$I$6</c:f>
              <c:numCache>
                <c:formatCode>General</c:formatCode>
                <c:ptCount val="5"/>
                <c:pt idx="0">
                  <c:v>0.50</c:v>
                </c:pt>
                <c:pt idx="1">
                  <c:v>0.75</c:v>
                </c:pt>
                <c:pt idx="2">
                  <c:v>1.00</c:v>
                </c:pt>
                <c:pt idx="3">
                  <c:v>1.25</c:v>
                </c:pt>
                <c:pt idx="4">
                  <c:v>1.50</c:v>
                </c:pt>
              </c:numCache>
            </c:numRef>
          </c:cat>
          <c:val>
            <c:numRef>
              <c:f>'Chart Data'!$J$2:$J$6</c:f>
              <c:numCache>
                <c:formatCode>0.00</c:formatCode>
                <c:ptCount val="5"/>
                <c:pt idx="0">
                  <c:v>0.012512</c:v>
                </c:pt>
                <c:pt idx="1">
                  <c:v>0.003492</c:v>
                </c:pt>
                <c:pt idx="2">
                  <c:v>0</c:v>
                </c:pt>
                <c:pt idx="3">
                  <c:v>0.002056</c:v>
                </c:pt>
                <c:pt idx="4">
                  <c:v>0.00525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Roboto Condensed"/>
                  <a:ea typeface="Roboto Condensed"/>
                  <a:cs typeface="Roboto Condense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222222"/>
                    </a:solidFill>
                    <a:latin typeface="Roboto Condensed"/>
                    <a:ea typeface="Roboto Condensed"/>
                    <a:cs typeface="Roboto Condensed"/>
                  </a:rPr>
                  <a:t>Assumed / true standard deviation, 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222222"/>
                  </a:solidFill>
                  <a:latin typeface="Roboto Condensed"/>
                  <a:ea typeface="Roboto Condensed"/>
                  <a:cs typeface="Roboto Condensed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</a:p>
        </c:txPr>
        <c:crossAx val="48672768"/>
      </c:catAx>
      <c:valAx>
        <c:axId val="48672768"/>
        <c:scaling>
          <c:orientation val="minMax"/>
          <c:max val="0.1"/>
          <c:min val="-0.1"/>
        </c:scaling>
        <c:delete val="0"/>
        <c:axPos val="l"/>
        <c:majorGridlines>
          <c:spPr>
            <a:ln xmlns:a="http://schemas.openxmlformats.org/drawingml/2006/main" w="6668">
              <a:solidFill>
                <a:srgbClr val="D5D8D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222222"/>
                    </a:solidFill>
                    <a:latin typeface="Roboto Condensed"/>
                    <a:ea typeface="Roboto Condensed"/>
                    <a:cs typeface="Roboto Condensed"/>
                  </a:rPr>
                  <a:t>Mean ΔLPIPS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222222"/>
                  </a:solidFill>
                  <a:latin typeface="Roboto Condensed"/>
                  <a:ea typeface="Roboto Condensed"/>
                  <a:cs typeface="Roboto Condensed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</a:p>
        </c:txPr>
        <c:crossAx val="48650112"/>
        <c:crossesAt val="-0.1"/>
        <c:crossBetween val="between"/>
        <c:majorUnit val="0.0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AFHQ-Cat LPIPS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 b="1">
              <a:solidFill>
                <a:srgbClr val="222222"/>
              </a:solidFill>
              <a:latin typeface="Roboto Condensed"/>
              <a:ea typeface="Roboto Condensed"/>
              <a:cs typeface="Roboto Condensed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Denoising</c:v>
          </c:tx>
          <c:spPr>
            <a:ln xmlns:a="http://schemas.openxmlformats.org/drawingml/2006/main" w="22860">
              <a:solidFill>
                <a:srgbClr val="3155A4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3155A4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0.0000</c:formatCode>
                <c:ptCount val="5"/>
                <c:pt idx="0">
                  <c:v>0.011228</c:v>
                </c:pt>
                <c:pt idx="1">
                  <c:v>0.004205</c:v>
                </c:pt>
                <c:pt idx="2">
                  <c:v>0</c:v>
                </c:pt>
                <c:pt idx="3">
                  <c:v>0.006319</c:v>
                </c:pt>
                <c:pt idx="4">
                  <c:v>0.011501</c:v>
                </c:pt>
              </c:numLit>
            </c:plus>
            <c:minus>
              <c:numLit>
                <c:formatCode>0.0000</c:formatCode>
                <c:ptCount val="5"/>
                <c:pt idx="0">
                  <c:v>0.011228</c:v>
                </c:pt>
                <c:pt idx="1">
                  <c:v>0.004205</c:v>
                </c:pt>
                <c:pt idx="2">
                  <c:v>0</c:v>
                </c:pt>
                <c:pt idx="3">
                  <c:v>0.006319</c:v>
                </c:pt>
                <c:pt idx="4">
                  <c:v>0.011501</c:v>
                </c:pt>
              </c:numLit>
            </c:minus>
          </c:errBars>
          <c:cat>
            <c:numRef>
              <c:f>'Chart Data'!$A$2:$A$6</c:f>
              <c:numCache>
                <c:formatCode>General</c:formatCode>
                <c:ptCount val="5"/>
                <c:pt idx="0">
                  <c:v>0.50</c:v>
                </c:pt>
                <c:pt idx="1">
                  <c:v>0.75</c:v>
                </c:pt>
                <c:pt idx="2">
                  <c:v>1.00</c:v>
                </c:pt>
                <c:pt idx="3">
                  <c:v>1.25</c:v>
                </c:pt>
                <c:pt idx="4">
                  <c:v>1.50</c:v>
                </c:pt>
              </c:numCache>
            </c:numRef>
          </c:cat>
          <c:val>
            <c:numRef>
              <c:f>'Chart Data'!$B$2:$B$6</c:f>
              <c:numCache>
                <c:formatCode>0.00</c:formatCode>
                <c:ptCount val="5"/>
                <c:pt idx="0">
                  <c:v>-0.040631</c:v>
                </c:pt>
                <c:pt idx="1">
                  <c:v>-0.049634</c:v>
                </c:pt>
                <c:pt idx="2">
                  <c:v>0</c:v>
                </c:pt>
                <c:pt idx="3">
                  <c:v>0.047541</c:v>
                </c:pt>
                <c:pt idx="4">
                  <c:v>0.085991</c:v>
                </c:pt>
              </c:numCache>
            </c:numRef>
          </c:val>
          <c:smooth val="0"/>
        </c:ser>
        <c:ser>
          <c:idx val="1"/>
          <c:order val="1"/>
          <c:tx>
            <c:v>Gaussian deblurring</c:v>
          </c:tx>
          <c:spPr>
            <a:ln xmlns:a="http://schemas.openxmlformats.org/drawingml/2006/main" w="22860">
              <a:solidFill>
                <a:srgbClr val="C55A25"/>
              </a:solidFill>
              <a:prstDash val="solid"/>
            </a:ln>
          </c:spPr>
          <c:marker>
            <c:symbol val="square"/>
            <c:size val="6"/>
            <c:spPr>
              <a:solidFill xmlns:a="http://schemas.openxmlformats.org/drawingml/2006/main">
                <a:srgbClr val="C55A25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0.0000</c:formatCode>
                <c:ptCount val="5"/>
                <c:pt idx="0">
                  <c:v>0.004059</c:v>
                </c:pt>
                <c:pt idx="1">
                  <c:v>0.002493</c:v>
                </c:pt>
                <c:pt idx="2">
                  <c:v>0</c:v>
                </c:pt>
                <c:pt idx="3">
                  <c:v>0.002264</c:v>
                </c:pt>
                <c:pt idx="4">
                  <c:v>0.003462</c:v>
                </c:pt>
              </c:numLit>
            </c:plus>
            <c:minus>
              <c:numLit>
                <c:formatCode>0.0000</c:formatCode>
                <c:ptCount val="5"/>
                <c:pt idx="0">
                  <c:v>0.004059</c:v>
                </c:pt>
                <c:pt idx="1">
                  <c:v>0.002493</c:v>
                </c:pt>
                <c:pt idx="2">
                  <c:v>0</c:v>
                </c:pt>
                <c:pt idx="3">
                  <c:v>0.002264</c:v>
                </c:pt>
                <c:pt idx="4">
                  <c:v>0.003462</c:v>
                </c:pt>
              </c:numLit>
            </c:minus>
          </c:errBars>
          <c:cat>
            <c:numRef>
              <c:f>'Chart Data'!$C$2:$C$6</c:f>
              <c:numCache>
                <c:formatCode>General</c:formatCode>
                <c:ptCount val="5"/>
                <c:pt idx="0">
                  <c:v>0.50</c:v>
                </c:pt>
                <c:pt idx="1">
                  <c:v>0.75</c:v>
                </c:pt>
                <c:pt idx="2">
                  <c:v>1.00</c:v>
                </c:pt>
                <c:pt idx="3">
                  <c:v>1.25</c:v>
                </c:pt>
                <c:pt idx="4">
                  <c:v>1.50</c:v>
                </c:pt>
              </c:numCache>
            </c:numRef>
          </c:cat>
          <c:val>
            <c:numRef>
              <c:f>'Chart Data'!$D$2:$D$6</c:f>
              <c:numCache>
                <c:formatCode>0.00</c:formatCode>
                <c:ptCount val="5"/>
                <c:pt idx="0">
                  <c:v>-0.036904</c:v>
                </c:pt>
                <c:pt idx="1">
                  <c:v>-0.016466</c:v>
                </c:pt>
                <c:pt idx="2">
                  <c:v>0</c:v>
                </c:pt>
                <c:pt idx="3">
                  <c:v>0.013419</c:v>
                </c:pt>
                <c:pt idx="4">
                  <c:v>0.023985</c:v>
                </c:pt>
              </c:numCache>
            </c:numRef>
          </c:val>
          <c:smooth val="0"/>
        </c:ser>
        <c:ser>
          <c:idx val="2"/>
          <c:order val="2"/>
          <c:tx>
            <c:v>Super-resolution</c:v>
          </c:tx>
          <c:spPr>
            <a:ln xmlns:a="http://schemas.openxmlformats.org/drawingml/2006/main" w="22860">
              <a:solidFill>
                <a:srgbClr val="8B5AA6"/>
              </a:solidFill>
              <a:prstDash val="solid"/>
            </a:ln>
          </c:spPr>
          <c:marker>
            <c:symbol val="triangle"/>
            <c:size val="6"/>
            <c:spPr>
              <a:solidFill xmlns:a="http://schemas.openxmlformats.org/drawingml/2006/main">
                <a:srgbClr val="8B5AA6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0.0000</c:formatCode>
                <c:ptCount val="5"/>
                <c:pt idx="0">
                  <c:v>0.009566</c:v>
                </c:pt>
                <c:pt idx="1">
                  <c:v>0.004326</c:v>
                </c:pt>
                <c:pt idx="2">
                  <c:v>0</c:v>
                </c:pt>
                <c:pt idx="3">
                  <c:v>0.00336</c:v>
                </c:pt>
                <c:pt idx="4">
                  <c:v>0.006341</c:v>
                </c:pt>
              </c:numLit>
            </c:plus>
            <c:minus>
              <c:numLit>
                <c:formatCode>0.0000</c:formatCode>
                <c:ptCount val="5"/>
                <c:pt idx="0">
                  <c:v>0.009566</c:v>
                </c:pt>
                <c:pt idx="1">
                  <c:v>0.004326</c:v>
                </c:pt>
                <c:pt idx="2">
                  <c:v>0</c:v>
                </c:pt>
                <c:pt idx="3">
                  <c:v>0.00336</c:v>
                </c:pt>
                <c:pt idx="4">
                  <c:v>0.006341</c:v>
                </c:pt>
              </c:numLit>
            </c:minus>
          </c:errBars>
          <c:cat>
            <c:numRef>
              <c:f>'Chart Data'!$E$2:$E$6</c:f>
              <c:numCache>
                <c:formatCode>General</c:formatCode>
                <c:ptCount val="5"/>
                <c:pt idx="0">
                  <c:v>0.50</c:v>
                </c:pt>
                <c:pt idx="1">
                  <c:v>0.75</c:v>
                </c:pt>
                <c:pt idx="2">
                  <c:v>1.00</c:v>
                </c:pt>
                <c:pt idx="3">
                  <c:v>1.25</c:v>
                </c:pt>
                <c:pt idx="4">
                  <c:v>1.50</c:v>
                </c:pt>
              </c:numCache>
            </c:numRef>
          </c:cat>
          <c:val>
            <c:numRef>
              <c:f>'Chart Data'!$F$2:$F$6</c:f>
              <c:numCache>
                <c:formatCode>0.00</c:formatCode>
                <c:ptCount val="5"/>
                <c:pt idx="0">
                  <c:v>-0.061755</c:v>
                </c:pt>
                <c:pt idx="1">
                  <c:v>-0.028262</c:v>
                </c:pt>
                <c:pt idx="2">
                  <c:v>0</c:v>
                </c:pt>
                <c:pt idx="3">
                  <c:v>0.022763</c:v>
                </c:pt>
                <c:pt idx="4">
                  <c:v>0.043629</c:v>
                </c:pt>
              </c:numCache>
            </c:numRef>
          </c:val>
          <c:smooth val="0"/>
        </c:ser>
        <c:ser>
          <c:idx val="3"/>
          <c:order val="3"/>
          <c:tx>
            <c:v>Random inpainting</c:v>
          </c:tx>
          <c:spPr>
            <a:ln xmlns:a="http://schemas.openxmlformats.org/drawingml/2006/main" w="22860">
              <a:solidFill>
                <a:srgbClr val="008477"/>
              </a:solidFill>
              <a:prstDash val="solid"/>
            </a:ln>
          </c:spPr>
          <c:marker>
            <c:symbol val="diamond"/>
            <c:size val="6"/>
            <c:spPr>
              <a:solidFill xmlns:a="http://schemas.openxmlformats.org/drawingml/2006/main">
                <a:srgbClr val="008477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0.0000</c:formatCode>
                <c:ptCount val="5"/>
                <c:pt idx="0">
                  <c:v>0.000732</c:v>
                </c:pt>
                <c:pt idx="1">
                  <c:v>0.000406</c:v>
                </c:pt>
                <c:pt idx="2">
                  <c:v>0</c:v>
                </c:pt>
                <c:pt idx="3">
                  <c:v>0.00047</c:v>
                </c:pt>
                <c:pt idx="4">
                  <c:v>0.00098</c:v>
                </c:pt>
              </c:numLit>
            </c:plus>
            <c:minus>
              <c:numLit>
                <c:formatCode>0.0000</c:formatCode>
                <c:ptCount val="5"/>
                <c:pt idx="0">
                  <c:v>0.000732</c:v>
                </c:pt>
                <c:pt idx="1">
                  <c:v>0.000406</c:v>
                </c:pt>
                <c:pt idx="2">
                  <c:v>0</c:v>
                </c:pt>
                <c:pt idx="3">
                  <c:v>0.00047</c:v>
                </c:pt>
                <c:pt idx="4">
                  <c:v>0.00098</c:v>
                </c:pt>
              </c:numLit>
            </c:minus>
          </c:errBars>
          <c:cat>
            <c:numRef>
              <c:f>'Chart Data'!$G$2:$G$6</c:f>
              <c:numCache>
                <c:formatCode>General</c:formatCode>
                <c:ptCount val="5"/>
                <c:pt idx="0">
                  <c:v>0.50</c:v>
                </c:pt>
                <c:pt idx="1">
                  <c:v>0.75</c:v>
                </c:pt>
                <c:pt idx="2">
                  <c:v>1.00</c:v>
                </c:pt>
                <c:pt idx="3">
                  <c:v>1.25</c:v>
                </c:pt>
                <c:pt idx="4">
                  <c:v>1.50</c:v>
                </c:pt>
              </c:numCache>
            </c:numRef>
          </c:cat>
          <c:val>
            <c:numRef>
              <c:f>'Chart Data'!$H$2:$H$6</c:f>
              <c:numCache>
                <c:formatCode>0.00</c:formatCode>
                <c:ptCount val="5"/>
                <c:pt idx="0">
                  <c:v>-0.00412</c:v>
                </c:pt>
                <c:pt idx="1">
                  <c:v>-0.002294</c:v>
                </c:pt>
                <c:pt idx="2">
                  <c:v>0</c:v>
                </c:pt>
                <c:pt idx="3">
                  <c:v>0.002681</c:v>
                </c:pt>
                <c:pt idx="4">
                  <c:v>0.005667</c:v>
                </c:pt>
              </c:numCache>
            </c:numRef>
          </c:val>
          <c:smooth val="0"/>
        </c:ser>
        <c:ser>
          <c:idx val="4"/>
          <c:order val="4"/>
          <c:tx>
            <c:v>Box inpainting</c:v>
          </c:tx>
          <c:spPr>
            <a:ln xmlns:a="http://schemas.openxmlformats.org/drawingml/2006/main" w="22860">
              <a:solidFill>
                <a:srgbClr val="AD4266"/>
              </a:solidFill>
              <a:prstDash val="solid"/>
            </a:ln>
          </c:spPr>
          <c:marker>
            <c:symbol val="star"/>
            <c:size val="6"/>
            <c:spPr>
              <a:solidFill xmlns:a="http://schemas.openxmlformats.org/drawingml/2006/main">
                <a:srgbClr val="AD4266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0.0000</c:formatCode>
                <c:ptCount val="5"/>
                <c:pt idx="0">
                  <c:v>0.006973</c:v>
                </c:pt>
                <c:pt idx="1">
                  <c:v>0.003064</c:v>
                </c:pt>
                <c:pt idx="2">
                  <c:v>0</c:v>
                </c:pt>
                <c:pt idx="3">
                  <c:v>0.002239</c:v>
                </c:pt>
                <c:pt idx="4">
                  <c:v>0.003807</c:v>
                </c:pt>
              </c:numLit>
            </c:plus>
            <c:minus>
              <c:numLit>
                <c:formatCode>0.0000</c:formatCode>
                <c:ptCount val="5"/>
                <c:pt idx="0">
                  <c:v>0.006973</c:v>
                </c:pt>
                <c:pt idx="1">
                  <c:v>0.003064</c:v>
                </c:pt>
                <c:pt idx="2">
                  <c:v>0</c:v>
                </c:pt>
                <c:pt idx="3">
                  <c:v>0.002239</c:v>
                </c:pt>
                <c:pt idx="4">
                  <c:v>0.003807</c:v>
                </c:pt>
              </c:numLit>
            </c:minus>
          </c:errBars>
          <c:cat>
            <c:numRef>
              <c:f>'Chart Data'!$I$2:$I$6</c:f>
              <c:numCache>
                <c:formatCode>General</c:formatCode>
                <c:ptCount val="5"/>
                <c:pt idx="0">
                  <c:v>0.50</c:v>
                </c:pt>
                <c:pt idx="1">
                  <c:v>0.75</c:v>
                </c:pt>
                <c:pt idx="2">
                  <c:v>1.00</c:v>
                </c:pt>
                <c:pt idx="3">
                  <c:v>1.25</c:v>
                </c:pt>
                <c:pt idx="4">
                  <c:v>1.50</c:v>
                </c:pt>
              </c:numCache>
            </c:numRef>
          </c:cat>
          <c:val>
            <c:numRef>
              <c:f>'Chart Data'!$J$2:$J$6</c:f>
              <c:numCache>
                <c:formatCode>0.00</c:formatCode>
                <c:ptCount val="5"/>
                <c:pt idx="0">
                  <c:v>0.022428</c:v>
                </c:pt>
                <c:pt idx="1">
                  <c:v>0.005106</c:v>
                </c:pt>
                <c:pt idx="2">
                  <c:v>0</c:v>
                </c:pt>
                <c:pt idx="3">
                  <c:v>0.00682</c:v>
                </c:pt>
                <c:pt idx="4">
                  <c:v>0.016104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Roboto Condensed"/>
                  <a:ea typeface="Roboto Condensed"/>
                  <a:cs typeface="Roboto Condense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222222"/>
                    </a:solidFill>
                    <a:latin typeface="Roboto Condensed"/>
                    <a:ea typeface="Roboto Condensed"/>
                    <a:cs typeface="Roboto Condensed"/>
                  </a:rPr>
                  <a:t>Assumed / true standard deviation, 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222222"/>
                  </a:solidFill>
                  <a:latin typeface="Roboto Condensed"/>
                  <a:ea typeface="Roboto Condensed"/>
                  <a:cs typeface="Roboto Condensed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</a:p>
        </c:txPr>
        <c:crossAx val="48672768"/>
      </c:catAx>
      <c:valAx>
        <c:axId val="48672768"/>
        <c:scaling>
          <c:orientation val="minMax"/>
          <c:max val="0.1"/>
          <c:min val="-0.1"/>
        </c:scaling>
        <c:delete val="0"/>
        <c:axPos val="l"/>
        <c:majorGridlines>
          <c:spPr>
            <a:ln xmlns:a="http://schemas.openxmlformats.org/drawingml/2006/main" w="6668">
              <a:solidFill>
                <a:srgbClr val="D5D8D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222222"/>
                    </a:solidFill>
                    <a:latin typeface="Roboto Condensed"/>
                    <a:ea typeface="Roboto Condensed"/>
                    <a:cs typeface="Roboto Condensed"/>
                  </a:rPr>
                  <a:t>Mean ΔLPIPS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222222"/>
                  </a:solidFill>
                  <a:latin typeface="Roboto Condensed"/>
                  <a:ea typeface="Roboto Condensed"/>
                  <a:cs typeface="Roboto Condensed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</a:p>
        </c:txPr>
        <c:crossAx val="48650112"/>
        <c:crossesAt val="-0.1"/>
        <c:crossBetween val="between"/>
        <c:majorUnit val="0.0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665F23-371F-4E07-9C7C-E4AA751D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84772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08D7DC-70C2-445A-98C3-DAB388B7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28775"/>
            <a:ext cx="7905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450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3450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rPr>
              <a:t>Robust FLOWER Under</a:t>
            </a:r>
          </a:p>
          <a:p xmlns:a="http://schemas.openxmlformats.org/drawingml/2006/main">
            <a:pPr algn="ctr">
              <a:defRPr sz="3450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3450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rPr>
              <a:t>Noise Model Mismatch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56244C-7087-47A5-AA58-530854E2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24175"/>
            <a:ext cx="7848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100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rPr>
              <a:t>A controlled study of reconstruction quality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CB1576-FBAB-4135-82F1-50050733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57675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1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Itay Shorian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D4B53B-B376-48DA-9A63-398045E1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57775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8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Generative Learning and Diffusion Models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C6727D-BF9F-436A-A6F2-6DE61EAF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38800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72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October 2026</a:t>
            </a:r>
          </a:p>
        </p:txBody>
      </p:sp>
    </p:spTree>
    <p:extLst>
      <p:ext uri="{BB962C8B-B14F-4D97-AF65-F5344CB8AC3E}">
        <p14:creationId xmlns:p14="http://schemas.microsoft.com/office/powerpoint/2010/main" val="15543567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C55AFE-F1CE-4B0B-BC77-CF1B52E1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C128BE-4A71-4093-A71B-85973114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95250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9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rPr>
              <a:t>FLOWER: From a Measurement to a Clean Image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61DC8E-8323-4420-9505-F5FA69BF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00150"/>
            <a:ext cx="41910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283ADD-49F2-40F7-89BC-5D5C07F9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00150"/>
            <a:ext cx="419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BC1AFC-15BE-49A3-9434-54E884B3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228725"/>
            <a:ext cx="39433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0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rPr>
              <a:t>Inverse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487011-4686-4E55-95F4-D96364A7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685925"/>
            <a:ext cx="3905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02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We observe a degraded, noisy image and seek the underlying clean image.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c980822c3f42f0"/>
          <a:stretch xmlns:a="http://schemas.openxmlformats.org/drawingml/2006/main"/>
        </p:blipFill>
        <p:spPr>
          <a:xfrm xmlns:a="http://schemas.openxmlformats.org/drawingml/2006/main">
            <a:off x="638175" y="3527692"/>
            <a:ext cx="3810000" cy="412216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8DC970-2F6E-44CF-A2AC-AD8A8C6F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200150"/>
            <a:ext cx="41529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199103-8616-4E40-8379-65D1762D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200150"/>
            <a:ext cx="4152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DCAC22-3453-4A93-B57D-3833BD84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228725"/>
            <a:ext cx="3905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0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rPr>
              <a:t>The Image Prior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1EFDCE-D604-4111-958B-75A96F53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85925"/>
            <a:ext cx="38671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02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A pretrained flow model predicts a clean destination from the current trajectory state.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C7B79B-56F8-44F5-A275-C6B5CCA9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91050"/>
            <a:ext cx="8686800" cy="1724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29B45E-0C7C-4156-A617-F1DBC3A4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91050"/>
            <a:ext cx="868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8BB86F-EDFC-45E2-9E80-B94C057A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619625"/>
            <a:ext cx="8439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0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rPr>
              <a:t>Three Steps at Every Flow 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5431C6-513E-4225-AF0C-D72F39C7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076825"/>
            <a:ext cx="84010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02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1. Estimate the clean destination</a:t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02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2. Refine it using the measurement</a:t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02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3. Move to the next flow time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62C8EB-D653-429F-85BD-C832CE5E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753225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16A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125" b="0">
                <a:solidFill>
                  <a:srgbClr val="5B616A"/>
                </a:solidFill>
                <a:latin typeface="Roboto Condensed"/>
                <a:ea typeface="Roboto Condensed"/>
                <a:cs typeface="Roboto Condensed"/>
              </a:rPr>
              <a:t>Pourya, El Rawas and Unser, FLOWER, ICLR 2026</a:t>
            </a:r>
          </a:p>
        </p:txBody>
      </p:sp>
    </p:spTree>
    <p:extLst>
      <p:ext uri="{BB962C8B-B14F-4D97-AF65-F5344CB8AC3E}">
        <p14:creationId xmlns:p14="http://schemas.microsoft.com/office/powerpoint/2010/main" val="16464997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FF9826-52E1-4FB3-9514-29050F67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EA22EE-E549-46D2-AD9B-188BEF25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95250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9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rPr>
              <a:t>The Noise Level Sets the Refinement Strength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D8D086-C656-48F0-BE2E-2B136C2C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8686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BC90EF-292E-417D-A1DD-9727F910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868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5E9E26-A70B-4F8E-A3CC-DBD70E49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152525"/>
            <a:ext cx="8439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0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rPr>
              <a:t>Destination Estimate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c526a405f145cd"/>
          <a:stretch xmlns:a="http://schemas.openxmlformats.org/drawingml/2006/main"/>
        </p:blipFill>
        <p:spPr>
          <a:xfrm xmlns:a="http://schemas.openxmlformats.org/drawingml/2006/main">
            <a:off x="666750" y="1688984"/>
            <a:ext cx="8191500" cy="52728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AA772C-64C3-4970-9575-B65856B7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14625"/>
            <a:ext cx="86868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CCFEDB-7D70-4490-833C-B934F3C8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14625"/>
            <a:ext cx="868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3AD0EB-5763-48C7-B36E-EB9BADBD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743200"/>
            <a:ext cx="8439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0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rPr>
              <a:t>Measurement-Aware Refinement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798da2a0484e80"/>
          <a:stretch xmlns:a="http://schemas.openxmlformats.org/drawingml/2006/main"/>
        </p:blipFill>
        <p:spPr>
          <a:xfrm xmlns:a="http://schemas.openxmlformats.org/drawingml/2006/main">
            <a:off x="1851660" y="3200400"/>
            <a:ext cx="5821680" cy="9144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0B1A16-7E33-4CDD-A5FC-68591155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91050"/>
            <a:ext cx="86868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E21677-7D3B-4A16-BFBA-4AD7D9A3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91050"/>
            <a:ext cx="868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634B63-749E-41E3-B81D-967CEF10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619625"/>
            <a:ext cx="8439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0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rPr>
              <a:t>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8564F2-932D-4100-851D-2294829A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076825"/>
            <a:ext cx="84010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9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A smaller assumed σ gives more weight to the measurement.</a:t>
            </a:r>
          </a:p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9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A larger assumed σ gives more weight to the predicted destination.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8CD26D-749D-4FBE-BC59-A51B8729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753225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16A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125" b="0">
                <a:solidFill>
                  <a:srgbClr val="5B616A"/>
                </a:solidFill>
                <a:latin typeface="Roboto Condensed"/>
                <a:ea typeface="Roboto Condensed"/>
                <a:cs typeface="Roboto Condensed"/>
              </a:rPr>
              <a:t>The paper’s image benchmark uses Flower1-OT with γ = 0</a:t>
            </a:r>
          </a:p>
        </p:txBody>
      </p:sp>
    </p:spTree>
    <p:extLst>
      <p:ext uri="{BB962C8B-B14F-4D97-AF65-F5344CB8AC3E}">
        <p14:creationId xmlns:p14="http://schemas.microsoft.com/office/powerpoint/2010/main" val="6609772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4D11EA-DF56-49E7-AB23-D8A80BBB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54AF5B-31A5-426F-9480-C0B3EA75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95250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9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rPr>
              <a:t>Our Research Question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8C9D1D-40D5-4B09-82F4-CFC30365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71575"/>
            <a:ext cx="86868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C5A88D-ABA2-4C37-933D-755A2120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71575"/>
            <a:ext cx="868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087312-D72A-4AA6-A861-6F2ECC14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200150"/>
            <a:ext cx="8439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0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rPr>
              <a:t>Noise Calibration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96277F-C457-4650-9F3B-155B2E0E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657350"/>
            <a:ext cx="84010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32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How does reconstruction quality change when FLOWER receives an incorrect noise standard deviation?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8635F6-15E5-4376-BC06-84323914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7620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303EAD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775" b="1">
                <a:solidFill>
                  <a:srgbClr val="303EAD"/>
                </a:solidFill>
                <a:latin typeface="Roboto Condensed"/>
                <a:ea typeface="Roboto Condensed"/>
                <a:cs typeface="Roboto Condensed"/>
              </a:rPr>
              <a:t>r = σassumed / σtrue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19125" y="3667125"/>
          <a:ext xmlns:a="http://schemas.openxmlformats.org/drawingml/2006/main" cx="8286750" cy="1047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56111"/>
                <a:gridCol w="1246128"/>
                <a:gridCol w="1246128"/>
                <a:gridCol w="1246128"/>
                <a:gridCol w="1246128"/>
                <a:gridCol w="1246128"/>
              </a:tblGrid>
              <a:tr h="52387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FFFFF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r</a:t>
                      </a:r>
                    </a:p>
                  </a:txBody>
                  <a:tcPr marL="95250" marR="95250" marT="76200" marB="76200" anchor="ctr">
                    <a:solidFill>
                      <a:srgbClr val="303E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FFFFF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0.50</a:t>
                      </a:r>
                    </a:p>
                  </a:txBody>
                  <a:tcPr marL="95250" marR="95250" marT="76200" marB="76200" anchor="ctr">
                    <a:solidFill>
                      <a:srgbClr val="303E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FFFFF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0.75</a:t>
                      </a:r>
                    </a:p>
                  </a:txBody>
                  <a:tcPr marL="95250" marR="95250" marT="76200" marB="76200" anchor="ctr">
                    <a:solidFill>
                      <a:srgbClr val="303E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FFFFF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1.00</a:t>
                      </a:r>
                    </a:p>
                  </a:txBody>
                  <a:tcPr marL="95250" marR="95250" marT="76200" marB="76200" anchor="ctr">
                    <a:solidFill>
                      <a:srgbClr val="303E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FFFFF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1.25</a:t>
                      </a:r>
                    </a:p>
                  </a:txBody>
                  <a:tcPr marL="95250" marR="95250" marT="76200" marB="76200" anchor="ctr">
                    <a:solidFill>
                      <a:srgbClr val="303E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FFFFF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1.50</a:t>
                      </a:r>
                    </a:p>
                  </a:txBody>
                  <a:tcPr marL="95250" marR="95250" marT="76200" marB="76200" anchor="ctr">
                    <a:solidFill>
                      <a:srgbClr val="303EAD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Variance ratio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0.25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0.5625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1.00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1.5625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2.25</a:t>
                      </a:r>
                    </a:p>
                  </a:txBody>
                  <a:tcPr marL="95250" marR="95250" marT="76200" marB="76200" anchor="ctr"/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44D768-E425-40BA-8158-2CD9D06A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48250"/>
            <a:ext cx="86868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0A5CD2-240A-4D71-8AF6-2DC073BB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48250"/>
            <a:ext cx="868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227C8C-25E3-482E-8314-F0A17D01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076825"/>
            <a:ext cx="8439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0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rPr>
              <a:t>Paired Comparison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A0FD29-28AE-4060-B730-0023C851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534025"/>
            <a:ext cx="84010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02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The image, measurement and source-noise draws are shared across all five ratios. We compare every result with its r = 1 control.</a:t>
            </a:r>
          </a:p>
        </p:txBody>
      </p:sp>
    </p:spTree>
    <p:extLst>
      <p:ext uri="{BB962C8B-B14F-4D97-AF65-F5344CB8AC3E}">
        <p14:creationId xmlns:p14="http://schemas.microsoft.com/office/powerpoint/2010/main" val="10384614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7F09C3-BDCD-40B7-9B99-67F24B3E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1EC01A-DA3B-47CF-B91B-2CB4DEF3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95250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9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rPr>
              <a:t>Experimental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16F1C4-6523-473F-97C2-CE363289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90600"/>
            <a:ext cx="868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03EAD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325" b="1">
                <a:solidFill>
                  <a:srgbClr val="303EAD"/>
                </a:solidFill>
                <a:latin typeface="Roboto Condensed"/>
                <a:ea typeface="Roboto Condensed"/>
                <a:cs typeface="Roboto Condensed"/>
              </a:rPr>
              <a:t>20 fixed CelebA images + 20 fixed AFHQ-Cat images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19100" y="1724025"/>
          <a:ext xmlns:a="http://schemas.openxmlformats.org/drawingml/2006/main" cx="8686800" cy="30861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73867"/>
                <a:gridCol w="965200"/>
                <a:gridCol w="2573867"/>
                <a:gridCol w="2573867"/>
              </a:tblGrid>
              <a:tr h="5143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FFFFF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Inverse problem</a:t>
                      </a:r>
                    </a:p>
                  </a:txBody>
                  <a:tcPr marL="95250" marR="95250" marT="76200" marB="76200" anchor="ctr">
                    <a:solidFill>
                      <a:srgbClr val="303E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FFFFF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True σ</a:t>
                      </a:r>
                    </a:p>
                  </a:txBody>
                  <a:tcPr marL="95250" marR="95250" marT="76200" marB="76200" anchor="ctr">
                    <a:solidFill>
                      <a:srgbClr val="303E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FFFFF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CelebA</a:t>
                      </a:r>
                    </a:p>
                  </a:txBody>
                  <a:tcPr marL="95250" marR="95250" marT="76200" marB="76200" anchor="ctr">
                    <a:solidFill>
                      <a:srgbClr val="303E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FFFFF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AFHQ-Cat</a:t>
                      </a:r>
                    </a:p>
                  </a:txBody>
                  <a:tcPr marL="95250" marR="95250" marT="76200" marB="76200" anchor="ctr">
                    <a:solidFill>
                      <a:srgbClr val="303EAD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Denoising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0.20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Identity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Identity</a:t>
                      </a:r>
                    </a:p>
                  </a:txBody>
                  <a:tcPr marL="95250" marR="95250" marT="76200" marB="76200" anchor="ctr"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Gaussian deblurring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0.05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61 × 61, blur σ = 1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61 × 61, blur σ = 3</a:t>
                      </a:r>
                    </a:p>
                  </a:txBody>
                  <a:tcPr marL="95250" marR="95250" marT="76200" marB="76200" anchor="ctr"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Super-resolution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0.05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2× subsampling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4× subsampling</a:t>
                      </a:r>
                    </a:p>
                  </a:txBody>
                  <a:tcPr marL="95250" marR="95250" marT="76200" marB="76200" anchor="ctr"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Random inpainting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0.01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70% missing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70% missing</a:t>
                      </a:r>
                    </a:p>
                  </a:txBody>
                  <a:tcPr marL="95250" marR="95250" marT="76200" marB="76200" anchor="ctr"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Box inpainting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0.05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40 × 40 central box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80 × 80 central box</a:t>
                      </a:r>
                    </a:p>
                  </a:txBody>
                  <a:tcPr marL="95250" marR="95250" marT="76200" marB="76200" anchor="ctr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1EDA48-E0E7-43F0-9687-1BA0A9A9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24450"/>
            <a:ext cx="868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03EAD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325" b="1">
                <a:solidFill>
                  <a:srgbClr val="303EAD"/>
                </a:solidFill>
                <a:latin typeface="Roboto Condensed"/>
                <a:ea typeface="Roboto Condensed"/>
                <a:cs typeface="Roboto Condensed"/>
              </a:rPr>
              <a:t>40 images × 5 problems × 5 ratios = 1,000 reconstructions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2DBFBF-94AC-4D43-9D65-D2584B2D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91200"/>
            <a:ext cx="868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32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PSNR ↑      SSIM ↑      LPIPS 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C3A8E-84AA-4648-8CD7-4245E8A8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753225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16A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125" b="0">
                <a:solidFill>
                  <a:srgbClr val="5B616A"/>
                </a:solidFill>
                <a:latin typeface="Roboto Condensed"/>
                <a:ea typeface="Roboto Condensed"/>
                <a:cs typeface="Roboto Condensed"/>
              </a:rPr>
              <a:t>Same selected images throughout each dataset. Seed 2026. Noise σ is in model coordinates [-1, 1].</a:t>
            </a:r>
          </a:p>
        </p:txBody>
      </p:sp>
    </p:spTree>
    <p:extLst>
      <p:ext uri="{BB962C8B-B14F-4D97-AF65-F5344CB8AC3E}">
        <p14:creationId xmlns:p14="http://schemas.microsoft.com/office/powerpoint/2010/main" val="2463030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10CB9F-86E7-4B66-B9CC-04C0E08E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B62E8A-998D-4A49-BC41-2E1A3184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95250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9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rPr>
              <a:t>PSNR Response: CelebA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361950" y="981075"/>
          <a:ext xmlns:a="http://schemas.openxmlformats.org/drawingml/2006/main" cx="8801100" cy="4057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7e0238ece024a13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A25B5E-19C2-4738-8FE9-6A0FC3B5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305425"/>
            <a:ext cx="86868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DB1AE2-5032-4ED4-9C55-94AE720E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305425"/>
            <a:ext cx="868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18D144-B8A5-4F0A-99DA-FCF51A50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334000"/>
            <a:ext cx="8439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0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rPr>
              <a:t>Main 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219B31-4133-475D-AEFF-4CC10136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791200"/>
            <a:ext cx="840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9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Denoising loses 2.10 dB at r = 0.50. Super-resolution gains 0.42 dB. Random inpainting changes very little.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3583BB-386C-4FA8-A745-9296B0C2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753225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16A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125" b="0">
                <a:solidFill>
                  <a:srgbClr val="5B616A"/>
                </a:solidFill>
                <a:latin typeface="Roboto Condensed"/>
                <a:ea typeface="Roboto Condensed"/>
                <a:cs typeface="Roboto Condensed"/>
              </a:rPr>
              <a:t>Mean paired ΔPSNR vs r = 1. Higher is better. n = 20. Error bars: approximate 95% CI.</a:t>
            </a:r>
          </a:p>
        </p:txBody>
      </p:sp>
    </p:spTree>
    <p:extLst>
      <p:ext uri="{BB962C8B-B14F-4D97-AF65-F5344CB8AC3E}">
        <p14:creationId xmlns:p14="http://schemas.microsoft.com/office/powerpoint/2010/main" val="14309209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C533E7-8918-4C41-8EDA-6613EE3B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91BD4-212D-4D5E-857D-4868D6B3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95250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9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rPr>
              <a:t>PSNR Response: AFHQ-Cat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361950" y="981075"/>
          <a:ext xmlns:a="http://schemas.openxmlformats.org/drawingml/2006/main" cx="8801100" cy="4057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d38b67b75be4dda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627EBB-6284-4F76-8470-6F25D8CD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305425"/>
            <a:ext cx="86868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8A2157-21C7-4C57-93D1-DD6A36DC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305425"/>
            <a:ext cx="868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0080AE-98BB-4A78-A816-FFCE6A3C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334000"/>
            <a:ext cx="8439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0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rPr>
              <a:t>Main 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28DCB0-77E4-4CCD-BD99-8A64A4A3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791200"/>
            <a:ext cx="840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9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Denoising improves by 0.35 dB at r = 0.75, but loses 1.25 dB at r = 0.50. Super-resolution gains 0.47 dB at r = 0.50.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653AFD-03A7-4B77-A99F-351DA1DB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753225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16A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125" b="0">
                <a:solidFill>
                  <a:srgbClr val="5B616A"/>
                </a:solidFill>
                <a:latin typeface="Roboto Condensed"/>
                <a:ea typeface="Roboto Condensed"/>
                <a:cs typeface="Roboto Condensed"/>
              </a:rPr>
              <a:t>Mean paired ΔPSNR vs r = 1. Higher is better. n = 20. Error bars: approximate 95% CI.</a:t>
            </a:r>
          </a:p>
        </p:txBody>
      </p:sp>
    </p:spTree>
    <p:extLst>
      <p:ext uri="{BB962C8B-B14F-4D97-AF65-F5344CB8AC3E}">
        <p14:creationId xmlns:p14="http://schemas.microsoft.com/office/powerpoint/2010/main" val="15404986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7193A6-4574-4590-9A65-690B7A33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BF47A2-0F48-4EEE-87D5-D5E8C7E9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95250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9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rPr>
              <a:t>SSIM Response Across Both Datasets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257175" y="1028700"/>
          <a:ext xmlns:a="http://schemas.openxmlformats.org/drawingml/2006/main" cx="4448175" cy="3886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8415c57443e4dc6"/>
          </a:graphicData>
        </a:graphic>
      </p:graphicFrame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4848225" y="1028700"/>
          <a:ext xmlns:a="http://schemas.openxmlformats.org/drawingml/2006/main" cx="4448175" cy="3886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cb70ec9f38548a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223AC4-7AF3-48D4-A084-C20F02DE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57775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5A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1D5726-1F27-4DCA-ADAF-34D6167D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924425"/>
            <a:ext cx="1228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313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Denoising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317E0A-F94E-4C42-94DD-A7F355B3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57775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5A2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4A4FC1-4AB3-4CAD-B819-5C0122E3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49244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313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Gaussian deblurring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0EE7FC-1E61-45B6-9BB5-C2008D88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057775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AA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BC2FF9-9C73-47E1-AB7C-A6672A6B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9244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313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Super-resolution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3F20E4-4607-432B-8487-6D76ECF1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057775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47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F4A914-00C8-40F3-9EF9-5FE36657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9244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313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Random inpainting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0AFF01-0D93-4CBF-8773-B2194FA0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057775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426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B6D2FF-EF8D-4456-8F77-F3390E8B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9244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313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Box inpainting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3F5000-0781-4D3F-9F1A-1372BF24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29250"/>
            <a:ext cx="86868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A71B25-C76E-445F-96F5-A9416774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29250"/>
            <a:ext cx="868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11BDF2-84C5-43C3-9EFB-E7BCB4C1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57825"/>
            <a:ext cx="8439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0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rPr>
              <a:t>What the Metric Adds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5813B1-D01A-45C4-82DC-F8FB32C4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915025"/>
            <a:ext cx="840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8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Underestimating noise can damage structure even when PSNR changes little. Super-resolution improves in both datasets.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104344-4E40-4140-887B-30B15A88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753225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16A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125" b="0">
                <a:solidFill>
                  <a:srgbClr val="5B616A"/>
                </a:solidFill>
                <a:latin typeface="Roboto Condensed"/>
                <a:ea typeface="Roboto Condensed"/>
                <a:cs typeface="Roboto Condensed"/>
              </a:rPr>
              <a:t>Mean paired change vs r = 1. Higher is better. n = 20. Error bars: approximate 95% CI.</a:t>
            </a:r>
          </a:p>
        </p:txBody>
      </p:sp>
    </p:spTree>
    <p:extLst>
      <p:ext uri="{BB962C8B-B14F-4D97-AF65-F5344CB8AC3E}">
        <p14:creationId xmlns:p14="http://schemas.microsoft.com/office/powerpoint/2010/main" val="4930859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A73495-411F-4F5C-B54D-9CBB5F13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14C923-BD5B-45A1-AD82-03ABE2F8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95250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9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rPr>
              <a:t>LPIPS Response Across Both Datasets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257175" y="1028700"/>
          <a:ext xmlns:a="http://schemas.openxmlformats.org/drawingml/2006/main" cx="4448175" cy="3886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5c3a095d1e04f90"/>
          </a:graphicData>
        </a:graphic>
      </p:graphicFrame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4848225" y="1028700"/>
          <a:ext xmlns:a="http://schemas.openxmlformats.org/drawingml/2006/main" cx="4448175" cy="3886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e09becfeb14eb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FF7F55-B21E-44E6-8434-B76E2BA3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57775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5A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D3CA7E-C8C4-45BA-B82C-C8C6AB20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924425"/>
            <a:ext cx="1228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313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Denoising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308567-61E0-4C42-8911-FE526257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57775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5A2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D79B9D-F795-487D-8318-55BB91DE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49244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313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Gaussian deblurring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0E5292-A5FD-43F4-909F-18F676A2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057775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AA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275B75-628E-49DA-B229-C2A0CDA1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9244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313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Super-resolution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1A6DE3-6A1D-4DFF-B1A5-F3A3B37A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057775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47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9274AC-584B-4BFA-89B2-7416E593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9244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313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Random inpainting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80FFEF-D590-4B34-88B8-17FDD03F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057775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426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90896B-6C38-4C5C-8095-0EBCEED5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9244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313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Box inpainting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15DD1F-D83C-45C0-9624-83F5EF0E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29250"/>
            <a:ext cx="86868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2EBF9A-DE88-42D6-A78B-A2C020D0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29250"/>
            <a:ext cx="868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19AF99-C036-465E-826F-8D32652B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57825"/>
            <a:ext cx="8439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0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rPr>
              <a:t>What the Metric Adds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C58CC7-9572-43F4-BBB1-88BE5DF9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915025"/>
            <a:ext cx="840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8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At r = 0.50, AFHQ-Cat denoising improves LPIPS while PSNR and SSIM worsen. Perceptual and pixel fidelity can disagree.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A667C6-F15F-4D04-8F23-FE9BF64D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753225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16A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125" b="0">
                <a:solidFill>
                  <a:srgbClr val="5B616A"/>
                </a:solidFill>
                <a:latin typeface="Roboto Condensed"/>
                <a:ea typeface="Roboto Condensed"/>
                <a:cs typeface="Roboto Condensed"/>
              </a:rPr>
              <a:t>Mean paired change vs r = 1. Lower is better. n = 20. Error bars: approximate 95% CI.</a:t>
            </a:r>
          </a:p>
        </p:txBody>
      </p:sp>
    </p:spTree>
    <p:extLst>
      <p:ext uri="{BB962C8B-B14F-4D97-AF65-F5344CB8AC3E}">
        <p14:creationId xmlns:p14="http://schemas.microsoft.com/office/powerpoint/2010/main" val="20055017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9C5ECB-3CA9-42B1-AA33-919308D8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29A777-4B38-4AA4-BFEB-403575F2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95250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9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rPr>
              <a:t>All Tasks: Mean PSNR Change (dB)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59D9F0-874A-405C-B891-95976574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42975"/>
            <a:ext cx="868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B616A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025" b="0">
                <a:solidFill>
                  <a:srgbClr val="5B616A"/>
                </a:solidFill>
                <a:latin typeface="Roboto Condensed"/>
                <a:ea typeface="Roboto Condensed"/>
                <a:cs typeface="Roboto Condensed"/>
              </a:rPr>
              <a:t>Cells compare a mismatched reconstruction with its r = 1 control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11F095-C55A-4A83-8D69-1559C920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57325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03EAD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250" b="1">
                <a:solidFill>
                  <a:srgbClr val="303EAD"/>
                </a:solidFill>
                <a:latin typeface="Roboto Condensed"/>
                <a:ea typeface="Roboto Condensed"/>
                <a:cs typeface="Roboto Condensed"/>
              </a:rPr>
              <a:t>CelebA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419100" y="1981200"/>
          <a:ext xmlns:a="http://schemas.openxmlformats.org/drawingml/2006/main" cx="4210050" cy="31337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355779"/>
                <a:gridCol w="713568"/>
                <a:gridCol w="713568"/>
                <a:gridCol w="713568"/>
                <a:gridCol w="713568"/>
              </a:tblGrid>
              <a:tr h="522288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FFFFF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Task</a:t>
                      </a:r>
                    </a:p>
                  </a:txBody>
                  <a:tcPr marL="47625" marR="47625" marT="76200" marB="76200" anchor="ctr">
                    <a:solidFill>
                      <a:srgbClr val="303E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FFFFF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0.50</a:t>
                      </a:r>
                    </a:p>
                  </a:txBody>
                  <a:tcPr marL="47625" marR="47625" marT="76200" marB="76200" anchor="ctr">
                    <a:solidFill>
                      <a:srgbClr val="303E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FFFFF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0.75</a:t>
                      </a:r>
                    </a:p>
                  </a:txBody>
                  <a:tcPr marL="47625" marR="47625" marT="76200" marB="76200" anchor="ctr">
                    <a:solidFill>
                      <a:srgbClr val="303E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FFFFF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1.25</a:t>
                      </a:r>
                    </a:p>
                  </a:txBody>
                  <a:tcPr marL="47625" marR="47625" marT="76200" marB="76200" anchor="ctr">
                    <a:solidFill>
                      <a:srgbClr val="303E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FFFFF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1.50</a:t>
                      </a:r>
                    </a:p>
                  </a:txBody>
                  <a:tcPr marL="47625" marR="47625" marT="76200" marB="76200" anchor="ctr">
                    <a:solidFill>
                      <a:srgbClr val="303EAD"/>
                    </a:solidFill>
                  </a:tcPr>
                </a:tc>
              </a:tr>
              <a:tr h="52228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Denoising</a:t>
                      </a:r>
                    </a:p>
                  </a:txBody>
                  <a:tcPr marL="47625" marR="47625" marT="76200" marB="7620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-2.10</a:t>
                      </a:r>
                    </a:p>
                  </a:txBody>
                  <a:tcPr marL="47625" marR="47625" marT="76200" marB="76200" anchor="ctr">
                    <a:solidFill>
                      <a:srgbClr val="F6D9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0.00</a:t>
                      </a:r>
                    </a:p>
                  </a:txBody>
                  <a:tcPr marL="47625" marR="47625" marT="76200" marB="76200" anchor="ctr"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-0.66</a:t>
                      </a:r>
                    </a:p>
                  </a:txBody>
                  <a:tcPr marL="47625" marR="47625" marT="76200" marB="76200" anchor="ctr">
                    <a:solidFill>
                      <a:srgbClr val="F6D9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-1.43</a:t>
                      </a:r>
                    </a:p>
                  </a:txBody>
                  <a:tcPr marL="47625" marR="47625" marT="76200" marB="76200" anchor="ctr">
                    <a:solidFill>
                      <a:srgbClr val="F6D9DC"/>
                    </a:solidFill>
                  </a:tcPr>
                </a:tc>
              </a:tr>
              <a:tr h="52228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deblurring</a:t>
                      </a:r>
                    </a:p>
                  </a:txBody>
                  <a:tcPr marL="47625" marR="47625" marT="76200" marB="7620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-1.51</a:t>
                      </a:r>
                    </a:p>
                  </a:txBody>
                  <a:tcPr marL="47625" marR="47625" marT="76200" marB="76200" anchor="ctr">
                    <a:solidFill>
                      <a:srgbClr val="F6D9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-0.07</a:t>
                      </a:r>
                    </a:p>
                  </a:txBody>
                  <a:tcPr marL="47625" marR="47625" marT="76200" marB="76200" anchor="ctr"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-0.32</a:t>
                      </a:r>
                    </a:p>
                  </a:txBody>
                  <a:tcPr marL="47625" marR="47625" marT="76200" marB="76200" anchor="ctr">
                    <a:solidFill>
                      <a:srgbClr val="F6D9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-0.72</a:t>
                      </a:r>
                    </a:p>
                  </a:txBody>
                  <a:tcPr marL="47625" marR="47625" marT="76200" marB="76200" anchor="ctr">
                    <a:solidFill>
                      <a:srgbClr val="F6D9DC"/>
                    </a:solidFill>
                  </a:tcPr>
                </a:tc>
              </a:tr>
              <a:tr h="52228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Super-resolution</a:t>
                      </a:r>
                    </a:p>
                  </a:txBody>
                  <a:tcPr marL="47625" marR="47625" marT="76200" marB="7620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+0.42</a:t>
                      </a:r>
                    </a:p>
                  </a:txBody>
                  <a:tcPr marL="47625" marR="47625" marT="76200" marB="76200" anchor="ctr">
                    <a:solidFill>
                      <a:srgbClr val="DDE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+0.30</a:t>
                      </a:r>
                    </a:p>
                  </a:txBody>
                  <a:tcPr marL="47625" marR="47625" marT="76200" marB="76200" anchor="ctr">
                    <a:solidFill>
                      <a:srgbClr val="DDE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-0.37</a:t>
                      </a:r>
                    </a:p>
                  </a:txBody>
                  <a:tcPr marL="47625" marR="47625" marT="76200" marB="76200" anchor="ctr">
                    <a:solidFill>
                      <a:srgbClr val="F6D9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-0.77</a:t>
                      </a:r>
                    </a:p>
                  </a:txBody>
                  <a:tcPr marL="47625" marR="47625" marT="76200" marB="76200" anchor="ctr">
                    <a:solidFill>
                      <a:srgbClr val="F6D9DC"/>
                    </a:solidFill>
                  </a:tcPr>
                </a:tc>
              </a:tr>
              <a:tr h="52228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Random inp.</a:t>
                      </a:r>
                    </a:p>
                  </a:txBody>
                  <a:tcPr marL="47625" marR="47625" marT="76200" marB="7620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+0.02</a:t>
                      </a:r>
                    </a:p>
                  </a:txBody>
                  <a:tcPr marL="47625" marR="47625" marT="76200" marB="76200" anchor="ctr"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+0.01</a:t>
                      </a:r>
                    </a:p>
                  </a:txBody>
                  <a:tcPr marL="47625" marR="47625" marT="76200" marB="76200" anchor="ctr"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-0.02</a:t>
                      </a:r>
                    </a:p>
                  </a:txBody>
                  <a:tcPr marL="47625" marR="47625" marT="76200" marB="76200" anchor="ctr"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-0.05</a:t>
                      </a:r>
                    </a:p>
                  </a:txBody>
                  <a:tcPr marL="47625" marR="47625" marT="76200" marB="76200" anchor="ctr">
                    <a:solidFill>
                      <a:srgbClr val="F7F7FA"/>
                    </a:solidFill>
                  </a:tcPr>
                </a:tc>
              </a:tr>
              <a:tr h="52228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Box inp.</a:t>
                      </a:r>
                    </a:p>
                  </a:txBody>
                  <a:tcPr marL="47625" marR="47625" marT="76200" marB="7620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-0.56</a:t>
                      </a:r>
                    </a:p>
                  </a:txBody>
                  <a:tcPr marL="47625" marR="47625" marT="76200" marB="76200" anchor="ctr">
                    <a:solidFill>
                      <a:srgbClr val="F6D9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-0.12</a:t>
                      </a:r>
                    </a:p>
                  </a:txBody>
                  <a:tcPr marL="47625" marR="47625" marT="76200" marB="76200" anchor="ctr">
                    <a:solidFill>
                      <a:srgbClr val="F6D9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-0.04</a:t>
                      </a:r>
                    </a:p>
                  </a:txBody>
                  <a:tcPr marL="47625" marR="47625" marT="76200" marB="76200" anchor="ctr"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-0.14</a:t>
                      </a:r>
                    </a:p>
                  </a:txBody>
                  <a:tcPr marL="47625" marR="47625" marT="76200" marB="76200" anchor="ctr">
                    <a:solidFill>
                      <a:srgbClr val="F6D9DC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A70F47-6D1A-41CB-B0FD-B50BF4FF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457325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03EAD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250" b="1">
                <a:solidFill>
                  <a:srgbClr val="303EAD"/>
                </a:solidFill>
                <a:latin typeface="Roboto Condensed"/>
                <a:ea typeface="Roboto Condensed"/>
                <a:cs typeface="Roboto Condensed"/>
              </a:rPr>
              <a:t>AFHQ-Cat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4895850" y="1981200"/>
          <a:ext xmlns:a="http://schemas.openxmlformats.org/drawingml/2006/main" cx="4210050" cy="31337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355779"/>
                <a:gridCol w="713568"/>
                <a:gridCol w="713568"/>
                <a:gridCol w="713568"/>
                <a:gridCol w="713568"/>
              </a:tblGrid>
              <a:tr h="522288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FFFFF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Task</a:t>
                      </a:r>
                    </a:p>
                  </a:txBody>
                  <a:tcPr marL="47625" marR="47625" marT="76200" marB="76200" anchor="ctr">
                    <a:solidFill>
                      <a:srgbClr val="303E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FFFFF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0.50</a:t>
                      </a:r>
                    </a:p>
                  </a:txBody>
                  <a:tcPr marL="47625" marR="47625" marT="76200" marB="76200" anchor="ctr">
                    <a:solidFill>
                      <a:srgbClr val="303E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FFFFF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0.75</a:t>
                      </a:r>
                    </a:p>
                  </a:txBody>
                  <a:tcPr marL="47625" marR="47625" marT="76200" marB="76200" anchor="ctr">
                    <a:solidFill>
                      <a:srgbClr val="303E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FFFFF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1.25</a:t>
                      </a:r>
                    </a:p>
                  </a:txBody>
                  <a:tcPr marL="47625" marR="47625" marT="76200" marB="76200" anchor="ctr">
                    <a:solidFill>
                      <a:srgbClr val="303E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FFFFF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1.50</a:t>
                      </a:r>
                    </a:p>
                  </a:txBody>
                  <a:tcPr marL="47625" marR="47625" marT="76200" marB="76200" anchor="ctr">
                    <a:solidFill>
                      <a:srgbClr val="303EAD"/>
                    </a:solidFill>
                  </a:tcPr>
                </a:tc>
              </a:tr>
              <a:tr h="52228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Denoising</a:t>
                      </a:r>
                    </a:p>
                  </a:txBody>
                  <a:tcPr marL="47625" marR="47625" marT="76200" marB="7620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-1.25</a:t>
                      </a:r>
                    </a:p>
                  </a:txBody>
                  <a:tcPr marL="47625" marR="47625" marT="76200" marB="76200" anchor="ctr">
                    <a:solidFill>
                      <a:srgbClr val="F6D9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+0.35</a:t>
                      </a:r>
                    </a:p>
                  </a:txBody>
                  <a:tcPr marL="47625" marR="47625" marT="76200" marB="76200" anchor="ctr">
                    <a:solidFill>
                      <a:srgbClr val="DDE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-0.70</a:t>
                      </a:r>
                    </a:p>
                  </a:txBody>
                  <a:tcPr marL="47625" marR="47625" marT="76200" marB="76200" anchor="ctr">
                    <a:solidFill>
                      <a:srgbClr val="F6D9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-1.43</a:t>
                      </a:r>
                    </a:p>
                  </a:txBody>
                  <a:tcPr marL="47625" marR="47625" marT="76200" marB="76200" anchor="ctr">
                    <a:solidFill>
                      <a:srgbClr val="F6D9DC"/>
                    </a:solidFill>
                  </a:tcPr>
                </a:tc>
              </a:tr>
              <a:tr h="52228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deblurring</a:t>
                      </a:r>
                    </a:p>
                  </a:txBody>
                  <a:tcPr marL="47625" marR="47625" marT="76200" marB="7620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-0.09</a:t>
                      </a:r>
                    </a:p>
                  </a:txBody>
                  <a:tcPr marL="47625" marR="47625" marT="76200" marB="76200" anchor="ctr"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+0.09</a:t>
                      </a:r>
                    </a:p>
                  </a:txBody>
                  <a:tcPr marL="47625" marR="47625" marT="76200" marB="76200" anchor="ctr"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-0.12</a:t>
                      </a:r>
                    </a:p>
                  </a:txBody>
                  <a:tcPr marL="47625" marR="47625" marT="76200" marB="76200" anchor="ctr">
                    <a:solidFill>
                      <a:srgbClr val="F6D9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-0.30</a:t>
                      </a:r>
                    </a:p>
                  </a:txBody>
                  <a:tcPr marL="47625" marR="47625" marT="76200" marB="76200" anchor="ctr">
                    <a:solidFill>
                      <a:srgbClr val="F6D9DC"/>
                    </a:solidFill>
                  </a:tcPr>
                </a:tc>
              </a:tr>
              <a:tr h="52228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Super-resolution</a:t>
                      </a:r>
                    </a:p>
                  </a:txBody>
                  <a:tcPr marL="47625" marR="47625" marT="76200" marB="7620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+0.47</a:t>
                      </a:r>
                    </a:p>
                  </a:txBody>
                  <a:tcPr marL="47625" marR="47625" marT="76200" marB="76200" anchor="ctr">
                    <a:solidFill>
                      <a:srgbClr val="DDE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+0.26</a:t>
                      </a:r>
                    </a:p>
                  </a:txBody>
                  <a:tcPr marL="47625" marR="47625" marT="76200" marB="76200" anchor="ctr">
                    <a:solidFill>
                      <a:srgbClr val="DDE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-0.29</a:t>
                      </a:r>
                    </a:p>
                  </a:txBody>
                  <a:tcPr marL="47625" marR="47625" marT="76200" marB="76200" anchor="ctr">
                    <a:solidFill>
                      <a:srgbClr val="F6D9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-0.60</a:t>
                      </a:r>
                    </a:p>
                  </a:txBody>
                  <a:tcPr marL="47625" marR="47625" marT="76200" marB="76200" anchor="ctr">
                    <a:solidFill>
                      <a:srgbClr val="F6D9DC"/>
                    </a:solidFill>
                  </a:tcPr>
                </a:tc>
              </a:tr>
              <a:tr h="52228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Random inp.</a:t>
                      </a:r>
                    </a:p>
                  </a:txBody>
                  <a:tcPr marL="47625" marR="47625" marT="76200" marB="7620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+0.02</a:t>
                      </a:r>
                    </a:p>
                  </a:txBody>
                  <a:tcPr marL="47625" marR="47625" marT="76200" marB="76200" anchor="ctr"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+0.02</a:t>
                      </a:r>
                    </a:p>
                  </a:txBody>
                  <a:tcPr marL="47625" marR="47625" marT="76200" marB="76200" anchor="ctr"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-0.03</a:t>
                      </a:r>
                    </a:p>
                  </a:txBody>
                  <a:tcPr marL="47625" marR="47625" marT="76200" marB="76200" anchor="ctr"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-0.06</a:t>
                      </a:r>
                    </a:p>
                  </a:txBody>
                  <a:tcPr marL="47625" marR="47625" marT="76200" marB="76200" anchor="ctr">
                    <a:solidFill>
                      <a:srgbClr val="F7F7FA"/>
                    </a:solidFill>
                  </a:tcPr>
                </a:tc>
              </a:tr>
              <a:tr h="52228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Box inp.</a:t>
                      </a:r>
                    </a:p>
                  </a:txBody>
                  <a:tcPr marL="47625" marR="47625" marT="76200" marB="7620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-0.31</a:t>
                      </a:r>
                    </a:p>
                  </a:txBody>
                  <a:tcPr marL="47625" marR="47625" marT="76200" marB="76200" anchor="ctr">
                    <a:solidFill>
                      <a:srgbClr val="F6D9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-0.07</a:t>
                      </a:r>
                    </a:p>
                  </a:txBody>
                  <a:tcPr marL="47625" marR="47625" marT="76200" marB="76200" anchor="ctr"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-0.02</a:t>
                      </a:r>
                    </a:p>
                  </a:txBody>
                  <a:tcPr marL="47625" marR="47625" marT="76200" marB="76200" anchor="ctr"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-0.07</a:t>
                      </a:r>
                    </a:p>
                  </a:txBody>
                  <a:tcPr marL="47625" marR="47625" marT="76200" marB="76200" anchor="ctr">
                    <a:solidFill>
                      <a:srgbClr val="F7F7FA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1A5557-9088-41C6-B726-AD09D5B5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0"/>
            <a:ext cx="8686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4B32E9-6E26-44BC-984F-DE1C6211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0"/>
            <a:ext cx="868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6D1883-4133-4D50-BC23-1ABA8D76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553075"/>
            <a:ext cx="8439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0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rPr>
              <a:t>Reading the Table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D1AF68-3158-4234-874E-C30F3C51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010275"/>
            <a:ext cx="8401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02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Positive values mean better PSNR. Overestimation lowers the mean in every tested dataset–task setting.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2DE913-70D2-4BDB-B812-0F9D4853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753225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16A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125" b="0">
                <a:solidFill>
                  <a:srgbClr val="5B616A"/>
                </a:solidFill>
                <a:latin typeface="Roboto Condensed"/>
                <a:ea typeface="Roboto Condensed"/>
                <a:cs typeface="Roboto Condensed"/>
              </a:rPr>
              <a:t>Each cell averages 20 paired image differences. The r = 1 column is zero by definition.</a:t>
            </a:r>
          </a:p>
        </p:txBody>
      </p:sp>
    </p:spTree>
    <p:extLst>
      <p:ext uri="{BB962C8B-B14F-4D97-AF65-F5344CB8AC3E}">
        <p14:creationId xmlns:p14="http://schemas.microsoft.com/office/powerpoint/2010/main" val="19820588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5F7D82D-84DE-458C-BC82-DC00907A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38F1E1-C03D-4ECE-9323-ECD6FFA9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95250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9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rPr>
              <a:t>Visual Comparison: Denoising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6D92EC-EDB0-4516-819C-B3F7B8A9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057275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Ground truth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98D9EC-6171-4A2E-B16E-017EDF07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057275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Measurement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51E449-8844-444F-9B0E-50E0864A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057275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r = 0.50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D077D0-5753-44FB-B4B5-C738F4B1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057275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r = 0.75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81792E-3C5E-4A30-A8AE-9925D991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1057275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03EAD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350" b="1">
                <a:solidFill>
                  <a:srgbClr val="303EAD"/>
                </a:solidFill>
                <a:latin typeface="Roboto Condensed"/>
                <a:ea typeface="Roboto Condensed"/>
                <a:cs typeface="Roboto Condensed"/>
              </a:rPr>
              <a:t>r = 1.00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24574B-3B3C-4469-A0B6-7B3372F0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057275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r = 1.25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6573F5-BA17-4EE7-A0FC-24DA1BEE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057275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r = 1.50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FCD132-2AD7-42FB-94A2-70FDD127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390650"/>
            <a:ext cx="857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03EAD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800" b="1">
                <a:solidFill>
                  <a:srgbClr val="303EAD"/>
                </a:solidFill>
                <a:latin typeface="Roboto Condensed"/>
                <a:ea typeface="Roboto Condensed"/>
                <a:cs typeface="Roboto Condensed"/>
              </a:rPr>
              <a:t>CelebA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712a43b11d4fd2"/>
          <a:stretch xmlns:a="http://schemas.openxmlformats.org/drawingml/2006/main"/>
        </p:blipFill>
        <p:spPr>
          <a:xfrm xmlns:a="http://schemas.openxmlformats.org/drawingml/2006/main">
            <a:off x="428625" y="1685925"/>
            <a:ext cx="1200150" cy="1200150"/>
          </a:xfrm>
          <a:prstGeom xmlns:a="http://schemas.openxmlformats.org/drawingml/2006/main" prst="rect">
            <a:avLst/>
          </a:prstGeom>
        </p:spPr>
      </p:pic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327589150949c3"/>
          <a:stretch xmlns:a="http://schemas.openxmlformats.org/drawingml/2006/main"/>
        </p:blipFill>
        <p:spPr>
          <a:xfrm xmlns:a="http://schemas.openxmlformats.org/drawingml/2006/main">
            <a:off x="1685925" y="1685925"/>
            <a:ext cx="1200150" cy="1200150"/>
          </a:xfrm>
          <a:prstGeom xmlns:a="http://schemas.openxmlformats.org/drawingml/2006/main" prst="rect">
            <a:avLst/>
          </a:prstGeom>
        </p:spPr>
      </p:pic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abbf6acdc5422d"/>
          <a:stretch xmlns:a="http://schemas.openxmlformats.org/drawingml/2006/main"/>
        </p:blipFill>
        <p:spPr>
          <a:xfrm xmlns:a="http://schemas.openxmlformats.org/drawingml/2006/main">
            <a:off x="2943225" y="1685925"/>
            <a:ext cx="1200150" cy="12001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9E0077-EBA0-4F8A-AF3B-E2C3289E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943225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29.72 / 0.803</a:t>
            </a:r>
          </a:p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0.097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6d6b137e574238"/>
          <a:stretch xmlns:a="http://schemas.openxmlformats.org/drawingml/2006/main"/>
        </p:blipFill>
        <p:spPr>
          <a:xfrm xmlns:a="http://schemas.openxmlformats.org/drawingml/2006/main">
            <a:off x="4200525" y="1685925"/>
            <a:ext cx="1200150" cy="12001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9229D6-CCA4-4A34-A6A3-321AC818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943225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31.77 / 0.913</a:t>
            </a:r>
          </a:p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0.033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67E389-4DFA-4D82-B127-FD73579E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1666875"/>
            <a:ext cx="1238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a490ae053340d1"/>
          <a:stretch xmlns:a="http://schemas.openxmlformats.org/drawingml/2006/main"/>
        </p:blipFill>
        <p:spPr>
          <a:xfrm xmlns:a="http://schemas.openxmlformats.org/drawingml/2006/main">
            <a:off x="5457825" y="1685925"/>
            <a:ext cx="1200150" cy="12001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E8B7A7-005F-4302-81BD-14014917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943225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31.85 / 0.928</a:t>
            </a:r>
          </a:p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0.020</a:t>
            </a:r>
          </a:p>
        </p:txBody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2be0a5c02642d4"/>
          <a:stretch xmlns:a="http://schemas.openxmlformats.org/drawingml/2006/main"/>
        </p:blipFill>
        <p:spPr>
          <a:xfrm xmlns:a="http://schemas.openxmlformats.org/drawingml/2006/main">
            <a:off x="6715125" y="1685925"/>
            <a:ext cx="1200150" cy="12001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C02CB7-B036-40BD-AD63-20109B89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43225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31.34 / 0.920</a:t>
            </a:r>
          </a:p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0.028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35f9add0714d70"/>
          <a:stretch xmlns:a="http://schemas.openxmlformats.org/drawingml/2006/main"/>
        </p:blipFill>
        <p:spPr>
          <a:xfrm xmlns:a="http://schemas.openxmlformats.org/drawingml/2006/main">
            <a:off x="7972425" y="1685925"/>
            <a:ext cx="1200150" cy="12001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768C7A-2F67-438B-B134-1A3F6EB2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943225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30.70 / 0.909</a:t>
            </a:r>
          </a:p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0.037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A48230-CCF0-404E-A2E8-E0A92ECD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419475"/>
            <a:ext cx="857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03EAD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800" b="1">
                <a:solidFill>
                  <a:srgbClr val="303EAD"/>
                </a:solidFill>
                <a:latin typeface="Roboto Condensed"/>
                <a:ea typeface="Roboto Condensed"/>
                <a:cs typeface="Roboto Condensed"/>
              </a:rPr>
              <a:t>AFHQ-Cat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17f6d28d8f4af1"/>
          <a:stretch xmlns:a="http://schemas.openxmlformats.org/drawingml/2006/main"/>
        </p:blipFill>
        <p:spPr>
          <a:xfrm xmlns:a="http://schemas.openxmlformats.org/drawingml/2006/main">
            <a:off x="428625" y="3714750"/>
            <a:ext cx="1200150" cy="1200150"/>
          </a:xfrm>
          <a:prstGeom xmlns:a="http://schemas.openxmlformats.org/drawingml/2006/main" prst="rect">
            <a:avLst/>
          </a:prstGeom>
        </p:spPr>
      </p:pic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d5851c530b428a"/>
          <a:stretch xmlns:a="http://schemas.openxmlformats.org/drawingml/2006/main"/>
        </p:blipFill>
        <p:spPr>
          <a:xfrm xmlns:a="http://schemas.openxmlformats.org/drawingml/2006/main">
            <a:off x="1685925" y="3714750"/>
            <a:ext cx="1200150" cy="1200150"/>
          </a:xfrm>
          <a:prstGeom xmlns:a="http://schemas.openxmlformats.org/drawingml/2006/main" prst="rect">
            <a:avLst/>
          </a:prstGeom>
        </p:spPr>
      </p:pic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f9b57e3c8a49ea"/>
          <a:stretch xmlns:a="http://schemas.openxmlformats.org/drawingml/2006/main"/>
        </p:blipFill>
        <p:spPr>
          <a:xfrm xmlns:a="http://schemas.openxmlformats.org/drawingml/2006/main">
            <a:off x="2943225" y="3714750"/>
            <a:ext cx="1200150" cy="120015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9B20AE-17B1-4EB6-8B06-A26F0284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9720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29.78 / 0.813</a:t>
            </a:r>
          </a:p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0.043</a:t>
            </a:r>
          </a:p>
        </p:txBody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ef1cdb68a04a90"/>
          <a:stretch xmlns:a="http://schemas.openxmlformats.org/drawingml/2006/main"/>
        </p:blipFill>
        <p:spPr>
          <a:xfrm xmlns:a="http://schemas.openxmlformats.org/drawingml/2006/main">
            <a:off x="4200525" y="3714750"/>
            <a:ext cx="1200150" cy="120015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198D03-C8FF-4BB9-8DD9-CD813C6A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9720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30.87 / 0.868</a:t>
            </a:r>
          </a:p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0.057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D73D32-54CE-4308-9D6A-24C38C4E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695700"/>
            <a:ext cx="1238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ba386aa9954a40"/>
          <a:stretch xmlns:a="http://schemas.openxmlformats.org/drawingml/2006/main"/>
        </p:blipFill>
        <p:spPr>
          <a:xfrm xmlns:a="http://schemas.openxmlformats.org/drawingml/2006/main">
            <a:off x="5457825" y="3714750"/>
            <a:ext cx="1200150" cy="12001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B19FDA-16CF-4CA4-A48A-671FB997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9720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30.57 / 0.846</a:t>
            </a:r>
          </a:p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0.111</a:t>
            </a:r>
          </a:p>
        </p:txBody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917824c98b4815"/>
          <a:stretch xmlns:a="http://schemas.openxmlformats.org/drawingml/2006/main"/>
        </p:blipFill>
        <p:spPr>
          <a:xfrm xmlns:a="http://schemas.openxmlformats.org/drawingml/2006/main">
            <a:off x="6715125" y="3714750"/>
            <a:ext cx="1200150" cy="1200150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6C94EC-4480-493F-93B5-4BE9FB18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9720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29.89 / 0.812</a:t>
            </a:r>
          </a:p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0.162</a:t>
            </a:r>
          </a:p>
        </p:txBody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e8adb20c2b41b8"/>
          <a:stretch xmlns:a="http://schemas.openxmlformats.org/drawingml/2006/main"/>
        </p:blipFill>
        <p:spPr>
          <a:xfrm xmlns:a="http://schemas.openxmlformats.org/drawingml/2006/main">
            <a:off x="7972425" y="3714750"/>
            <a:ext cx="1200150" cy="1200150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D9CEE3-B7D0-483B-B358-572C2B3C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9720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29.15 / 0.774</a:t>
            </a:r>
          </a:p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0.203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693D6C-16D9-4916-B3EE-92199850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81650"/>
            <a:ext cx="86868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0018BB-F255-40EB-A186-32EF0604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81650"/>
            <a:ext cx="868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1B42FF4-A882-40CD-AEC3-9914EDC2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610225"/>
            <a:ext cx="8439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0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rPr>
              <a:t>Observation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74D665B-2B6C-4330-8406-C5566F7D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067425"/>
            <a:ext cx="8401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80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Underestimation preserves stronger fine-scale variation. Overestimation smooths it. The metrics determine whether this is detail or residual noise.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88C3B1-7A32-4DE6-B293-7AD7BD87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753225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16A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125" b="0">
                <a:solidFill>
                  <a:srgbClr val="5B616A"/>
                </a:solidFill>
                <a:latin typeface="Roboto Condensed"/>
                <a:ea typeface="Roboto Condensed"/>
                <a:cs typeface="Roboto Condensed"/>
              </a:rPr>
              <a:t>Numbers: PSNR (dB) / SSIM, then LPIPS. Fixed examples; blue frame = correct noise. Measurement = Hᵀy.</a:t>
            </a:r>
          </a:p>
        </p:txBody>
      </p:sp>
    </p:spTree>
    <p:extLst>
      <p:ext uri="{BB962C8B-B14F-4D97-AF65-F5344CB8AC3E}">
        <p14:creationId xmlns:p14="http://schemas.microsoft.com/office/powerpoint/2010/main" val="8863033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339BD02-B6B1-405A-8AA7-3DCD6C0B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8AAE4B-E57E-456D-A522-A6DEDE29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95250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9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rPr>
              <a:t>Visual Comparison: Gaussian deblurring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DCFC39-ACAA-4E61-B6D8-A31E4BA5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057275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Ground truth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80111B-C1A9-412F-97DB-01849082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057275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Measurement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B66CC8-99F5-4D0C-9535-51EE19D5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057275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r = 0.50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F2BD57-ACD6-488C-8E6E-A5467CF8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057275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r = 0.75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FDA9A5-5116-4C6A-9596-7167156F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1057275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03EAD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350" b="1">
                <a:solidFill>
                  <a:srgbClr val="303EAD"/>
                </a:solidFill>
                <a:latin typeface="Roboto Condensed"/>
                <a:ea typeface="Roboto Condensed"/>
                <a:cs typeface="Roboto Condensed"/>
              </a:rPr>
              <a:t>r = 1.00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A332EC-B619-47F0-9287-299E211B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057275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r = 1.25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48F28F-4B6A-4C98-9558-24ED88EB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057275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r = 1.50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163D86-80CE-4C6D-9C76-387509C8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390650"/>
            <a:ext cx="857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03EAD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800" b="1">
                <a:solidFill>
                  <a:srgbClr val="303EAD"/>
                </a:solidFill>
                <a:latin typeface="Roboto Condensed"/>
                <a:ea typeface="Roboto Condensed"/>
                <a:cs typeface="Roboto Condensed"/>
              </a:rPr>
              <a:t>CelebA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0d092506dc4d05"/>
          <a:stretch xmlns:a="http://schemas.openxmlformats.org/drawingml/2006/main"/>
        </p:blipFill>
        <p:spPr>
          <a:xfrm xmlns:a="http://schemas.openxmlformats.org/drawingml/2006/main">
            <a:off x="428625" y="1685925"/>
            <a:ext cx="1200150" cy="1200150"/>
          </a:xfrm>
          <a:prstGeom xmlns:a="http://schemas.openxmlformats.org/drawingml/2006/main" prst="rect">
            <a:avLst/>
          </a:prstGeom>
        </p:spPr>
      </p:pic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8bc0758ba241d8"/>
          <a:stretch xmlns:a="http://schemas.openxmlformats.org/drawingml/2006/main"/>
        </p:blipFill>
        <p:spPr>
          <a:xfrm xmlns:a="http://schemas.openxmlformats.org/drawingml/2006/main">
            <a:off x="1685925" y="1685925"/>
            <a:ext cx="1200150" cy="1200150"/>
          </a:xfrm>
          <a:prstGeom xmlns:a="http://schemas.openxmlformats.org/drawingml/2006/main" prst="rect">
            <a:avLst/>
          </a:prstGeom>
        </p:spPr>
      </p:pic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c3da3e5cb747be"/>
          <a:stretch xmlns:a="http://schemas.openxmlformats.org/drawingml/2006/main"/>
        </p:blipFill>
        <p:spPr>
          <a:xfrm xmlns:a="http://schemas.openxmlformats.org/drawingml/2006/main">
            <a:off x="2943225" y="1685925"/>
            <a:ext cx="1200150" cy="12001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A3852C-12D2-42D5-BDFB-FF2FE875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943225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31.64 / 0.866</a:t>
            </a:r>
          </a:p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0.075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2296b7a7344a7d"/>
          <a:stretch xmlns:a="http://schemas.openxmlformats.org/drawingml/2006/main"/>
        </p:blipFill>
        <p:spPr>
          <a:xfrm xmlns:a="http://schemas.openxmlformats.org/drawingml/2006/main">
            <a:off x="4200525" y="1685925"/>
            <a:ext cx="1200150" cy="12001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7B8493-5260-4A78-ACEE-E006DC3C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943225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32.94 / 0.925</a:t>
            </a:r>
          </a:p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0.026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018E4D-F053-4534-B65F-0F80E0E5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1666875"/>
            <a:ext cx="1238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67d289ed23486e"/>
          <a:stretch xmlns:a="http://schemas.openxmlformats.org/drawingml/2006/main"/>
        </p:blipFill>
        <p:spPr>
          <a:xfrm xmlns:a="http://schemas.openxmlformats.org/drawingml/2006/main">
            <a:off x="5457825" y="1685925"/>
            <a:ext cx="1200150" cy="12001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DB69D6-E2B1-4BC7-A115-8E8A3273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943225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33.12 / 0.941</a:t>
            </a:r>
          </a:p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0.019</a:t>
            </a:r>
          </a:p>
        </p:txBody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c227a24c8e4699"/>
          <a:stretch xmlns:a="http://schemas.openxmlformats.org/drawingml/2006/main"/>
        </p:blipFill>
        <p:spPr>
          <a:xfrm xmlns:a="http://schemas.openxmlformats.org/drawingml/2006/main">
            <a:off x="6715125" y="1685925"/>
            <a:ext cx="1200150" cy="12001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DFED35-FF60-4CD5-87AA-D89FC602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43225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32.86 / 0.939</a:t>
            </a:r>
          </a:p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0.025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8c75d93ca146fe"/>
          <a:stretch xmlns:a="http://schemas.openxmlformats.org/drawingml/2006/main"/>
        </p:blipFill>
        <p:spPr>
          <a:xfrm xmlns:a="http://schemas.openxmlformats.org/drawingml/2006/main">
            <a:off x="7972425" y="1685925"/>
            <a:ext cx="1200150" cy="12001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2B57B4-C9D8-4FF3-B4DB-1DD66A82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943225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32.53 / 0.934</a:t>
            </a:r>
          </a:p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0.030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7B5ADA-28DC-4377-AE49-114C3F29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419475"/>
            <a:ext cx="857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03EAD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800" b="1">
                <a:solidFill>
                  <a:srgbClr val="303EAD"/>
                </a:solidFill>
                <a:latin typeface="Roboto Condensed"/>
                <a:ea typeface="Roboto Condensed"/>
                <a:cs typeface="Roboto Condensed"/>
              </a:rPr>
              <a:t>AFHQ-Cat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62075df9aa497c"/>
          <a:stretch xmlns:a="http://schemas.openxmlformats.org/drawingml/2006/main"/>
        </p:blipFill>
        <p:spPr>
          <a:xfrm xmlns:a="http://schemas.openxmlformats.org/drawingml/2006/main">
            <a:off x="428625" y="3714750"/>
            <a:ext cx="1200150" cy="1200150"/>
          </a:xfrm>
          <a:prstGeom xmlns:a="http://schemas.openxmlformats.org/drawingml/2006/main" prst="rect">
            <a:avLst/>
          </a:prstGeom>
        </p:spPr>
      </p:pic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eccd9578ad42f0"/>
          <a:stretch xmlns:a="http://schemas.openxmlformats.org/drawingml/2006/main"/>
        </p:blipFill>
        <p:spPr>
          <a:xfrm xmlns:a="http://schemas.openxmlformats.org/drawingml/2006/main">
            <a:off x="1685925" y="3714750"/>
            <a:ext cx="1200150" cy="1200150"/>
          </a:xfrm>
          <a:prstGeom xmlns:a="http://schemas.openxmlformats.org/drawingml/2006/main" prst="rect">
            <a:avLst/>
          </a:prstGeom>
        </p:spPr>
      </p:pic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eecce78c564479"/>
          <a:stretch xmlns:a="http://schemas.openxmlformats.org/drawingml/2006/main"/>
        </p:blipFill>
        <p:spPr>
          <a:xfrm xmlns:a="http://schemas.openxmlformats.org/drawingml/2006/main">
            <a:off x="2943225" y="3714750"/>
            <a:ext cx="1200150" cy="120015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9F4432-949E-4631-87A5-5D7FC972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9720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26.17 / 0.724</a:t>
            </a:r>
          </a:p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0.296</a:t>
            </a:r>
          </a:p>
        </p:txBody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04bd5456f24558"/>
          <a:stretch xmlns:a="http://schemas.openxmlformats.org/drawingml/2006/main"/>
        </p:blipFill>
        <p:spPr>
          <a:xfrm xmlns:a="http://schemas.openxmlformats.org/drawingml/2006/main">
            <a:off x="4200525" y="3714750"/>
            <a:ext cx="1200150" cy="120015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864DAF-2168-41EF-8610-E395D71C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9720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26.45 / 0.722</a:t>
            </a:r>
          </a:p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0.310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71F6D0-615B-475D-BC23-C207C970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695700"/>
            <a:ext cx="1238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3cd46ae1dc44a4"/>
          <a:stretch xmlns:a="http://schemas.openxmlformats.org/drawingml/2006/main"/>
        </p:blipFill>
        <p:spPr>
          <a:xfrm xmlns:a="http://schemas.openxmlformats.org/drawingml/2006/main">
            <a:off x="5457825" y="3714750"/>
            <a:ext cx="1200150" cy="12001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CBD324-640C-4630-8195-CD547D76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9720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26.52 / 0.712</a:t>
            </a:r>
          </a:p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0.326</a:t>
            </a:r>
          </a:p>
        </p:txBody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a6469e74b04c36"/>
          <a:stretch xmlns:a="http://schemas.openxmlformats.org/drawingml/2006/main"/>
        </p:blipFill>
        <p:spPr>
          <a:xfrm xmlns:a="http://schemas.openxmlformats.org/drawingml/2006/main">
            <a:off x="6715125" y="3714750"/>
            <a:ext cx="1200150" cy="1200150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E2C297-EB19-445E-89C4-E82FCBE9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9720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26.34 / 0.699</a:t>
            </a:r>
          </a:p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0.339</a:t>
            </a:r>
          </a:p>
        </p:txBody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b655f995884b67"/>
          <a:stretch xmlns:a="http://schemas.openxmlformats.org/drawingml/2006/main"/>
        </p:blipFill>
        <p:spPr>
          <a:xfrm xmlns:a="http://schemas.openxmlformats.org/drawingml/2006/main">
            <a:off x="7972425" y="3714750"/>
            <a:ext cx="1200150" cy="1200150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2561A3-BF2E-436B-B037-AC63EC4F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9720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26.10 / 0.685</a:t>
            </a:r>
          </a:p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0.346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37B827-D0B0-4C34-BA4F-92A1CA47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81650"/>
            <a:ext cx="86868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852514-6187-41E9-A2FD-4619AEB2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81650"/>
            <a:ext cx="868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AD2A1D4-3656-4451-BC8C-8E60AFC6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610225"/>
            <a:ext cx="8439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0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rPr>
              <a:t>Observation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3CCBD25-5BFF-44DB-A99E-579EE7FE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067425"/>
            <a:ext cx="8401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80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The two datasets respond differently to underestimation. Kernel width and image content differ between them.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6E3FD3-CA3E-443E-A9FB-7012639B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753225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16A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125" b="0">
                <a:solidFill>
                  <a:srgbClr val="5B616A"/>
                </a:solidFill>
                <a:latin typeface="Roboto Condensed"/>
                <a:ea typeface="Roboto Condensed"/>
                <a:cs typeface="Roboto Condensed"/>
              </a:rPr>
              <a:t>Numbers: PSNR (dB) / SSIM, then LPIPS. Fixed examples; blue frame = correct noise. Measurement = Hᵀy.</a:t>
            </a:r>
          </a:p>
        </p:txBody>
      </p:sp>
    </p:spTree>
    <p:extLst>
      <p:ext uri="{BB962C8B-B14F-4D97-AF65-F5344CB8AC3E}">
        <p14:creationId xmlns:p14="http://schemas.microsoft.com/office/powerpoint/2010/main" val="12577147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DD7A873-5579-4E7C-BEB0-AE07BA61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A5AA46-931F-4F78-90C6-5CDA1A80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95250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9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rPr>
              <a:t>Visual Comparison: Super-resolution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B7BE63-C32D-4EAB-8B2C-614B458D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057275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Ground truth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AF867E-0277-4AC4-A3C4-02153F70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057275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Measurement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D05351-5B58-4140-A019-BCCD1527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057275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r = 0.50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B7684A-CCE6-4E21-B4EE-218E6510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057275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r = 0.75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B5CC2C-94BD-42B1-84D6-4B8DEB51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1057275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03EAD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350" b="1">
                <a:solidFill>
                  <a:srgbClr val="303EAD"/>
                </a:solidFill>
                <a:latin typeface="Roboto Condensed"/>
                <a:ea typeface="Roboto Condensed"/>
                <a:cs typeface="Roboto Condensed"/>
              </a:rPr>
              <a:t>r = 1.00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AE95EF-A98F-4EAF-8FE9-99F4184C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057275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r = 1.25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3134CE-84E4-4E3C-9306-ADBB5926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057275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r = 1.50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2A8D57-4265-4E38-A533-104510EF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390650"/>
            <a:ext cx="857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03EAD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800" b="1">
                <a:solidFill>
                  <a:srgbClr val="303EAD"/>
                </a:solidFill>
                <a:latin typeface="Roboto Condensed"/>
                <a:ea typeface="Roboto Condensed"/>
                <a:cs typeface="Roboto Condensed"/>
              </a:rPr>
              <a:t>CelebA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3b038b67524f49"/>
          <a:stretch xmlns:a="http://schemas.openxmlformats.org/drawingml/2006/main"/>
        </p:blipFill>
        <p:spPr>
          <a:xfrm xmlns:a="http://schemas.openxmlformats.org/drawingml/2006/main">
            <a:off x="428625" y="1685925"/>
            <a:ext cx="1200150" cy="1200150"/>
          </a:xfrm>
          <a:prstGeom xmlns:a="http://schemas.openxmlformats.org/drawingml/2006/main" prst="rect">
            <a:avLst/>
          </a:prstGeom>
        </p:spPr>
      </p:pic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459204bc444bc3"/>
          <a:stretch xmlns:a="http://schemas.openxmlformats.org/drawingml/2006/main"/>
        </p:blipFill>
        <p:spPr>
          <a:xfrm xmlns:a="http://schemas.openxmlformats.org/drawingml/2006/main">
            <a:off x="1685925" y="1685925"/>
            <a:ext cx="1200150" cy="1200150"/>
          </a:xfrm>
          <a:prstGeom xmlns:a="http://schemas.openxmlformats.org/drawingml/2006/main" prst="rect">
            <a:avLst/>
          </a:prstGeom>
        </p:spPr>
      </p:pic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5231976f7b411b"/>
          <a:stretch xmlns:a="http://schemas.openxmlformats.org/drawingml/2006/main"/>
        </p:blipFill>
        <p:spPr>
          <a:xfrm xmlns:a="http://schemas.openxmlformats.org/drawingml/2006/main">
            <a:off x="2943225" y="1685925"/>
            <a:ext cx="1200150" cy="12001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C86195-9373-4D0F-B3BE-3017A87B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943225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31.34 / 0.921</a:t>
            </a:r>
          </a:p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0.016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cf93df5cd54c8d"/>
          <a:stretch xmlns:a="http://schemas.openxmlformats.org/drawingml/2006/main"/>
        </p:blipFill>
        <p:spPr>
          <a:xfrm xmlns:a="http://schemas.openxmlformats.org/drawingml/2006/main">
            <a:off x="4200525" y="1685925"/>
            <a:ext cx="1200150" cy="12001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989F2C-B1A7-4ADC-B5C6-81F442C4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943225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31.29 / 0.924</a:t>
            </a:r>
          </a:p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0.018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511E9D-22E7-4882-8100-158841A9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1666875"/>
            <a:ext cx="1238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19feba10534547"/>
          <a:stretch xmlns:a="http://schemas.openxmlformats.org/drawingml/2006/main"/>
        </p:blipFill>
        <p:spPr>
          <a:xfrm xmlns:a="http://schemas.openxmlformats.org/drawingml/2006/main">
            <a:off x="5457825" y="1685925"/>
            <a:ext cx="1200150" cy="12001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1E6910-650D-4D42-B4F9-97731D1B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943225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31.13 / 0.922</a:t>
            </a:r>
          </a:p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0.022</a:t>
            </a:r>
          </a:p>
        </p:txBody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d0f53b98c042c4"/>
          <a:stretch xmlns:a="http://schemas.openxmlformats.org/drawingml/2006/main"/>
        </p:blipFill>
        <p:spPr>
          <a:xfrm xmlns:a="http://schemas.openxmlformats.org/drawingml/2006/main">
            <a:off x="6715125" y="1685925"/>
            <a:ext cx="1200150" cy="12001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1030E1-1620-4D1F-A5E7-F5E702FC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43225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30.90 / 0.917</a:t>
            </a:r>
          </a:p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0.026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1cdee7d3464b51"/>
          <a:stretch xmlns:a="http://schemas.openxmlformats.org/drawingml/2006/main"/>
        </p:blipFill>
        <p:spPr>
          <a:xfrm xmlns:a="http://schemas.openxmlformats.org/drawingml/2006/main">
            <a:off x="7972425" y="1685925"/>
            <a:ext cx="1200150" cy="12001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E7042A-DF8F-432B-9F6E-BB35F2DD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943225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30.64 / 0.911</a:t>
            </a:r>
          </a:p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0.030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8031C6-CCD3-46FF-BE78-C2DA2A5E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419475"/>
            <a:ext cx="857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03EAD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800" b="1">
                <a:solidFill>
                  <a:srgbClr val="303EAD"/>
                </a:solidFill>
                <a:latin typeface="Roboto Condensed"/>
                <a:ea typeface="Roboto Condensed"/>
                <a:cs typeface="Roboto Condensed"/>
              </a:rPr>
              <a:t>AFHQ-Cat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662ead35b84316"/>
          <a:stretch xmlns:a="http://schemas.openxmlformats.org/drawingml/2006/main"/>
        </p:blipFill>
        <p:spPr>
          <a:xfrm xmlns:a="http://schemas.openxmlformats.org/drawingml/2006/main">
            <a:off x="428625" y="3714750"/>
            <a:ext cx="1200150" cy="1200150"/>
          </a:xfrm>
          <a:prstGeom xmlns:a="http://schemas.openxmlformats.org/drawingml/2006/main" prst="rect">
            <a:avLst/>
          </a:prstGeom>
        </p:spPr>
      </p:pic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46936e649e49a1"/>
          <a:stretch xmlns:a="http://schemas.openxmlformats.org/drawingml/2006/main"/>
        </p:blipFill>
        <p:spPr>
          <a:xfrm xmlns:a="http://schemas.openxmlformats.org/drawingml/2006/main">
            <a:off x="1685925" y="3714750"/>
            <a:ext cx="1200150" cy="1200150"/>
          </a:xfrm>
          <a:prstGeom xmlns:a="http://schemas.openxmlformats.org/drawingml/2006/main" prst="rect">
            <a:avLst/>
          </a:prstGeom>
        </p:spPr>
      </p:pic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04572331364995"/>
          <a:stretch xmlns:a="http://schemas.openxmlformats.org/drawingml/2006/main"/>
        </p:blipFill>
        <p:spPr>
          <a:xfrm xmlns:a="http://schemas.openxmlformats.org/drawingml/2006/main">
            <a:off x="2943225" y="3714750"/>
            <a:ext cx="1200150" cy="120015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47D568-EF83-4CEE-8CC0-E03AE6AA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9720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25.57 / 0.663</a:t>
            </a:r>
          </a:p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0.247</a:t>
            </a:r>
          </a:p>
        </p:txBody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0ca777480a4b64"/>
          <a:stretch xmlns:a="http://schemas.openxmlformats.org/drawingml/2006/main"/>
        </p:blipFill>
        <p:spPr>
          <a:xfrm xmlns:a="http://schemas.openxmlformats.org/drawingml/2006/main">
            <a:off x="4200525" y="3714750"/>
            <a:ext cx="1200150" cy="120015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E4FE43-D044-4F6E-929F-464B13E5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9720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25.46 / 0.643</a:t>
            </a:r>
          </a:p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0.271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951639-6EB9-47D5-B710-E3245FE4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695700"/>
            <a:ext cx="1238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1b3bf86afe4db2"/>
          <a:stretch xmlns:a="http://schemas.openxmlformats.org/drawingml/2006/main"/>
        </p:blipFill>
        <p:spPr>
          <a:xfrm xmlns:a="http://schemas.openxmlformats.org/drawingml/2006/main">
            <a:off x="5457825" y="3714750"/>
            <a:ext cx="1200150" cy="12001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D08922-0DE3-4772-A62D-C84BF8DE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9720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25.33 / 0.624</a:t>
            </a:r>
          </a:p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0.292</a:t>
            </a:r>
          </a:p>
        </p:txBody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136c6f00b14418"/>
          <a:stretch xmlns:a="http://schemas.openxmlformats.org/drawingml/2006/main"/>
        </p:blipFill>
        <p:spPr>
          <a:xfrm xmlns:a="http://schemas.openxmlformats.org/drawingml/2006/main">
            <a:off x="6715125" y="3714750"/>
            <a:ext cx="1200150" cy="1200150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D4B3E5-F807-4EDF-8399-62D7DE5F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9720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25.16 / 0.606</a:t>
            </a:r>
          </a:p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0.308</a:t>
            </a:r>
          </a:p>
        </p:txBody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a8ab7790214e29"/>
          <a:stretch xmlns:a="http://schemas.openxmlformats.org/drawingml/2006/main"/>
        </p:blipFill>
        <p:spPr>
          <a:xfrm xmlns:a="http://schemas.openxmlformats.org/drawingml/2006/main">
            <a:off x="7972425" y="3714750"/>
            <a:ext cx="1200150" cy="1200150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D7ED46-5F71-4377-9C1D-D82DEDCA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9720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24.97 / 0.590</a:t>
            </a:r>
          </a:p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0.324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12C884-B81C-4481-BA5F-CA497DFF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81650"/>
            <a:ext cx="86868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C36AEE8-ED3A-4641-9770-12A99A5B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81650"/>
            <a:ext cx="868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578917-FCDA-452D-9283-3C6E83E6E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610225"/>
            <a:ext cx="8439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0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rPr>
              <a:t>Observation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7F88B8E-9594-4A97-84C4-6C86DCE3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067425"/>
            <a:ext cx="8401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80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Both datasets gain PSNR and SSIM and reduce LPIPS at r = 0.50 in the 20-image average.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CEA5E8-1B18-4E98-8503-16F2C97C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753225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16A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125" b="0">
                <a:solidFill>
                  <a:srgbClr val="5B616A"/>
                </a:solidFill>
                <a:latin typeface="Roboto Condensed"/>
                <a:ea typeface="Roboto Condensed"/>
                <a:cs typeface="Roboto Condensed"/>
              </a:rPr>
              <a:t>Numbers: PSNR (dB) / SSIM, then LPIPS. Fixed examples; blue frame = correct noise. Measurement = Hᵀy.</a:t>
            </a:r>
          </a:p>
        </p:txBody>
      </p:sp>
    </p:spTree>
    <p:extLst>
      <p:ext uri="{BB962C8B-B14F-4D97-AF65-F5344CB8AC3E}">
        <p14:creationId xmlns:p14="http://schemas.microsoft.com/office/powerpoint/2010/main" val="60010796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94A9EBD-2F5A-468C-ACFD-EEF38047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A2C1CB-0C38-446E-B32B-7D622146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95250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9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rPr>
              <a:t>Visual Comparison: Random inpainting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CDC44C-2B78-48E4-B77C-122C6017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057275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Ground truth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2269F6-5DCB-4EF9-8A66-FF11AE50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057275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Measurement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AD37C7-95E2-41A2-A2C5-65449124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057275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r = 0.50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55065A-C3D1-475C-B420-3F858C48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057275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r = 0.75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0C46DF-67C6-49BB-AB44-FFFE1777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1057275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03EAD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350" b="1">
                <a:solidFill>
                  <a:srgbClr val="303EAD"/>
                </a:solidFill>
                <a:latin typeface="Roboto Condensed"/>
                <a:ea typeface="Roboto Condensed"/>
                <a:cs typeface="Roboto Condensed"/>
              </a:rPr>
              <a:t>r = 1.00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DA0768-8E53-41A8-9162-A371F70E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057275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r = 1.25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607733-2A6D-4B3E-A7AF-DD107B53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057275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r = 1.50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2F44B5-7897-4111-8649-2C97E66F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390650"/>
            <a:ext cx="857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03EAD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800" b="1">
                <a:solidFill>
                  <a:srgbClr val="303EAD"/>
                </a:solidFill>
                <a:latin typeface="Roboto Condensed"/>
                <a:ea typeface="Roboto Condensed"/>
                <a:cs typeface="Roboto Condensed"/>
              </a:rPr>
              <a:t>CelebA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d1b16a997f4034"/>
          <a:stretch xmlns:a="http://schemas.openxmlformats.org/drawingml/2006/main"/>
        </p:blipFill>
        <p:spPr>
          <a:xfrm xmlns:a="http://schemas.openxmlformats.org/drawingml/2006/main">
            <a:off x="428625" y="1685925"/>
            <a:ext cx="1200150" cy="1200150"/>
          </a:xfrm>
          <a:prstGeom xmlns:a="http://schemas.openxmlformats.org/drawingml/2006/main" prst="rect">
            <a:avLst/>
          </a:prstGeom>
        </p:spPr>
      </p:pic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c88983def34340"/>
          <a:stretch xmlns:a="http://schemas.openxmlformats.org/drawingml/2006/main"/>
        </p:blipFill>
        <p:spPr>
          <a:xfrm xmlns:a="http://schemas.openxmlformats.org/drawingml/2006/main">
            <a:off x="1685925" y="1685925"/>
            <a:ext cx="1200150" cy="1200150"/>
          </a:xfrm>
          <a:prstGeom xmlns:a="http://schemas.openxmlformats.org/drawingml/2006/main" prst="rect">
            <a:avLst/>
          </a:prstGeom>
        </p:spPr>
      </p:pic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0d9abe011f410d"/>
          <a:stretch xmlns:a="http://schemas.openxmlformats.org/drawingml/2006/main"/>
        </p:blipFill>
        <p:spPr>
          <a:xfrm xmlns:a="http://schemas.openxmlformats.org/drawingml/2006/main">
            <a:off x="2943225" y="1685925"/>
            <a:ext cx="1200150" cy="12001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6B34AB-3C07-47ED-87F2-8F07DD35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943225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32.06 / 0.939</a:t>
            </a:r>
          </a:p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0.014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fb4f2aee154c06"/>
          <a:stretch xmlns:a="http://schemas.openxmlformats.org/drawingml/2006/main"/>
        </p:blipFill>
        <p:spPr>
          <a:xfrm xmlns:a="http://schemas.openxmlformats.org/drawingml/2006/main">
            <a:off x="4200525" y="1685925"/>
            <a:ext cx="1200150" cy="12001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CB9485-F938-43C7-8A5D-18CBD973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943225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32.06 / 0.939</a:t>
            </a:r>
          </a:p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0.014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777309-A78C-4788-9692-E4E5F422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1666875"/>
            <a:ext cx="1238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b54af765164731"/>
          <a:stretch xmlns:a="http://schemas.openxmlformats.org/drawingml/2006/main"/>
        </p:blipFill>
        <p:spPr>
          <a:xfrm xmlns:a="http://schemas.openxmlformats.org/drawingml/2006/main">
            <a:off x="5457825" y="1685925"/>
            <a:ext cx="1200150" cy="12001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94F262-8B67-43F2-A508-A45CB3A5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943225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32.05 / 0.940</a:t>
            </a:r>
          </a:p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0.015</a:t>
            </a:r>
          </a:p>
        </p:txBody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0fe488ee8b471b"/>
          <a:stretch xmlns:a="http://schemas.openxmlformats.org/drawingml/2006/main"/>
        </p:blipFill>
        <p:spPr>
          <a:xfrm xmlns:a="http://schemas.openxmlformats.org/drawingml/2006/main">
            <a:off x="6715125" y="1685925"/>
            <a:ext cx="1200150" cy="12001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7674C2-35A8-4EC1-8685-70CA619E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43225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32.04 / 0.940</a:t>
            </a:r>
          </a:p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0.015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e28cb8cc154652"/>
          <a:stretch xmlns:a="http://schemas.openxmlformats.org/drawingml/2006/main"/>
        </p:blipFill>
        <p:spPr>
          <a:xfrm xmlns:a="http://schemas.openxmlformats.org/drawingml/2006/main">
            <a:off x="7972425" y="1685925"/>
            <a:ext cx="1200150" cy="12001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E2CCDB-7FC6-4EA6-BAE2-84936458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943225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32.03 / 0.939</a:t>
            </a:r>
          </a:p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0.015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F7474A-C511-4E07-AEF7-37492285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419475"/>
            <a:ext cx="857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03EAD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800" b="1">
                <a:solidFill>
                  <a:srgbClr val="303EAD"/>
                </a:solidFill>
                <a:latin typeface="Roboto Condensed"/>
                <a:ea typeface="Roboto Condensed"/>
                <a:cs typeface="Roboto Condensed"/>
              </a:rPr>
              <a:t>AFHQ-Cat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4e72b45785488e"/>
          <a:stretch xmlns:a="http://schemas.openxmlformats.org/drawingml/2006/main"/>
        </p:blipFill>
        <p:spPr>
          <a:xfrm xmlns:a="http://schemas.openxmlformats.org/drawingml/2006/main">
            <a:off x="428625" y="3714750"/>
            <a:ext cx="1200150" cy="1200150"/>
          </a:xfrm>
          <a:prstGeom xmlns:a="http://schemas.openxmlformats.org/drawingml/2006/main" prst="rect">
            <a:avLst/>
          </a:prstGeom>
        </p:spPr>
      </p:pic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dee0d55b47425a"/>
          <a:stretch xmlns:a="http://schemas.openxmlformats.org/drawingml/2006/main"/>
        </p:blipFill>
        <p:spPr>
          <a:xfrm xmlns:a="http://schemas.openxmlformats.org/drawingml/2006/main">
            <a:off x="1685925" y="3714750"/>
            <a:ext cx="1200150" cy="1200150"/>
          </a:xfrm>
          <a:prstGeom xmlns:a="http://schemas.openxmlformats.org/drawingml/2006/main" prst="rect">
            <a:avLst/>
          </a:prstGeom>
        </p:spPr>
      </p:pic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882ecf18e64cfe"/>
          <a:stretch xmlns:a="http://schemas.openxmlformats.org/drawingml/2006/main"/>
        </p:blipFill>
        <p:spPr>
          <a:xfrm xmlns:a="http://schemas.openxmlformats.org/drawingml/2006/main">
            <a:off x="2943225" y="3714750"/>
            <a:ext cx="1200150" cy="120015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970A53-FD48-4D51-99CF-82A5AAB2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9720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30.58 / 0.892</a:t>
            </a:r>
          </a:p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0.049</a:t>
            </a:r>
          </a:p>
        </p:txBody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c6a49c33344e02"/>
          <a:stretch xmlns:a="http://schemas.openxmlformats.org/drawingml/2006/main"/>
        </p:blipFill>
        <p:spPr>
          <a:xfrm xmlns:a="http://schemas.openxmlformats.org/drawingml/2006/main">
            <a:off x="4200525" y="3714750"/>
            <a:ext cx="1200150" cy="120015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7206BA-3BEC-4DBF-9256-C80B1F62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9720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30.57 / 0.892</a:t>
            </a:r>
          </a:p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0.051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A68030-F4F8-4622-A8F5-E3A2C422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695700"/>
            <a:ext cx="1238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ad580da25e4fe1"/>
          <a:stretch xmlns:a="http://schemas.openxmlformats.org/drawingml/2006/main"/>
        </p:blipFill>
        <p:spPr>
          <a:xfrm xmlns:a="http://schemas.openxmlformats.org/drawingml/2006/main">
            <a:off x="5457825" y="3714750"/>
            <a:ext cx="1200150" cy="12001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5CED21-AD31-44E4-891A-3E6A247B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9720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30.57 / 0.891</a:t>
            </a:r>
          </a:p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0.052</a:t>
            </a:r>
          </a:p>
        </p:txBody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246c86489a42c9"/>
          <a:stretch xmlns:a="http://schemas.openxmlformats.org/drawingml/2006/main"/>
        </p:blipFill>
        <p:spPr>
          <a:xfrm xmlns:a="http://schemas.openxmlformats.org/drawingml/2006/main">
            <a:off x="6715125" y="3714750"/>
            <a:ext cx="1200150" cy="1200150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1FB7FB-E698-4E0C-AFB5-48E6751B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9720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30.56 / 0.890</a:t>
            </a:r>
          </a:p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0.054</a:t>
            </a:r>
          </a:p>
        </p:txBody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a3af3355c842e3"/>
          <a:stretch xmlns:a="http://schemas.openxmlformats.org/drawingml/2006/main"/>
        </p:blipFill>
        <p:spPr>
          <a:xfrm xmlns:a="http://schemas.openxmlformats.org/drawingml/2006/main">
            <a:off x="7972425" y="3714750"/>
            <a:ext cx="1200150" cy="1200150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594C58-8DA8-4506-A69E-D9647C6C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9720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30.54 / 0.888</a:t>
            </a:r>
          </a:p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0.057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9DB230-D247-4F5B-AF24-5DDA7C56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81650"/>
            <a:ext cx="86868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DE59CE-B262-4A90-8278-5BC7AE12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81650"/>
            <a:ext cx="868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4BAD506-9FE2-40F2-BBB9-3E6F86D5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610225"/>
            <a:ext cx="8439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0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rPr>
              <a:t>Observation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3032904-099B-4B16-A1D5-82421CFE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067425"/>
            <a:ext cx="8401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80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The reconstruction changes only slightly over this range. This task also has the smallest true noise level, σ = 0.01.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1914B5A-0AE3-4C6E-BFD3-800D372C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753225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16A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125" b="0">
                <a:solidFill>
                  <a:srgbClr val="5B616A"/>
                </a:solidFill>
                <a:latin typeface="Roboto Condensed"/>
                <a:ea typeface="Roboto Condensed"/>
                <a:cs typeface="Roboto Condensed"/>
              </a:rPr>
              <a:t>Numbers: PSNR (dB) / SSIM, then LPIPS. Fixed examples; blue frame = correct noise. Measurement = Hᵀy.</a:t>
            </a:r>
          </a:p>
        </p:txBody>
      </p:sp>
    </p:spTree>
    <p:extLst>
      <p:ext uri="{BB962C8B-B14F-4D97-AF65-F5344CB8AC3E}">
        <p14:creationId xmlns:p14="http://schemas.microsoft.com/office/powerpoint/2010/main" val="183531008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28CA84-F039-4088-8F26-D6DF58E5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1FD0CC-8EB9-4DA4-AE4C-B57F26F3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95250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9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rPr>
              <a:t>Visual Comparison: Box inpainting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9720D2-C0DF-40AF-B592-15B3E23F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057275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Ground truth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BB3964-BA21-4C1D-8533-80345C52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057275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Measurement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0809B9-32E7-492F-AA11-77F680ED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057275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r = 0.50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7ADE41-A48E-46B9-A7EA-F2AC08CD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057275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r = 0.75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ABB77D-522D-4277-B0CC-ACAF46E3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1057275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03EAD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350" b="1">
                <a:solidFill>
                  <a:srgbClr val="303EAD"/>
                </a:solidFill>
                <a:latin typeface="Roboto Condensed"/>
                <a:ea typeface="Roboto Condensed"/>
                <a:cs typeface="Roboto Condensed"/>
              </a:rPr>
              <a:t>r = 1.00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C5FB3F-7FE6-4698-8C4E-C995F894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057275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r = 1.25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6F3C4D-C9AF-4984-8E3C-8B90CA2B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057275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3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r = 1.50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883BE3-C1CE-477A-853D-DD936E7F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390650"/>
            <a:ext cx="857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03EAD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800" b="1">
                <a:solidFill>
                  <a:srgbClr val="303EAD"/>
                </a:solidFill>
                <a:latin typeface="Roboto Condensed"/>
                <a:ea typeface="Roboto Condensed"/>
                <a:cs typeface="Roboto Condensed"/>
              </a:rPr>
              <a:t>CelebA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346b9b78d94566"/>
          <a:stretch xmlns:a="http://schemas.openxmlformats.org/drawingml/2006/main"/>
        </p:blipFill>
        <p:spPr>
          <a:xfrm xmlns:a="http://schemas.openxmlformats.org/drawingml/2006/main">
            <a:off x="428625" y="1685925"/>
            <a:ext cx="1200150" cy="1200150"/>
          </a:xfrm>
          <a:prstGeom xmlns:a="http://schemas.openxmlformats.org/drawingml/2006/main" prst="rect">
            <a:avLst/>
          </a:prstGeom>
        </p:spPr>
      </p:pic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f3264981c149fe"/>
          <a:stretch xmlns:a="http://schemas.openxmlformats.org/drawingml/2006/main"/>
        </p:blipFill>
        <p:spPr>
          <a:xfrm xmlns:a="http://schemas.openxmlformats.org/drawingml/2006/main">
            <a:off x="1685925" y="1685925"/>
            <a:ext cx="1200150" cy="1200150"/>
          </a:xfrm>
          <a:prstGeom xmlns:a="http://schemas.openxmlformats.org/drawingml/2006/main" prst="rect">
            <a:avLst/>
          </a:prstGeom>
        </p:spPr>
      </p:pic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e75b317e8a407e"/>
          <a:stretch xmlns:a="http://schemas.openxmlformats.org/drawingml/2006/main"/>
        </p:blipFill>
        <p:spPr>
          <a:xfrm xmlns:a="http://schemas.openxmlformats.org/drawingml/2006/main">
            <a:off x="2943225" y="1685925"/>
            <a:ext cx="1200150" cy="12001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BB0B0B-D3AA-4CE3-AFC4-EBD44CD2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943225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31.40 / 0.905</a:t>
            </a:r>
          </a:p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0.044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ac8e9df0244aea"/>
          <a:stretch xmlns:a="http://schemas.openxmlformats.org/drawingml/2006/main"/>
        </p:blipFill>
        <p:spPr>
          <a:xfrm xmlns:a="http://schemas.openxmlformats.org/drawingml/2006/main">
            <a:off x="4200525" y="1685925"/>
            <a:ext cx="1200150" cy="12001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2DBA9B-01D5-4244-8814-22FB9697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943225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31.97 / 0.939</a:t>
            </a:r>
          </a:p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0.029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BB9072-E588-42E3-AD0E-FFB31A38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1666875"/>
            <a:ext cx="1238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ac925989334977"/>
          <a:stretch xmlns:a="http://schemas.openxmlformats.org/drawingml/2006/main"/>
        </p:blipFill>
        <p:spPr>
          <a:xfrm xmlns:a="http://schemas.openxmlformats.org/drawingml/2006/main">
            <a:off x="5457825" y="1685925"/>
            <a:ext cx="1200150" cy="12001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48275B-B1A6-4295-94A0-3CB4EF72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943225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32.18 / 0.958</a:t>
            </a:r>
          </a:p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0.012</a:t>
            </a:r>
          </a:p>
        </p:txBody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13d4d350a44d16"/>
          <a:stretch xmlns:a="http://schemas.openxmlformats.org/drawingml/2006/main"/>
        </p:blipFill>
        <p:spPr>
          <a:xfrm xmlns:a="http://schemas.openxmlformats.org/drawingml/2006/main">
            <a:off x="6715125" y="1685925"/>
            <a:ext cx="1200150" cy="12001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19870F-CCB0-48CC-8408-C70A713C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43225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32.10 / 0.959</a:t>
            </a:r>
          </a:p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0.014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c957de0ee745a4"/>
          <a:stretch xmlns:a="http://schemas.openxmlformats.org/drawingml/2006/main"/>
        </p:blipFill>
        <p:spPr>
          <a:xfrm xmlns:a="http://schemas.openxmlformats.org/drawingml/2006/main">
            <a:off x="7972425" y="1685925"/>
            <a:ext cx="1200150" cy="12001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D1F24E-B123-4748-87C9-AE152AE0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943225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31.95 / 0.958</a:t>
            </a:r>
          </a:p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0.016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1E06AF-2672-482A-B5C3-1D4EAB35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419475"/>
            <a:ext cx="857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03EAD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800" b="1">
                <a:solidFill>
                  <a:srgbClr val="303EAD"/>
                </a:solidFill>
                <a:latin typeface="Roboto Condensed"/>
                <a:ea typeface="Roboto Condensed"/>
                <a:cs typeface="Roboto Condensed"/>
              </a:rPr>
              <a:t>AFHQ-Cat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0dab39e8024ef7"/>
          <a:stretch xmlns:a="http://schemas.openxmlformats.org/drawingml/2006/main"/>
        </p:blipFill>
        <p:spPr>
          <a:xfrm xmlns:a="http://schemas.openxmlformats.org/drawingml/2006/main">
            <a:off x="428625" y="3714750"/>
            <a:ext cx="1200150" cy="1200150"/>
          </a:xfrm>
          <a:prstGeom xmlns:a="http://schemas.openxmlformats.org/drawingml/2006/main" prst="rect">
            <a:avLst/>
          </a:prstGeom>
        </p:spPr>
      </p:pic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143b119b5a4a82"/>
          <a:stretch xmlns:a="http://schemas.openxmlformats.org/drawingml/2006/main"/>
        </p:blipFill>
        <p:spPr>
          <a:xfrm xmlns:a="http://schemas.openxmlformats.org/drawingml/2006/main">
            <a:off x="1685925" y="3714750"/>
            <a:ext cx="1200150" cy="1200150"/>
          </a:xfrm>
          <a:prstGeom xmlns:a="http://schemas.openxmlformats.org/drawingml/2006/main" prst="rect">
            <a:avLst/>
          </a:prstGeom>
        </p:spPr>
      </p:pic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634e73f3f44336"/>
          <a:stretch xmlns:a="http://schemas.openxmlformats.org/drawingml/2006/main"/>
        </p:blipFill>
        <p:spPr>
          <a:xfrm xmlns:a="http://schemas.openxmlformats.org/drawingml/2006/main">
            <a:off x="2943225" y="3714750"/>
            <a:ext cx="1200150" cy="120015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177192-B0F2-4E1A-AD59-7439827A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9720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23.82 / 0.855</a:t>
            </a:r>
          </a:p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0.081</a:t>
            </a:r>
          </a:p>
        </p:txBody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ff61c3128e4789"/>
          <a:stretch xmlns:a="http://schemas.openxmlformats.org/drawingml/2006/main"/>
        </p:blipFill>
        <p:spPr>
          <a:xfrm xmlns:a="http://schemas.openxmlformats.org/drawingml/2006/main">
            <a:off x="4200525" y="3714750"/>
            <a:ext cx="1200150" cy="120015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8C2712-9658-4B50-BFE9-086DB72E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9720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23.89 / 0.886</a:t>
            </a:r>
          </a:p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0.077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A6F8B2-6230-4204-BCA3-7197C761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695700"/>
            <a:ext cx="1238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6af4c23c324509"/>
          <a:stretch xmlns:a="http://schemas.openxmlformats.org/drawingml/2006/main"/>
        </p:blipFill>
        <p:spPr>
          <a:xfrm xmlns:a="http://schemas.openxmlformats.org/drawingml/2006/main">
            <a:off x="5457825" y="3714750"/>
            <a:ext cx="1200150" cy="12001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E0DE45-219D-47E9-B578-62328A83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9720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23.90 / 0.895</a:t>
            </a:r>
          </a:p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0.079</a:t>
            </a:r>
          </a:p>
        </p:txBody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0ef454092f45cd"/>
          <a:stretch xmlns:a="http://schemas.openxmlformats.org/drawingml/2006/main"/>
        </p:blipFill>
        <p:spPr>
          <a:xfrm xmlns:a="http://schemas.openxmlformats.org/drawingml/2006/main">
            <a:off x="6715125" y="3714750"/>
            <a:ext cx="1200150" cy="1200150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F6B4BC-8EAC-40C6-A818-F8C939F5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9720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23.88 / 0.893</a:t>
            </a:r>
          </a:p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0.085</a:t>
            </a:r>
          </a:p>
        </p:txBody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47f6ddb7b7439c"/>
          <a:stretch xmlns:a="http://schemas.openxmlformats.org/drawingml/2006/main"/>
        </p:blipFill>
        <p:spPr>
          <a:xfrm xmlns:a="http://schemas.openxmlformats.org/drawingml/2006/main">
            <a:off x="7972425" y="3714750"/>
            <a:ext cx="1200150" cy="1200150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3C6F83-4649-47CA-9CDD-DAF5C799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9720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23.86 / 0.887</a:t>
            </a:r>
          </a:p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2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0.094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6A9D5C-533F-491B-B180-DD8F3914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81650"/>
            <a:ext cx="86868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B92DE07-A953-421B-A920-33BC9BA1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81650"/>
            <a:ext cx="868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201096-EA79-44E5-B96A-85724168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610225"/>
            <a:ext cx="8439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0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rPr>
              <a:t>Observation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D2A736-A1CD-4831-BC1A-7262A6BD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067425"/>
            <a:ext cx="8401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80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The data term acts on observed pixels. The prior supplies the missing central region, and later iterations couple both regions.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4253041-B8AA-456A-8D69-937313BE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753225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16A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125" b="0">
                <a:solidFill>
                  <a:srgbClr val="5B616A"/>
                </a:solidFill>
                <a:latin typeface="Roboto Condensed"/>
                <a:ea typeface="Roboto Condensed"/>
                <a:cs typeface="Roboto Condensed"/>
              </a:rPr>
              <a:t>Numbers: PSNR (dB) / SSIM, then LPIPS. Fixed examples; blue frame = correct noise. Measurement = Hᵀy.</a:t>
            </a:r>
          </a:p>
        </p:txBody>
      </p:sp>
    </p:spTree>
    <p:extLst>
      <p:ext uri="{BB962C8B-B14F-4D97-AF65-F5344CB8AC3E}">
        <p14:creationId xmlns:p14="http://schemas.microsoft.com/office/powerpoint/2010/main" val="13600372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1648AA-A9DC-4FDC-B3D7-BCD7E926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B277C0-E999-482B-845E-58F8A20D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95250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9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rPr>
              <a:t>How Mismatch Changes the Trajectory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68853F-C8CF-4343-BED2-23A61565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933450"/>
            <a:ext cx="866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B616A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950" b="0">
                <a:solidFill>
                  <a:srgbClr val="5B616A"/>
                </a:solidFill>
                <a:latin typeface="Roboto Condensed"/>
                <a:ea typeface="Roboto Condensed"/>
                <a:cs typeface="Roboto Condensed"/>
              </a:rPr>
              <a:t>CelebA denoising, image 182734.jpg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FF7382-99CF-46FB-AFA5-E5FD4CB1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362075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303EAD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800" b="0">
                <a:solidFill>
                  <a:srgbClr val="303EAD"/>
                </a:solidFill>
                <a:latin typeface="Roboto Condensed"/>
                <a:ea typeface="Roboto Condensed"/>
                <a:cs typeface="Roboto Condensed"/>
              </a:rPr>
              <a:t>Flow time 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1808F1-33C7-4721-AB43-C840E510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95450"/>
            <a:ext cx="1362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6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t = 0.2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FCB308-C3CB-4B05-8B4D-EFED793F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695450"/>
            <a:ext cx="1362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6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t = 0.4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631D8C-19BF-4653-A51C-17774FA0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95450"/>
            <a:ext cx="1362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6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t = 0.6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220085-610B-4242-9AF8-CA14AD8A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695450"/>
            <a:ext cx="1362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6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t = 0.8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B61405-D199-4B25-AD1A-B232876D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95450"/>
            <a:ext cx="1362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6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t = 1.0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66BA0F-4F12-4B44-AB13-E18CF10C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533650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80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r = 0.50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54c0026a5f4c4a"/>
          <a:stretch xmlns:a="http://schemas.openxmlformats.org/drawingml/2006/main"/>
        </p:blipFill>
        <p:spPr>
          <a:xfrm xmlns:a="http://schemas.openxmlformats.org/drawingml/2006/main">
            <a:off x="1314450" y="2114550"/>
            <a:ext cx="1266825" cy="1266825"/>
          </a:xfrm>
          <a:prstGeom xmlns:a="http://schemas.openxmlformats.org/drawingml/2006/main" prst="rect">
            <a:avLst/>
          </a:prstGeom>
        </p:spPr>
      </p:pic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8ee7779a014f24"/>
          <a:stretch xmlns:a="http://schemas.openxmlformats.org/drawingml/2006/main"/>
        </p:blipFill>
        <p:spPr>
          <a:xfrm xmlns:a="http://schemas.openxmlformats.org/drawingml/2006/main">
            <a:off x="2867025" y="2114550"/>
            <a:ext cx="1266825" cy="1266825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83f40b22fa463a"/>
          <a:stretch xmlns:a="http://schemas.openxmlformats.org/drawingml/2006/main"/>
        </p:blipFill>
        <p:spPr>
          <a:xfrm xmlns:a="http://schemas.openxmlformats.org/drawingml/2006/main">
            <a:off x="4419600" y="2114550"/>
            <a:ext cx="1266825" cy="1266825"/>
          </a:xfrm>
          <a:prstGeom xmlns:a="http://schemas.openxmlformats.org/drawingml/2006/main" prst="rect">
            <a:avLst/>
          </a:prstGeom>
        </p:spPr>
      </p:pic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0c8d6d8edd4dea"/>
          <a:stretch xmlns:a="http://schemas.openxmlformats.org/drawingml/2006/main"/>
        </p:blipFill>
        <p:spPr>
          <a:xfrm xmlns:a="http://schemas.openxmlformats.org/drawingml/2006/main">
            <a:off x="5972175" y="2114550"/>
            <a:ext cx="1266825" cy="1266825"/>
          </a:xfrm>
          <a:prstGeom xmlns:a="http://schemas.openxmlformats.org/drawingml/2006/main" prst="rect">
            <a:avLst/>
          </a:prstGeom>
        </p:spPr>
      </p:pic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dba4b3938847f1"/>
          <a:stretch xmlns:a="http://schemas.openxmlformats.org/drawingml/2006/main"/>
        </p:blipFill>
        <p:spPr>
          <a:xfrm xmlns:a="http://schemas.openxmlformats.org/drawingml/2006/main">
            <a:off x="7524750" y="2114550"/>
            <a:ext cx="1266825" cy="126682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B89A60-B33D-4E87-A47A-68B2E3FF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914775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03EAD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800" b="1">
                <a:solidFill>
                  <a:srgbClr val="303EAD"/>
                </a:solidFill>
                <a:latin typeface="Roboto Condensed"/>
                <a:ea typeface="Roboto Condensed"/>
                <a:cs typeface="Roboto Condensed"/>
              </a:rPr>
              <a:t>r = 1.00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B865D8-7903-4FC0-90AD-63520DE2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76625"/>
            <a:ext cx="1304925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b0648a4df845f0"/>
          <a:stretch xmlns:a="http://schemas.openxmlformats.org/drawingml/2006/main"/>
        </p:blipFill>
        <p:spPr>
          <a:xfrm xmlns:a="http://schemas.openxmlformats.org/drawingml/2006/main">
            <a:off x="1314450" y="3495675"/>
            <a:ext cx="1266825" cy="1266825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596EBB-BF2E-4FC4-ADD4-C39C1339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476625"/>
            <a:ext cx="1304925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578bf0ddfa4dfc"/>
          <a:stretch xmlns:a="http://schemas.openxmlformats.org/drawingml/2006/main"/>
        </p:blipFill>
        <p:spPr>
          <a:xfrm xmlns:a="http://schemas.openxmlformats.org/drawingml/2006/main">
            <a:off x="2867025" y="3495675"/>
            <a:ext cx="1266825" cy="1266825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4D9A56-0A5B-4773-AC8E-C698CC2C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76625"/>
            <a:ext cx="1304925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1fcb73a5d0421e"/>
          <a:stretch xmlns:a="http://schemas.openxmlformats.org/drawingml/2006/main"/>
        </p:blipFill>
        <p:spPr>
          <a:xfrm xmlns:a="http://schemas.openxmlformats.org/drawingml/2006/main">
            <a:off x="4419600" y="3495675"/>
            <a:ext cx="1266825" cy="1266825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BE27B4-7F2A-4449-8EC6-8A7A965B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476625"/>
            <a:ext cx="1304925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79c01b07ff4403"/>
          <a:stretch xmlns:a="http://schemas.openxmlformats.org/drawingml/2006/main"/>
        </p:blipFill>
        <p:spPr>
          <a:xfrm xmlns:a="http://schemas.openxmlformats.org/drawingml/2006/main">
            <a:off x="5972175" y="3495675"/>
            <a:ext cx="1266825" cy="1266825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E96E99-B793-4CED-9CF8-E34F0B01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476625"/>
            <a:ext cx="1304925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7509b732df4d01"/>
          <a:stretch xmlns:a="http://schemas.openxmlformats.org/drawingml/2006/main"/>
        </p:blipFill>
        <p:spPr>
          <a:xfrm xmlns:a="http://schemas.openxmlformats.org/drawingml/2006/main">
            <a:off x="7524750" y="3495675"/>
            <a:ext cx="1266825" cy="1266825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95E0F5-371D-4425-B317-8F16DFCA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295900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80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r = 1.50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d43da8f28b4a89"/>
          <a:stretch xmlns:a="http://schemas.openxmlformats.org/drawingml/2006/main"/>
        </p:blipFill>
        <p:spPr>
          <a:xfrm xmlns:a="http://schemas.openxmlformats.org/drawingml/2006/main">
            <a:off x="1314450" y="4876800"/>
            <a:ext cx="1266825" cy="1266825"/>
          </a:xfrm>
          <a:prstGeom xmlns:a="http://schemas.openxmlformats.org/drawingml/2006/main" prst="rect">
            <a:avLst/>
          </a:prstGeom>
        </p:spPr>
      </p:pic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265ec861e348eb"/>
          <a:stretch xmlns:a="http://schemas.openxmlformats.org/drawingml/2006/main"/>
        </p:blipFill>
        <p:spPr>
          <a:xfrm xmlns:a="http://schemas.openxmlformats.org/drawingml/2006/main">
            <a:off x="2867025" y="4876800"/>
            <a:ext cx="1266825" cy="1266825"/>
          </a:xfrm>
          <a:prstGeom xmlns:a="http://schemas.openxmlformats.org/drawingml/2006/main" prst="rect">
            <a:avLst/>
          </a:prstGeom>
        </p:spPr>
      </p:pic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995fbe910a4edc"/>
          <a:stretch xmlns:a="http://schemas.openxmlformats.org/drawingml/2006/main"/>
        </p:blipFill>
        <p:spPr>
          <a:xfrm xmlns:a="http://schemas.openxmlformats.org/drawingml/2006/main">
            <a:off x="4419600" y="4876800"/>
            <a:ext cx="1266825" cy="1266825"/>
          </a:xfrm>
          <a:prstGeom xmlns:a="http://schemas.openxmlformats.org/drawingml/2006/main" prst="rect">
            <a:avLst/>
          </a:prstGeom>
        </p:spPr>
      </p:pic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ae9ad569534e11"/>
          <a:stretch xmlns:a="http://schemas.openxmlformats.org/drawingml/2006/main"/>
        </p:blipFill>
        <p:spPr>
          <a:xfrm xmlns:a="http://schemas.openxmlformats.org/drawingml/2006/main">
            <a:off x="5972175" y="4876800"/>
            <a:ext cx="1266825" cy="1266825"/>
          </a:xfrm>
          <a:prstGeom xmlns:a="http://schemas.openxmlformats.org/drawingml/2006/main" prst="rect">
            <a:avLst/>
          </a:prstGeom>
        </p:spPr>
      </p:pic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7a180dd5854e10"/>
          <a:stretch xmlns:a="http://schemas.openxmlformats.org/drawingml/2006/main"/>
        </p:blipFill>
        <p:spPr>
          <a:xfrm xmlns:a="http://schemas.openxmlformats.org/drawingml/2006/main">
            <a:off x="7524750" y="4876800"/>
            <a:ext cx="1266825" cy="1266825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9DB479-4B96-40C0-8CB2-443A9ADD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753225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16A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125" b="0">
                <a:solidFill>
                  <a:srgbClr val="5B616A"/>
                </a:solidFill>
                <a:latin typeface="Roboto Condensed"/>
                <a:ea typeface="Roboto Condensed"/>
                <a:cs typeface="Roboto Condensed"/>
              </a:rPr>
              <a:t>Rows share measurement and source-noise draws. Final column: reconstruction. All five ratios are in the report.</a:t>
            </a:r>
          </a:p>
        </p:txBody>
      </p:sp>
    </p:spTree>
    <p:extLst>
      <p:ext uri="{BB962C8B-B14F-4D97-AF65-F5344CB8AC3E}">
        <p14:creationId xmlns:p14="http://schemas.microsoft.com/office/powerpoint/2010/main" val="119043224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706653-F0C4-4D90-89EE-65AADCFE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B5B410-BB71-44B1-A037-19974CE2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95250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9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rPr>
              <a:t>Inside the Three Steps at t = 0.75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A561AC-7DA1-4863-BD69-AD721200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04900"/>
            <a:ext cx="2400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303EAD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875" b="0">
                <a:solidFill>
                  <a:srgbClr val="303EAD"/>
                </a:solidFill>
                <a:latin typeface="Roboto Condensed"/>
                <a:ea typeface="Roboto Condensed"/>
                <a:cs typeface="Roboto Condensed"/>
              </a:rPr>
              <a:t>Destination estimate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34EF48-4C41-45C1-AEE2-E73834AC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104900"/>
            <a:ext cx="2400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303EAD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875" b="0">
                <a:solidFill>
                  <a:srgbClr val="303EAD"/>
                </a:solidFill>
                <a:latin typeface="Roboto Condensed"/>
                <a:ea typeface="Roboto Condensed"/>
                <a:cs typeface="Roboto Condensed"/>
              </a:rPr>
              <a:t>Measurement refinement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635F9F-B11F-4248-B482-FC9DBB7D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104900"/>
            <a:ext cx="2400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303EAD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875" b="0">
                <a:solidFill>
                  <a:srgbClr val="303EAD"/>
                </a:solidFill>
                <a:latin typeface="Roboto Condensed"/>
                <a:ea typeface="Roboto Condensed"/>
                <a:cs typeface="Roboto Condensed"/>
              </a:rPr>
              <a:t>Next trajectory state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C6BDE6-381A-40EA-A7D0-968D25E4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143125"/>
            <a:ext cx="100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8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r = 0.50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449d899503409b"/>
          <a:stretch xmlns:a="http://schemas.openxmlformats.org/drawingml/2006/main"/>
        </p:blipFill>
        <p:spPr>
          <a:xfrm xmlns:a="http://schemas.openxmlformats.org/drawingml/2006/main">
            <a:off x="1876425" y="1676400"/>
            <a:ext cx="1400175" cy="1400175"/>
          </a:xfrm>
          <a:prstGeom xmlns:a="http://schemas.openxmlformats.org/drawingml/2006/main" prst="rect">
            <a:avLst/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d546099276497e"/>
          <a:stretch xmlns:a="http://schemas.openxmlformats.org/drawingml/2006/main"/>
        </p:blipFill>
        <p:spPr>
          <a:xfrm xmlns:a="http://schemas.openxmlformats.org/drawingml/2006/main">
            <a:off x="4476750" y="1676400"/>
            <a:ext cx="1400175" cy="1400175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05d984ec884a81"/>
          <a:stretch xmlns:a="http://schemas.openxmlformats.org/drawingml/2006/main"/>
        </p:blipFill>
        <p:spPr>
          <a:xfrm xmlns:a="http://schemas.openxmlformats.org/drawingml/2006/main">
            <a:off x="7077075" y="1676400"/>
            <a:ext cx="1400175" cy="14001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75DDC0-9E82-4BD9-A80E-FF7DEC97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695700"/>
            <a:ext cx="100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03EAD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875" b="1">
                <a:solidFill>
                  <a:srgbClr val="303EAD"/>
                </a:solidFill>
                <a:latin typeface="Roboto Condensed"/>
                <a:ea typeface="Roboto Condensed"/>
                <a:cs typeface="Roboto Condensed"/>
              </a:rPr>
              <a:t>r = 1.00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25A9B9-53A8-49B5-9BBE-59661A1D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209925"/>
            <a:ext cx="1438275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e35cf49da94f53"/>
          <a:stretch xmlns:a="http://schemas.openxmlformats.org/drawingml/2006/main"/>
        </p:blipFill>
        <p:spPr>
          <a:xfrm xmlns:a="http://schemas.openxmlformats.org/drawingml/2006/main">
            <a:off x="1876425" y="3228975"/>
            <a:ext cx="1400175" cy="140017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747797-5D34-4CCF-9289-7A71A88C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09925"/>
            <a:ext cx="1438275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b2c05353e44685"/>
          <a:stretch xmlns:a="http://schemas.openxmlformats.org/drawingml/2006/main"/>
        </p:blipFill>
        <p:spPr>
          <a:xfrm xmlns:a="http://schemas.openxmlformats.org/drawingml/2006/main">
            <a:off x="4476750" y="3228975"/>
            <a:ext cx="1400175" cy="140017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2B460E-5CBB-4939-BCA9-8055D2C0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209925"/>
            <a:ext cx="1438275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4a5b9d22e74406"/>
          <a:stretch xmlns:a="http://schemas.openxmlformats.org/drawingml/2006/main"/>
        </p:blipFill>
        <p:spPr>
          <a:xfrm xmlns:a="http://schemas.openxmlformats.org/drawingml/2006/main">
            <a:off x="7077075" y="3228975"/>
            <a:ext cx="1400175" cy="1400175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645D54-B388-4FCB-B535-84EC12D1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5248275"/>
            <a:ext cx="100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8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r = 1.50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dd23a96a56451e"/>
          <a:stretch xmlns:a="http://schemas.openxmlformats.org/drawingml/2006/main"/>
        </p:blipFill>
        <p:spPr>
          <a:xfrm xmlns:a="http://schemas.openxmlformats.org/drawingml/2006/main">
            <a:off x="1876425" y="4781550"/>
            <a:ext cx="1400175" cy="1400175"/>
          </a:xfrm>
          <a:prstGeom xmlns:a="http://schemas.openxmlformats.org/drawingml/2006/main" prst="rect">
            <a:avLst/>
          </a:prstGeom>
        </p:spPr>
      </p:pic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004ac0c2074b96"/>
          <a:stretch xmlns:a="http://schemas.openxmlformats.org/drawingml/2006/main"/>
        </p:blipFill>
        <p:spPr>
          <a:xfrm xmlns:a="http://schemas.openxmlformats.org/drawingml/2006/main">
            <a:off x="4476750" y="4781550"/>
            <a:ext cx="1400175" cy="1400175"/>
          </a:xfrm>
          <a:prstGeom xmlns:a="http://schemas.openxmlformats.org/drawingml/2006/main" prst="rect">
            <a:avLst/>
          </a:prstGeom>
        </p:spPr>
      </p:pic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5f344b940845a4"/>
          <a:stretch xmlns:a="http://schemas.openxmlformats.org/drawingml/2006/main"/>
        </p:blipFill>
        <p:spPr>
          <a:xfrm xmlns:a="http://schemas.openxmlformats.org/drawingml/2006/main">
            <a:off x="7077075" y="4781550"/>
            <a:ext cx="1400175" cy="1400175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017E08-E06C-49BE-A72E-327ED2E8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753225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16A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125" b="0">
                <a:solidFill>
                  <a:srgbClr val="5B616A"/>
                </a:solidFill>
                <a:latin typeface="Roboto Condensed"/>
                <a:ea typeface="Roboto Condensed"/>
                <a:cs typeface="Roboto Condensed"/>
              </a:rPr>
              <a:t>CelebA denoising, image 182734.jpg. Step 2 uses σ directly. Step 3 adds source noise and advances time.</a:t>
            </a:r>
          </a:p>
        </p:txBody>
      </p:sp>
    </p:spTree>
    <p:extLst>
      <p:ext uri="{BB962C8B-B14F-4D97-AF65-F5344CB8AC3E}">
        <p14:creationId xmlns:p14="http://schemas.microsoft.com/office/powerpoint/2010/main" val="159986455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A5E94F-442A-4FF2-B413-E6612F85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71C63D-4C2E-4A48-BFC4-EEBE6E81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95250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9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rPr>
              <a:t>Interpreting the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7A808A-6CF0-4F09-AA3E-BBED8BFE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62050"/>
            <a:ext cx="86868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61580D-5754-4E7E-A283-6254697F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62050"/>
            <a:ext cx="868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4B09FF-045F-4627-A942-DF43D5C5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190625"/>
            <a:ext cx="8439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0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rPr>
              <a:t>Why the Forward Operator Matters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1E9429-EA08-4346-837A-C37F1349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647825"/>
            <a:ext cx="8401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10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Denoising changes the measurement weight at every pixel. Masked and subsampled problems constrain only observed locations directly.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B0E232-850C-4120-8122-4917984E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95600"/>
            <a:ext cx="86868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C5F58-82C0-4D34-A3AD-AD65FE1B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95600"/>
            <a:ext cx="868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057FB2-5783-4186-AF6A-4F85BF70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924175"/>
            <a:ext cx="8439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0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rPr>
              <a:t>Why Correct Noise Need Not Maximize PSNR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1C4314-0E07-42EB-8083-D75CCC8C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381375"/>
            <a:ext cx="84010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10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The practical solver uses a learned velocity and an approximate endpoint distribution. A different data weight can compensate for their errors on a finite sample.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CBFBA0-E6EF-4102-995F-849417C4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81550"/>
            <a:ext cx="86868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6EFF61-B6B0-4450-9841-404628DA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81550"/>
            <a:ext cx="868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E97BF2-0A01-479C-BC95-F463FE67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810125"/>
            <a:ext cx="8439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0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rPr>
              <a:t>Limits of the Comparison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504533-93B0-4569-ABD4-BC484D8E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267325"/>
            <a:ext cx="8401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10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20 images per dataset and one paired seed sequence per image–task pair. Paper results use 100 images. Confidence intervals summarize image variation.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33E6CC-9DD2-4B9D-8F65-013C9D96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753225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16A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125" b="0">
                <a:solidFill>
                  <a:srgbClr val="5B616A"/>
                </a:solidFill>
                <a:latin typeface="Roboto Condensed"/>
                <a:ea typeface="Roboto Condensed"/>
                <a:cs typeface="Roboto Condensed"/>
              </a:rPr>
              <a:t>These results establish sensitivity on the tested sample; they do not identify a universal optimal noise ratio.</a:t>
            </a:r>
          </a:p>
        </p:txBody>
      </p:sp>
    </p:spTree>
    <p:extLst>
      <p:ext uri="{BB962C8B-B14F-4D97-AF65-F5344CB8AC3E}">
        <p14:creationId xmlns:p14="http://schemas.microsoft.com/office/powerpoint/2010/main" val="143538498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F7FD8D-C7FB-41C6-B92F-7A384971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8B994F-5855-4F90-B940-9E23AF3A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95250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9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rPr>
              <a:t>Conclusions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A3E955-6673-41BF-9F9E-27538A87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868680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1FB54-3799-4C86-AA2F-9CDE9E2A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868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A98D6-C41A-4AD9-AB93-9C4F103C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209675"/>
            <a:ext cx="8439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0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rPr>
              <a:t>Sensitivity Depends on the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5F4440-4FD1-4670-91F8-3F29B7C7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666875"/>
            <a:ext cx="84010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2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Denoising is the most sensitive setting. Random inpainting is nearly unchanged over the tested range.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E1FA44-D1FD-4DB6-8925-D1FCB4C8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81300"/>
            <a:ext cx="86868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B787A2-FF38-4509-AAE7-18F59128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81300"/>
            <a:ext cx="868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18DAAE-BBD3-4DA9-8867-C7BAEA99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809875"/>
            <a:ext cx="8439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0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rPr>
              <a:t>Overestimation Consistently Hurts Mean PSNR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5F7532-5565-4E45-9BB1-64619D22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267075"/>
            <a:ext cx="8401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2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Both r = 1.25 and r = 1.50 reduce mean PSNR in all ten dataset–task settings.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371567-D754-4054-839A-60EF8D42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71975"/>
            <a:ext cx="86868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CCAF51-C1DD-497E-AADF-480CCED8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71975"/>
            <a:ext cx="868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AC401D-479F-4938-B3CC-B73B2ACC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400550"/>
            <a:ext cx="8439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0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rPr>
              <a:t>Underestimation Has No Universal Outcome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C851C4-4903-492B-B039-1B99B251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857750"/>
            <a:ext cx="8401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25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Super-resolution improves in both datasets. Severe underestimation hurts denoising, and LPIPS can disagree with PSNR and SSIM.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02B8B4-413F-49AC-9E12-7FC94DB0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0"/>
            <a:ext cx="868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03EAD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100" b="1">
                <a:solidFill>
                  <a:srgbClr val="303EAD"/>
                </a:solidFill>
                <a:latin typeface="Roboto Condensed"/>
                <a:ea typeface="Roboto Condensed"/>
                <a:cs typeface="Roboto Condensed"/>
              </a:rPr>
              <a:t>Noise calibration should be evaluated for the task and the metric.</a:t>
            </a:r>
          </a:p>
        </p:txBody>
      </p:sp>
    </p:spTree>
    <p:extLst>
      <p:ext uri="{BB962C8B-B14F-4D97-AF65-F5344CB8AC3E}">
        <p14:creationId xmlns:p14="http://schemas.microsoft.com/office/powerpoint/2010/main" val="142119033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1AE408-4BE5-4CED-8044-0A1887A4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503C39-D365-4736-BF2F-A6B634CA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95250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9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rPr>
              <a:t>References and Reproducible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35E460-5394-48E4-A053-830E259F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84963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1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M. Pourya, B. El Rawas and M. Unser</a:t>
            </a:r>
          </a:p>
          <a:p xmlns:a="http://schemas.openxmlformats.org/drawingml/2006/main">
            <a:pPr algn="l">
              <a:defRPr sz="21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1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FLOWER: A Flow-Matching Solver for Inverse Problems</a:t>
            </a:r>
          </a:p>
          <a:p xmlns:a="http://schemas.openxmlformats.org/drawingml/2006/main">
            <a:pPr algn="l">
              <a:defRPr sz="21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17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ICLR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048BF5-FEAF-44CD-9369-D44DE74A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8496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10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Y. Lipman et al.</a:t>
            </a:r>
          </a:p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10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Flow Matching for Generative Modeling</a:t>
            </a:r>
          </a:p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100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ICLR 2023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BCB5C4-0B16-473D-9464-1EB2C99C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62450"/>
            <a:ext cx="86868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A7645C-8065-4CAF-949B-53E51F3B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62450"/>
            <a:ext cx="868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EA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6C7BA5-1228-4A61-AB31-56CA3126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391025"/>
            <a:ext cx="8439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025" b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rPr>
              <a:t>Project Results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255219-A9E5-43DB-B8CC-EBFA255D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848225"/>
            <a:ext cx="8401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2025" b="0">
                <a:solidFill>
                  <a:srgbClr val="222222"/>
                </a:solidFill>
                <a:latin typeface="Roboto Condensed"/>
                <a:ea typeface="Roboto Condensed"/>
                <a:cs typeface="Roboto Condensed"/>
              </a:rPr>
              <a:t>Raw and paired metrics, all 50 summary rows, saved examples, and trajectory captures are in artifacts/experiments/main/.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86F26C-CCFE-4730-BFD2-AE5513D9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34100"/>
            <a:ext cx="868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303EAD"/>
                </a:solidFill>
                <a:latin typeface="Roboto Condensed"/>
                <a:ea typeface="Roboto Condensed"/>
                <a:cs typeface="Roboto Condensed"/>
              </a:defRPr>
            </a:pPr>
            <a:r>
              <a:rPr sz="1875" b="0">
                <a:solidFill>
                  <a:srgbClr val="303EAD"/>
                </a:solidFill>
                <a:latin typeface="Roboto Condensed"/>
                <a:ea typeface="Roboto Condensed"/>
                <a:cs typeface="Roboto Condensed"/>
              </a:rPr>
              <a:t>github.com/ItayShorian07/Diffusion--flower-project</a:t>
            </a:r>
          </a:p>
        </p:txBody>
      </p:sp>
    </p:spTree>
    <p:extLst>
      <p:ext uri="{BB962C8B-B14F-4D97-AF65-F5344CB8AC3E}">
        <p14:creationId xmlns:p14="http://schemas.microsoft.com/office/powerpoint/2010/main" val="17925262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42597" dir="3806097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2026-10-15T15:04:23.6810000Z</dcterms:created>
  <dcterms:modified xsi:type="dcterms:W3CDTF">2026-10-15T15:04:23.6810000Z</dcterms:modified>
</coreProperties>
</file>