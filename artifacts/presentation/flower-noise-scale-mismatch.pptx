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3.xml" ContentType="application/vnd.openxmlformats-officedocument.drawingml.chart+xml"/>
  <Override PartName="/ppt/notesSlides/notesSlide1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44888768a44a30" /><Relationship Type="http://schemas.openxmlformats.org/officeDocument/2006/relationships/extended-properties" Target="/docProps/app.xml" Id="R6a0b65d2b66f4f8c" /><Relationship Type="http://schemas.openxmlformats.org/officeDocument/2006/relationships/officeDocument" Target="/ppt/presentation.xml" Id="R2d964044718948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33f0411c604a4e"/>
  </p:sldMasterIdLst>
  <p:notesMasterIdLst>
    <p:notesMasterId xmlns:r="http://schemas.openxmlformats.org/officeDocument/2006/relationships" r:id="R4d5a4c00d28d441f"/>
  </p:notesMasterIdLst>
  <p:sldIdLst>
    <p:sldId xmlns:r="http://schemas.openxmlformats.org/officeDocument/2006/relationships" id="256" r:id="R547f8cf1c52d4011"/>
    <p:sldId xmlns:r="http://schemas.openxmlformats.org/officeDocument/2006/relationships" id="257" r:id="R1646eda50332454f"/>
    <p:sldId xmlns:r="http://schemas.openxmlformats.org/officeDocument/2006/relationships" id="258" r:id="Rcf4910209d5647bd"/>
    <p:sldId xmlns:r="http://schemas.openxmlformats.org/officeDocument/2006/relationships" id="259" r:id="R7a5273d195c844e1"/>
    <p:sldId xmlns:r="http://schemas.openxmlformats.org/officeDocument/2006/relationships" id="260" r:id="Rb750008cee604c18"/>
    <p:sldId xmlns:r="http://schemas.openxmlformats.org/officeDocument/2006/relationships" id="261" r:id="Rd5fd491b438541e7"/>
    <p:sldId xmlns:r="http://schemas.openxmlformats.org/officeDocument/2006/relationships" id="262" r:id="R8861a414544042c2"/>
    <p:sldId xmlns:r="http://schemas.openxmlformats.org/officeDocument/2006/relationships" id="263" r:id="Rfdd9bc4fff744364"/>
    <p:sldId xmlns:r="http://schemas.openxmlformats.org/officeDocument/2006/relationships" id="264" r:id="R9df4f3345f3f41f9"/>
    <p:sldId xmlns:r="http://schemas.openxmlformats.org/officeDocument/2006/relationships" id="265" r:id="R4f73fd71612446a3"/>
    <p:sldId xmlns:r="http://schemas.openxmlformats.org/officeDocument/2006/relationships" id="266" r:id="R00bede096ee24db2"/>
    <p:sldId xmlns:r="http://schemas.openxmlformats.org/officeDocument/2006/relationships" id="267" r:id="R30e9248754574a7c"/>
    <p:sldId xmlns:r="http://schemas.openxmlformats.org/officeDocument/2006/relationships" id="268" r:id="R5be0ddd6cdd641f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07691c74f44bd4" /><Relationship Type="http://schemas.openxmlformats.org/officeDocument/2006/relationships/slideMaster" Target="/ppt/slideMasters/slideMaster1.xml" Id="Re133f0411c604a4e" /><Relationship Type="http://schemas.openxmlformats.org/officeDocument/2006/relationships/notesMaster" Target="/ppt/notesMasters/notesMaster1.xml" Id="R4d5a4c00d28d441f" /><Relationship Type="http://schemas.openxmlformats.org/officeDocument/2006/relationships/presProps" Target="/ppt/presProps.xml" Id="Rb447f3e1b9ba4024" /><Relationship Type="http://schemas.openxmlformats.org/officeDocument/2006/relationships/tableStyles" Target="/ppt/tableStyles.xml" Id="Rca35817811414e1c" /><Relationship Type="http://schemas.openxmlformats.org/officeDocument/2006/relationships/slide" Target="/ppt/slides/slide1.xml" Id="R547f8cf1c52d4011" /><Relationship Type="http://schemas.openxmlformats.org/officeDocument/2006/relationships/slide" Target="/ppt/slides/slide2.xml" Id="R1646eda50332454f" /><Relationship Type="http://schemas.openxmlformats.org/officeDocument/2006/relationships/slide" Target="/ppt/slides/slide3.xml" Id="Rcf4910209d5647bd" /><Relationship Type="http://schemas.openxmlformats.org/officeDocument/2006/relationships/slide" Target="/ppt/slides/slide4.xml" Id="R7a5273d195c844e1" /><Relationship Type="http://schemas.openxmlformats.org/officeDocument/2006/relationships/slide" Target="/ppt/slides/slide5.xml" Id="Rb750008cee604c18" /><Relationship Type="http://schemas.openxmlformats.org/officeDocument/2006/relationships/slide" Target="/ppt/slides/slide6.xml" Id="Rd5fd491b438541e7" /><Relationship Type="http://schemas.openxmlformats.org/officeDocument/2006/relationships/slide" Target="/ppt/slides/slide7.xml" Id="R8861a414544042c2" /><Relationship Type="http://schemas.openxmlformats.org/officeDocument/2006/relationships/slide" Target="/ppt/slides/slide8.xml" Id="Rfdd9bc4fff744364" /><Relationship Type="http://schemas.openxmlformats.org/officeDocument/2006/relationships/slide" Target="/ppt/slides/slide9.xml" Id="R9df4f3345f3f41f9" /><Relationship Type="http://schemas.openxmlformats.org/officeDocument/2006/relationships/slide" Target="/ppt/slides/slide10.xml" Id="R4f73fd71612446a3" /><Relationship Type="http://schemas.openxmlformats.org/officeDocument/2006/relationships/slide" Target="/ppt/slides/slide11.xml" Id="R00bede096ee24db2" /><Relationship Type="http://schemas.openxmlformats.org/officeDocument/2006/relationships/slide" Target="/ppt/slides/slide12.xml" Id="R30e9248754574a7c" /><Relationship Type="http://schemas.openxmlformats.org/officeDocument/2006/relationships/slide" Target="/ppt/slides/slide13.xml" Id="R5be0ddd6cdd641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08ed3bd23245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80fb392db540e8" /><Relationship Type="http://schemas.openxmlformats.org/officeDocument/2006/relationships/notesMaster" Target="/ppt/notesMasters/notesMaster1.xml" Id="Ra6dbc4dd057441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7ed5e41fbd4f8c" /><Relationship Type="http://schemas.openxmlformats.org/officeDocument/2006/relationships/notesMaster" Target="/ppt/notesMasters/notesMaster1.xml" Id="R23968c4b1dc14f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9c0a55bfee4c39" /><Relationship Type="http://schemas.openxmlformats.org/officeDocument/2006/relationships/notesMaster" Target="/ppt/notesMasters/notesMaster1.xml" Id="R1c86ac6877954a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045f6158544a8c" /><Relationship Type="http://schemas.openxmlformats.org/officeDocument/2006/relationships/notesMaster" Target="/ppt/notesMasters/notesMaster1.xml" Id="Rcd4aa143d1ab4e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db62d569f9469e" /><Relationship Type="http://schemas.openxmlformats.org/officeDocument/2006/relationships/notesMaster" Target="/ppt/notesMasters/notesMaster1.xml" Id="R7176a6cfcd0e4c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03279f9be64cd8" /><Relationship Type="http://schemas.openxmlformats.org/officeDocument/2006/relationships/notesMaster" Target="/ppt/notesMasters/notesMaster1.xml" Id="R80be6013613540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04fbbf62c784a02" /><Relationship Type="http://schemas.openxmlformats.org/officeDocument/2006/relationships/notesMaster" Target="/ppt/notesMasters/notesMaster1.xml" Id="Rc13bcedbbe234ba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1f0d4c021b84718" /><Relationship Type="http://schemas.openxmlformats.org/officeDocument/2006/relationships/notesMaster" Target="/ppt/notesMasters/notesMaster1.xml" Id="Rc1b069e67e97445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01190fd6f14478a" /><Relationship Type="http://schemas.openxmlformats.org/officeDocument/2006/relationships/notesMaster" Target="/ppt/notesMasters/notesMaster1.xml" Id="Rcfbdaa1e07bf486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17c07cef6ba4774" /><Relationship Type="http://schemas.openxmlformats.org/officeDocument/2006/relationships/notesMaster" Target="/ppt/notesMasters/notesMaster1.xml" Id="Ra93e99a6c46b44b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d680dd1f97b4174" /><Relationship Type="http://schemas.openxmlformats.org/officeDocument/2006/relationships/notesMaster" Target="/ppt/notesMasters/notesMaster1.xml" Id="R6565f0ac7626472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047da9b08bb4d7b" /><Relationship Type="http://schemas.openxmlformats.org/officeDocument/2006/relationships/notesMaster" Target="/ppt/notesMasters/notesMaster1.xml" Id="R93662b505b9b428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d9bab2433d44364" /><Relationship Type="http://schemas.openxmlformats.org/officeDocument/2006/relationships/notesMaster" Target="/ppt/notesMasters/notesMaster1.xml" Id="R3eda1891e60d4b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project measures how the original FLOWER solver responds when the Gaussian measurement-noise standard deviation supplied during reconstruction is wrong.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FLOWER paper: https://openreview.net/forum?id=QGd34p02mI</a:t>
            </a:r>
          </a:p>
          <a:p xmlns:a="http://schemas.openxmlformats.org/drawingml/2006/main">
            <a:r>
              <a:t>Official code: https://github.com/mehrsapo/Flower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Pairing isolates the assumed noise scale from changes caused by another measurement draw or another stochastic trajectory.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Protocol: config/robustness.json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Sigma appears directly in Step 2. Later Step 1 predictions can also differ because previous refinements changed the trajectory 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FLOWER paper, Propositions 1 to 3: https://openreview.net/forum?id=QGd34p02mI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Measurements shown here use the fixed qualitative image in each dataset. The task-specific sigma and operator parameters match the public paper setup.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Generated measurements: artifacts/experiments/main/reconstructions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five task noise levels are nonzero, so the same ratio sweep is meaningful for every operator.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FLOWER paper Section 5.1: https://openreview.net/forum?id=QGd34p02mI</a:t>
            </a:r>
          </a:p>
          <a:p xmlns:a="http://schemas.openxmlformats.org/drawingml/2006/main">
            <a:r>
              <a:t>Configuration: config/robustness.json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line uses the same 20 images and paired control. The report includes 95 percent confidence intervals and the full metric 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Data: artifacts/experiments/main/summary.csv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line uses the same 20 images and paired control. The report includes 95 percent confidence intervals and the full metric 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Data: artifacts/experiments/main/summary.csv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ratio 1.0 control provides a sanity check against the published Flower1-OT scale. The image samples differ in size, so paired conclusions rely on within-project deltas.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FLOWER Tables 1 and 2: https://openreview.net/forum?id=QGd34p02mI</a:t>
            </a:r>
          </a:p>
          <a:p xmlns:a="http://schemas.openxmlformats.org/drawingml/2006/main">
            <a:r>
              <a:t>Data: artifacts/experiments/main/summary.csv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each row from the same ground truth and measurement through all five assumed noise ratios.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Generated figure: artifacts/figures/figure2_celeba_qualitative.png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AFHQ-Cat row uses the same predeclared qualitative image position and task-selection rule as CelebA.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Generated figure: artifacts/figures/figure3_afhq_qualitative.png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setting has the highest mean absolute paired PSNR response. Its displayed image is closest to median image-level sensitivity, which avoids selecting an extreme failure.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Selection metadata: artifacts/experiments/main/analysis_capture/metadata.json</a:t>
            </a:r>
          </a:p>
          <a:p xmlns:a="http://schemas.openxmlformats.org/drawingml/2006/main">
            <a:r>
              <a:t>Generated figure: artifacts/figures/figure4_trajectory.png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Sigma enters Step 2 directly. Step 1 has no explicit sigma term, although its input state can already differ because of earlier refinements.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Generated figure: artifacts/figures/figure5_internal_states.png</a:t>
            </a:r>
          </a:p>
          <a:p xmlns:a="http://schemas.openxmlformats.org/drawingml/2006/main">
            <a:r>
              <a:t>FLOWER paper Figure 3 and Proposition 2: https://openreview.net/forum?id=QGd34p02mI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ranking averages the absolute paired PSNR curve response across the four mismatched ratios. Overestimation is consistently harmful here, while moderate underestimation improves super-resolution and several AFHQ-Cat settings. The report gives the paired confidence intervals and cross-metric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Data: artifacts/experiments/main/summary.csv</a:t>
            </a:r>
          </a:p>
          <a:p xmlns:a="http://schemas.openxmlformats.org/drawingml/2006/main">
            <a:r>
              <a:t>Report: artifacts/report/flower-noise-scale-mismatch-report.docx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ff56f311574d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446347778b46dc" /><Relationship Type="http://schemas.openxmlformats.org/officeDocument/2006/relationships/slideLayout" Target="/ppt/slideLayouts/slideLayout1.xml" Id="Re93caa2325cc42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3caa2325cc42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d94266355a41d5" /><Relationship Type="http://schemas.openxmlformats.org/officeDocument/2006/relationships/image" Target="/ppt/media/image.png" Id="R8c0ce9963d75417e" /><Relationship Type="http://schemas.openxmlformats.org/officeDocument/2006/relationships/image" Target="/ppt/media/image2.png" Id="R32e792e2b4534f70" /><Relationship Type="http://schemas.openxmlformats.org/officeDocument/2006/relationships/notesSlide" Target="/ppt/notesSlides/notesSlide1.xml" Id="Re316184e03d643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ac84b56943409e" /><Relationship Type="http://schemas.openxmlformats.org/officeDocument/2006/relationships/image" Target="/ppt/media/image3.png" Id="Rd110035fef7d496c" /><Relationship Type="http://schemas.openxmlformats.org/officeDocument/2006/relationships/image" Target="/ppt/media/image4.png" Id="Rdfd401c6e0d14af5" /><Relationship Type="http://schemas.openxmlformats.org/officeDocument/2006/relationships/notesSlide" Target="/ppt/notesSlides/notesSlide2.xml" Id="R1ef3525456ac43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8f51740dc4413b" /><Relationship Type="http://schemas.openxmlformats.org/officeDocument/2006/relationships/image" Target="/ppt/media/image5.png" Id="R1d308bed20264eed" /><Relationship Type="http://schemas.openxmlformats.org/officeDocument/2006/relationships/image" Target="/ppt/media/image6.png" Id="R60c3d9d595c14fb7" /><Relationship Type="http://schemas.openxmlformats.org/officeDocument/2006/relationships/notesSlide" Target="/ppt/notesSlides/notesSlide3.xml" Id="Rc75305f1ccc342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540a573b343ef" /><Relationship Type="http://schemas.openxmlformats.org/officeDocument/2006/relationships/image" Target="/ppt/media/image7.png" Id="R8f82899f753b4f96" /><Relationship Type="http://schemas.openxmlformats.org/officeDocument/2006/relationships/image" Target="/ppt/media/image8.png" Id="R5f9ee05379c64999" /><Relationship Type="http://schemas.openxmlformats.org/officeDocument/2006/relationships/image" Target="/ppt/media/image9.png" Id="R64de4ba2bf894212" /><Relationship Type="http://schemas.openxmlformats.org/officeDocument/2006/relationships/image" Target="/ppt/media/image10.png" Id="R85b7ec682c7c49a1" /><Relationship Type="http://schemas.openxmlformats.org/officeDocument/2006/relationships/image" Target="/ppt/media/image11.png" Id="R65518613b8da4baf" /><Relationship Type="http://schemas.openxmlformats.org/officeDocument/2006/relationships/image" Target="/ppt/media/image12.png" Id="Ra3b5cb4824364ed8" /><Relationship Type="http://schemas.openxmlformats.org/officeDocument/2006/relationships/image" Target="/ppt/media/image13.png" Id="Ra49786c783a849ad" /><Relationship Type="http://schemas.openxmlformats.org/officeDocument/2006/relationships/image" Target="/ppt/media/image14.png" Id="Rabbd19f48c47495c" /><Relationship Type="http://schemas.openxmlformats.org/officeDocument/2006/relationships/image" Target="/ppt/media/image15.png" Id="Rc9529f64c05a48d3" /><Relationship Type="http://schemas.openxmlformats.org/officeDocument/2006/relationships/image" Target="/ppt/media/image16.png" Id="Rec20981aae31453f" /><Relationship Type="http://schemas.openxmlformats.org/officeDocument/2006/relationships/notesSlide" Target="/ppt/notesSlides/notesSlide4.xml" Id="Rcf40e3cfccab4a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68bed174514c0a" /><Relationship Type="http://schemas.openxmlformats.org/officeDocument/2006/relationships/notesSlide" Target="/ppt/notesSlides/notesSlide5.xml" Id="R6c00972d36b042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c6b6a40d1c4024" /><Relationship Type="http://schemas.openxmlformats.org/officeDocument/2006/relationships/chart" Target="/ppt/slides/charts/chart1.xml" Id="R766b66050eab405f" /><Relationship Type="http://schemas.openxmlformats.org/officeDocument/2006/relationships/notesSlide" Target="/ppt/notesSlides/notesSlide6.xml" Id="R08f541e9667443c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b5c7d4fb814e95" /><Relationship Type="http://schemas.openxmlformats.org/officeDocument/2006/relationships/chart" Target="/ppt/slides/charts/chart2.xml" Id="R4d7415158db643f0" /><Relationship Type="http://schemas.openxmlformats.org/officeDocument/2006/relationships/notesSlide" Target="/ppt/notesSlides/notesSlide7.xml" Id="R9618232c111642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ab8e94f97b4233" /><Relationship Type="http://schemas.openxmlformats.org/officeDocument/2006/relationships/notesSlide" Target="/ppt/notesSlides/notesSlide8.xml" Id="R7d69f1590dcb463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7ed4fdc1d44a09" /><Relationship Type="http://schemas.openxmlformats.org/officeDocument/2006/relationships/image" Target="/ppt/media/image17.png" Id="Refe1f6b540e04a7f" /><Relationship Type="http://schemas.openxmlformats.org/officeDocument/2006/relationships/notesSlide" Target="/ppt/notesSlides/notesSlide9.xml" Id="Ra9528cb64ae8459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0951d66ad54a1a" /><Relationship Type="http://schemas.openxmlformats.org/officeDocument/2006/relationships/image" Target="/ppt/media/image18.png" Id="Rf66b13d8f8ff473f" /><Relationship Type="http://schemas.openxmlformats.org/officeDocument/2006/relationships/notesSlide" Target="/ppt/notesSlides/notesSlide10.xml" Id="R6dfd16608b13493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992274aee94ea3" /><Relationship Type="http://schemas.openxmlformats.org/officeDocument/2006/relationships/image" Target="/ppt/media/image19.png" Id="Re7dc470429a14ed5" /><Relationship Type="http://schemas.openxmlformats.org/officeDocument/2006/relationships/notesSlide" Target="/ppt/notesSlides/notesSlide11.xml" Id="Rbcba8bcf71bc4aa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128c04f9fb458c" /><Relationship Type="http://schemas.openxmlformats.org/officeDocument/2006/relationships/image" Target="/ppt/media/image20.png" Id="R31f4ebcbcf104393" /><Relationship Type="http://schemas.openxmlformats.org/officeDocument/2006/relationships/notesSlide" Target="/ppt/notesSlides/notesSlide12.xml" Id="Rbc3eb5e037594e6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3ebabcb67e43ad" /><Relationship Type="http://schemas.openxmlformats.org/officeDocument/2006/relationships/chart" Target="/ppt/slides/charts/chart3.xml" Id="R1d39d618e3534461" /><Relationship Type="http://schemas.openxmlformats.org/officeDocument/2006/relationships/notesSlide" Target="/ppt/notesSlides/notesSlide13.xml" Id="Rff0eb1ba6f1749c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Denoising</c:v>
          </c:tx>
          <c:spPr>
            <a:ln xmlns:a="http://schemas.openxmlformats.org/drawingml/2006/main" w="28575">
              <a:solidFill>
                <a:srgbClr val="176B87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176B87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0.5</c:v>
                </c:pt>
                <c:pt idx="1">
                  <c:v>0.75</c:v>
                </c:pt>
                <c:pt idx="2">
                  <c:v>1</c:v>
                </c:pt>
                <c:pt idx="3">
                  <c:v>1.25</c:v>
                </c:pt>
                <c:pt idx="4">
                  <c:v>1.5</c:v>
                </c:pt>
              </c:numCache>
            </c:num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-2.1015</c:v>
                </c:pt>
                <c:pt idx="1">
                  <c:v>-0.001</c:v>
                </c:pt>
                <c:pt idx="2">
                  <c:v>0</c:v>
                </c:pt>
                <c:pt idx="3">
                  <c:v>-0.6566</c:v>
                </c:pt>
                <c:pt idx="4">
                  <c:v>-1.4317</c:v>
                </c:pt>
              </c:numCache>
            </c:numRef>
          </c:val>
          <c:smooth val="0"/>
        </c:ser>
        <c:ser>
          <c:idx val="1"/>
          <c:order val="1"/>
          <c:tx>
            <c:v>Deblurring</c:v>
          </c:tx>
          <c:spPr>
            <a:ln xmlns:a="http://schemas.openxmlformats.org/drawingml/2006/main" w="28575">
              <a:solidFill>
                <a:srgbClr val="C68A24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C68A24"/>
              </a:solidFill>
            </c:spPr>
          </c:marker>
          <c:cat>
            <c:numRef>
              <c:f>'Chart Data'!$C$2:$C$6</c:f>
              <c:numCache>
                <c:formatCode>General</c:formatCode>
                <c:ptCount val="5"/>
                <c:pt idx="0">
                  <c:v>0.5</c:v>
                </c:pt>
                <c:pt idx="1">
                  <c:v>0.75</c:v>
                </c:pt>
                <c:pt idx="2">
                  <c:v>1</c:v>
                </c:pt>
                <c:pt idx="3">
                  <c:v>1.25</c:v>
                </c:pt>
                <c:pt idx="4">
                  <c:v>1.5</c:v>
                </c:pt>
              </c:numCache>
            </c:numRef>
          </c:cat>
          <c:val>
            <c:numRef>
              <c:f>'Chart Data'!$D$2:$D$6</c:f>
              <c:numCache>
                <c:formatCode>0.0</c:formatCode>
                <c:ptCount val="5"/>
                <c:pt idx="0">
                  <c:v>-1.5073</c:v>
                </c:pt>
                <c:pt idx="1">
                  <c:v>-0.0701</c:v>
                </c:pt>
                <c:pt idx="2">
                  <c:v>0</c:v>
                </c:pt>
                <c:pt idx="3">
                  <c:v>-0.3237</c:v>
                </c:pt>
                <c:pt idx="4">
                  <c:v>-0.7244</c:v>
                </c:pt>
              </c:numCache>
            </c:numRef>
          </c:val>
          <c:smooth val="0"/>
        </c:ser>
        <c:ser>
          <c:idx val="2"/>
          <c:order val="2"/>
          <c:tx>
            <c:v>Super-resolution</c:v>
          </c:tx>
          <c:spPr>
            <a:ln xmlns:a="http://schemas.openxmlformats.org/drawingml/2006/main" w="28575">
              <a:solidFill>
                <a:srgbClr val="7758A6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7758A6"/>
              </a:solidFill>
            </c:spPr>
          </c:marker>
          <c:cat>
            <c:numRef>
              <c:f>'Chart Data'!$E$2:$E$6</c:f>
              <c:numCache>
                <c:formatCode>General</c:formatCode>
                <c:ptCount val="5"/>
                <c:pt idx="0">
                  <c:v>0.5</c:v>
                </c:pt>
                <c:pt idx="1">
                  <c:v>0.75</c:v>
                </c:pt>
                <c:pt idx="2">
                  <c:v>1</c:v>
                </c:pt>
                <c:pt idx="3">
                  <c:v>1.25</c:v>
                </c:pt>
                <c:pt idx="4">
                  <c:v>1.5</c:v>
                </c:pt>
              </c:numCache>
            </c:numRef>
          </c:cat>
          <c:val>
            <c:numRef>
              <c:f>'Chart Data'!$F$2:$F$6</c:f>
              <c:numCache>
                <c:formatCode>0.0</c:formatCode>
                <c:ptCount val="5"/>
                <c:pt idx="0">
                  <c:v>0.4185</c:v>
                </c:pt>
                <c:pt idx="1">
                  <c:v>0.2975</c:v>
                </c:pt>
                <c:pt idx="2">
                  <c:v>0</c:v>
                </c:pt>
                <c:pt idx="3">
                  <c:v>-0.3686</c:v>
                </c:pt>
                <c:pt idx="4">
                  <c:v>-0.769</c:v>
                </c:pt>
              </c:numCache>
            </c:numRef>
          </c:val>
          <c:smooth val="0"/>
        </c:ser>
        <c:ser>
          <c:idx val="3"/>
          <c:order val="3"/>
          <c:tx>
            <c:v>Random inpainting</c:v>
          </c:tx>
          <c:spPr>
            <a:ln xmlns:a="http://schemas.openxmlformats.org/drawingml/2006/main" w="28575">
              <a:solidFill>
                <a:srgbClr val="3B8264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3B8264"/>
              </a:solidFill>
            </c:spPr>
          </c:marker>
          <c:cat>
            <c:numRef>
              <c:f>'Chart Data'!$G$2:$G$6</c:f>
              <c:numCache>
                <c:formatCode>General</c:formatCode>
                <c:ptCount val="5"/>
                <c:pt idx="0">
                  <c:v>0.5</c:v>
                </c:pt>
                <c:pt idx="1">
                  <c:v>0.75</c:v>
                </c:pt>
                <c:pt idx="2">
                  <c:v>1</c:v>
                </c:pt>
                <c:pt idx="3">
                  <c:v>1.25</c:v>
                </c:pt>
                <c:pt idx="4">
                  <c:v>1.5</c:v>
                </c:pt>
              </c:numCache>
            </c:numRef>
          </c:cat>
          <c:val>
            <c:numRef>
              <c:f>'Chart Data'!$H$2:$H$6</c:f>
              <c:numCache>
                <c:formatCode>0.0</c:formatCode>
                <c:ptCount val="5"/>
                <c:pt idx="0">
                  <c:v>0.0155</c:v>
                </c:pt>
                <c:pt idx="1">
                  <c:v>0.0123</c:v>
                </c:pt>
                <c:pt idx="2">
                  <c:v>0</c:v>
                </c:pt>
                <c:pt idx="3">
                  <c:v>-0.021</c:v>
                </c:pt>
                <c:pt idx="4">
                  <c:v>-0.0494</c:v>
                </c:pt>
              </c:numCache>
            </c:numRef>
          </c:val>
          <c:smooth val="0"/>
        </c:ser>
        <c:ser>
          <c:idx val="4"/>
          <c:order val="4"/>
          <c:tx>
            <c:v>Box inpainting</c:v>
          </c:tx>
          <c:spPr>
            <a:ln xmlns:a="http://schemas.openxmlformats.org/drawingml/2006/main" w="28575">
              <a:solidFill>
                <a:srgbClr val="D45D4C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D45D4C"/>
              </a:solidFill>
            </c:spPr>
          </c:marker>
          <c:cat>
            <c:numRef>
              <c:f>'Chart Data'!$I$2:$I$6</c:f>
              <c:numCache>
                <c:formatCode>General</c:formatCode>
                <c:ptCount val="5"/>
                <c:pt idx="0">
                  <c:v>0.5</c:v>
                </c:pt>
                <c:pt idx="1">
                  <c:v>0.75</c:v>
                </c:pt>
                <c:pt idx="2">
                  <c:v>1</c:v>
                </c:pt>
                <c:pt idx="3">
                  <c:v>1.25</c:v>
                </c:pt>
                <c:pt idx="4">
                  <c:v>1.5</c:v>
                </c:pt>
              </c:numCache>
            </c:numRef>
          </c:cat>
          <c:val>
            <c:numRef>
              <c:f>'Chart Data'!$J$2:$J$6</c:f>
              <c:numCache>
                <c:formatCode>0.0</c:formatCode>
                <c:ptCount val="5"/>
                <c:pt idx="0">
                  <c:v>-0.5599</c:v>
                </c:pt>
                <c:pt idx="1">
                  <c:v>-0.1236</c:v>
                </c:pt>
                <c:pt idx="2">
                  <c:v>0</c:v>
                </c:pt>
                <c:pt idx="3">
                  <c:v>-0.0395</c:v>
                </c:pt>
                <c:pt idx="4">
                  <c:v>-0.1352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5E6974"/>
                    </a:solidFill>
                    <a:latin typeface="Aptos"/>
                    <a:ea typeface="Aptos"/>
                    <a:cs typeface="Aptos"/>
                  </a:rPr>
                  <a:t>Assumed sigma divided by true sigma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5E6974"/>
                  </a:solidFill>
                  <a:latin typeface="Aptos"/>
                  <a:ea typeface="Aptos"/>
                  <a:cs typeface="Apto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E6974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2.5"/>
          <c:min val="-2.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7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5E6974"/>
                    </a:solidFill>
                    <a:latin typeface="Aptos"/>
                    <a:ea typeface="Aptos"/>
                    <a:cs typeface="Aptos"/>
                  </a:rPr>
                  <a:t>Paired delta PSNR in dB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5E6974"/>
                  </a:solidFill>
                  <a:latin typeface="Aptos"/>
                  <a:ea typeface="Aptos"/>
                  <a:cs typeface="Apto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E6974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5E6974"/>
              </a:solidFill>
              <a:latin typeface="Aptos"/>
              <a:ea typeface="Aptos"/>
              <a:cs typeface="Apto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Denoising</c:v>
          </c:tx>
          <c:spPr>
            <a:ln xmlns:a="http://schemas.openxmlformats.org/drawingml/2006/main" w="28575">
              <a:solidFill>
                <a:srgbClr val="176B87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176B87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0.5</c:v>
                </c:pt>
                <c:pt idx="1">
                  <c:v>0.75</c:v>
                </c:pt>
                <c:pt idx="2">
                  <c:v>1</c:v>
                </c:pt>
                <c:pt idx="3">
                  <c:v>1.25</c:v>
                </c:pt>
                <c:pt idx="4">
                  <c:v>1.5</c:v>
                </c:pt>
              </c:numCache>
            </c:num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-1.2504</c:v>
                </c:pt>
                <c:pt idx="1">
                  <c:v>0.3467</c:v>
                </c:pt>
                <c:pt idx="2">
                  <c:v>0</c:v>
                </c:pt>
                <c:pt idx="3">
                  <c:v>-0.7016</c:v>
                </c:pt>
                <c:pt idx="4">
                  <c:v>-1.4257</c:v>
                </c:pt>
              </c:numCache>
            </c:numRef>
          </c:val>
          <c:smooth val="0"/>
        </c:ser>
        <c:ser>
          <c:idx val="1"/>
          <c:order val="1"/>
          <c:tx>
            <c:v>Deblurring</c:v>
          </c:tx>
          <c:spPr>
            <a:ln xmlns:a="http://schemas.openxmlformats.org/drawingml/2006/main" w="28575">
              <a:solidFill>
                <a:srgbClr val="C68A24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C68A24"/>
              </a:solidFill>
            </c:spPr>
          </c:marker>
          <c:cat>
            <c:numRef>
              <c:f>'Chart Data'!$C$2:$C$6</c:f>
              <c:numCache>
                <c:formatCode>General</c:formatCode>
                <c:ptCount val="5"/>
                <c:pt idx="0">
                  <c:v>0.5</c:v>
                </c:pt>
                <c:pt idx="1">
                  <c:v>0.75</c:v>
                </c:pt>
                <c:pt idx="2">
                  <c:v>1</c:v>
                </c:pt>
                <c:pt idx="3">
                  <c:v>1.25</c:v>
                </c:pt>
                <c:pt idx="4">
                  <c:v>1.5</c:v>
                </c:pt>
              </c:numCache>
            </c:numRef>
          </c:cat>
          <c:val>
            <c:numRef>
              <c:f>'Chart Data'!$D$2:$D$6</c:f>
              <c:numCache>
                <c:formatCode>0.0</c:formatCode>
                <c:ptCount val="5"/>
                <c:pt idx="0">
                  <c:v>-0.0908</c:v>
                </c:pt>
                <c:pt idx="1">
                  <c:v>0.0861</c:v>
                </c:pt>
                <c:pt idx="2">
                  <c:v>0</c:v>
                </c:pt>
                <c:pt idx="3">
                  <c:v>-0.1234</c:v>
                </c:pt>
                <c:pt idx="4">
                  <c:v>-0.2982</c:v>
                </c:pt>
              </c:numCache>
            </c:numRef>
          </c:val>
          <c:smooth val="0"/>
        </c:ser>
        <c:ser>
          <c:idx val="2"/>
          <c:order val="2"/>
          <c:tx>
            <c:v>Super-resolution</c:v>
          </c:tx>
          <c:spPr>
            <a:ln xmlns:a="http://schemas.openxmlformats.org/drawingml/2006/main" w="28575">
              <a:solidFill>
                <a:srgbClr val="7758A6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7758A6"/>
              </a:solidFill>
            </c:spPr>
          </c:marker>
          <c:cat>
            <c:numRef>
              <c:f>'Chart Data'!$E$2:$E$6</c:f>
              <c:numCache>
                <c:formatCode>General</c:formatCode>
                <c:ptCount val="5"/>
                <c:pt idx="0">
                  <c:v>0.5</c:v>
                </c:pt>
                <c:pt idx="1">
                  <c:v>0.75</c:v>
                </c:pt>
                <c:pt idx="2">
                  <c:v>1</c:v>
                </c:pt>
                <c:pt idx="3">
                  <c:v>1.25</c:v>
                </c:pt>
                <c:pt idx="4">
                  <c:v>1.5</c:v>
                </c:pt>
              </c:numCache>
            </c:numRef>
          </c:cat>
          <c:val>
            <c:numRef>
              <c:f>'Chart Data'!$F$2:$F$6</c:f>
              <c:numCache>
                <c:formatCode>0.0</c:formatCode>
                <c:ptCount val="5"/>
                <c:pt idx="0">
                  <c:v>0.4703</c:v>
                </c:pt>
                <c:pt idx="1">
                  <c:v>0.2593</c:v>
                </c:pt>
                <c:pt idx="2">
                  <c:v>0</c:v>
                </c:pt>
                <c:pt idx="3">
                  <c:v>-0.2863</c:v>
                </c:pt>
                <c:pt idx="4">
                  <c:v>-0.5951</c:v>
                </c:pt>
              </c:numCache>
            </c:numRef>
          </c:val>
          <c:smooth val="0"/>
        </c:ser>
        <c:ser>
          <c:idx val="3"/>
          <c:order val="3"/>
          <c:tx>
            <c:v>Random inpainting</c:v>
          </c:tx>
          <c:spPr>
            <a:ln xmlns:a="http://schemas.openxmlformats.org/drawingml/2006/main" w="28575">
              <a:solidFill>
                <a:srgbClr val="3B8264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3B8264"/>
              </a:solidFill>
            </c:spPr>
          </c:marker>
          <c:cat>
            <c:numRef>
              <c:f>'Chart Data'!$G$2:$G$6</c:f>
              <c:numCache>
                <c:formatCode>General</c:formatCode>
                <c:ptCount val="5"/>
                <c:pt idx="0">
                  <c:v>0.5</c:v>
                </c:pt>
                <c:pt idx="1">
                  <c:v>0.75</c:v>
                </c:pt>
                <c:pt idx="2">
                  <c:v>1</c:v>
                </c:pt>
                <c:pt idx="3">
                  <c:v>1.25</c:v>
                </c:pt>
                <c:pt idx="4">
                  <c:v>1.5</c:v>
                </c:pt>
              </c:numCache>
            </c:numRef>
          </c:cat>
          <c:val>
            <c:numRef>
              <c:f>'Chart Data'!$H$2:$H$6</c:f>
              <c:numCache>
                <c:formatCode>0.0</c:formatCode>
                <c:ptCount val="5"/>
                <c:pt idx="0">
                  <c:v>0.0231</c:v>
                </c:pt>
                <c:pt idx="1">
                  <c:v>0.0169</c:v>
                </c:pt>
                <c:pt idx="2">
                  <c:v>0</c:v>
                </c:pt>
                <c:pt idx="3">
                  <c:v>-0.0255</c:v>
                </c:pt>
                <c:pt idx="4">
                  <c:v>-0.0579</c:v>
                </c:pt>
              </c:numCache>
            </c:numRef>
          </c:val>
          <c:smooth val="0"/>
        </c:ser>
        <c:ser>
          <c:idx val="4"/>
          <c:order val="4"/>
          <c:tx>
            <c:v>Box inpainting</c:v>
          </c:tx>
          <c:spPr>
            <a:ln xmlns:a="http://schemas.openxmlformats.org/drawingml/2006/main" w="28575">
              <a:solidFill>
                <a:srgbClr val="D45D4C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D45D4C"/>
              </a:solidFill>
            </c:spPr>
          </c:marker>
          <c:cat>
            <c:numRef>
              <c:f>'Chart Data'!$I$2:$I$6</c:f>
              <c:numCache>
                <c:formatCode>General</c:formatCode>
                <c:ptCount val="5"/>
                <c:pt idx="0">
                  <c:v>0.5</c:v>
                </c:pt>
                <c:pt idx="1">
                  <c:v>0.75</c:v>
                </c:pt>
                <c:pt idx="2">
                  <c:v>1</c:v>
                </c:pt>
                <c:pt idx="3">
                  <c:v>1.25</c:v>
                </c:pt>
                <c:pt idx="4">
                  <c:v>1.5</c:v>
                </c:pt>
              </c:numCache>
            </c:numRef>
          </c:cat>
          <c:val>
            <c:numRef>
              <c:f>'Chart Data'!$J$2:$J$6</c:f>
              <c:numCache>
                <c:formatCode>0.0</c:formatCode>
                <c:ptCount val="5"/>
                <c:pt idx="0">
                  <c:v>-0.3074</c:v>
                </c:pt>
                <c:pt idx="1">
                  <c:v>-0.0735</c:v>
                </c:pt>
                <c:pt idx="2">
                  <c:v>0</c:v>
                </c:pt>
                <c:pt idx="3">
                  <c:v>-0.0179</c:v>
                </c:pt>
                <c:pt idx="4">
                  <c:v>-0.0676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5E6974"/>
                    </a:solidFill>
                    <a:latin typeface="Aptos"/>
                    <a:ea typeface="Aptos"/>
                    <a:cs typeface="Aptos"/>
                  </a:rPr>
                  <a:t>Assumed sigma divided by true sigma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5E6974"/>
                  </a:solidFill>
                  <a:latin typeface="Aptos"/>
                  <a:ea typeface="Aptos"/>
                  <a:cs typeface="Apto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E6974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1.5"/>
          <c:min val="-1.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7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5E6974"/>
                    </a:solidFill>
                    <a:latin typeface="Aptos"/>
                    <a:ea typeface="Aptos"/>
                    <a:cs typeface="Aptos"/>
                  </a:rPr>
                  <a:t>Paired delta PSNR in dB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5E6974"/>
                  </a:solidFill>
                  <a:latin typeface="Aptos"/>
                  <a:ea typeface="Aptos"/>
                  <a:cs typeface="Apto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E6974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5E6974"/>
              </a:solidFill>
              <a:latin typeface="Aptos"/>
              <a:ea typeface="Aptos"/>
              <a:cs typeface="Apto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Mean absolute paired PSNR response</c:v>
          </c:tx>
          <c:spPr>
            <a:solidFill xmlns:a="http://schemas.openxmlformats.org/drawingml/2006/main">
              <a:srgbClr val="176B87"/>
            </a:solidFill>
          </c:spPr>
          <c:cat>
            <c:strRef>
              <c:f>'Chart Data'!$A$2:$A$7</c:f>
              <c:strCache>
                <c:ptCount val="6"/>
                <c:pt idx="0">
                  <c:v>CelebA Box inpainting</c:v>
                </c:pt>
                <c:pt idx="1">
                  <c:v>AFHQ-Cat Super-resolution</c:v>
                </c:pt>
                <c:pt idx="2">
                  <c:v>CelebA Super-resolution</c:v>
                </c:pt>
                <c:pt idx="3">
                  <c:v>CelebA Deblurring</c:v>
                </c:pt>
                <c:pt idx="4">
                  <c:v>AFHQ-Cat Denoising</c:v>
                </c:pt>
                <c:pt idx="5">
                  <c:v>CelebA Denoising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0.2145</c:v>
                </c:pt>
                <c:pt idx="1">
                  <c:v>0.4027</c:v>
                </c:pt>
                <c:pt idx="2">
                  <c:v>0.4634</c:v>
                </c:pt>
                <c:pt idx="3">
                  <c:v>0.6564</c:v>
                </c:pt>
                <c:pt idx="4">
                  <c:v>0.9311</c:v>
                </c:pt>
                <c:pt idx="5">
                  <c:v>1.0477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7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5E6974"/>
                    </a:solidFill>
                    <a:latin typeface="Aptos"/>
                    <a:ea typeface="Aptos"/>
                    <a:cs typeface="Aptos"/>
                  </a:rPr>
                  <a:t>Mean absolute delta PSNR in dB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5E6974"/>
                  </a:solidFill>
                  <a:latin typeface="Aptos"/>
                  <a:ea typeface="Aptos"/>
                  <a:cs typeface="Apto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E6974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E6974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0ce9963d75417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914400"/>
            <a:ext cx="2667000" cy="2667000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e792e2b4534f7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48750" y="3143250"/>
            <a:ext cx="2381250" cy="23812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E13E9C-EC2B-459C-86E9-738432A6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47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38"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FLOWER Under Measurement</a:t>
            </a:r>
          </a:p>
          <a:p xmlns:a="http://schemas.openxmlformats.org/drawingml/2006/main">
            <a:pPr algn="l">
              <a:defRPr sz="3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Noise Scale Mismatch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476D39-92C2-4141-87B6-C2A61B5D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5E7E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5E7EF"/>
                </a:solidFill>
                <a:latin typeface="Aptos"/>
                <a:ea typeface="Aptos"/>
                <a:cs typeface="Aptos"/>
              </a:rPr>
              <a:t>A paired GPU benchmark across five inverse problems and two image domains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76D90C-0012-4786-93AA-CEA84F1A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4CCC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4CCC5"/>
                </a:solidFill>
                <a:latin typeface="Aptos"/>
                <a:ea typeface="Aptos"/>
                <a:cs typeface="Aptos"/>
              </a:rPr>
              <a:t>1,000 reconstructions   PSNR   SSIM   LPIPS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78DD91-CDF3-4EC0-83D7-8C254D80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CCD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9CCD6"/>
                </a:solidFill>
                <a:latin typeface="Aptos"/>
                <a:ea typeface="Aptos"/>
                <a:cs typeface="Aptos"/>
              </a:rPr>
              <a:t>Itay Shorian   14 October 2026</a:t>
            </a:r>
          </a:p>
        </p:txBody>
      </p:sp>
    </p:spTree>
    <p:extLst>
      <p:ext uri="{BB962C8B-B14F-4D97-AF65-F5344CB8AC3E}">
        <p14:creationId xmlns:p14="http://schemas.microsoft.com/office/powerpoint/2010/main" val="4736870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C2E13C-8D53-40FC-A4E9-8FD8573A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0320C6-2663-45B0-842C-658028B9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Research question and paired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55DD08-DAA0-4A53-A447-27A4D74F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E697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697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10035fef7d496c"/>
          <a:stretch xmlns:a="http://schemas.openxmlformats.org/drawingml/2006/main"/>
        </p:blipFill>
        <p:spPr>
          <a:xfrm xmlns:a="http://schemas.openxmlformats.org/drawingml/2006/main">
            <a:off x="838200" y="1433913"/>
            <a:ext cx="5715000" cy="6183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9F9EC8-918E-4AB1-90A0-7D326E64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622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The measurement is generated once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2EE55A-4405-48B6-B9EC-7B36D662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4667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9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E6974"/>
                </a:solidFill>
                <a:latin typeface="Aptos"/>
                <a:ea typeface="Aptos"/>
                <a:cs typeface="Aptos"/>
              </a:rPr>
              <a:t>The operator, noise realization, mask or kernel, model weights, and FLOWER source-noise trajectory remain fixed.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EDC3B0-94EA-4B5F-A7AB-54A6D9A7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719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45D4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45D4C"/>
                </a:solidFill>
                <a:latin typeface="Aptos"/>
                <a:ea typeface="Aptos"/>
                <a:cs typeface="Aptos"/>
              </a:rPr>
              <a:t>Only the assumed standard deviation changes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DD7712-B1AC-4847-BADB-AD2E635C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863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0.5     0.75     1.0     1.25     1.5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F20434-EF05-480B-802E-DA07BC79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352550"/>
            <a:ext cx="451485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 w="9525">
            <a:solidFill>
              <a:srgbClr val="D9E1E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FDD73F-AAE0-47FE-B76D-2C747AB3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383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Paired statistic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d401c6e0d14af5"/>
          <a:stretch xmlns:a="http://schemas.openxmlformats.org/drawingml/2006/main"/>
        </p:blipFill>
        <p:spPr>
          <a:xfrm xmlns:a="http://schemas.openxmlformats.org/drawingml/2006/main">
            <a:off x="7239000" y="2404029"/>
            <a:ext cx="3714750" cy="221143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221B0E-69BE-4713-8E89-DD7DA9F6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43250"/>
            <a:ext cx="352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767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Ratio 1.0 is the correctly specified control for the same image and measurement.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E59D48-A90B-4FB8-BF46-B7CC4ACB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71950"/>
            <a:ext cx="3524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E69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974"/>
                </a:solidFill>
                <a:latin typeface="Aptos"/>
                <a:ea typeface="Aptos"/>
                <a:cs typeface="Aptos"/>
              </a:rPr>
              <a:t>The project evaluates the released model and reconstruction rule. It does not train another model.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34807C-1F53-4BBA-A541-2474611C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37B2A7-5AA7-48B6-BB31-10B85F71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62725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9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974"/>
                </a:solidFill>
                <a:latin typeface="Aptos"/>
                <a:ea typeface="Aptos"/>
                <a:cs typeface="Aptos"/>
              </a:rPr>
              <a:t>FLOWER measurement noise scale mismatch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35B5E3-DB74-4EF6-BF38-B239032C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62725"/>
            <a:ext cx="2705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E69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974"/>
                </a:solidFill>
                <a:latin typeface="Aptos"/>
                <a:ea typeface="Aptos"/>
                <a:cs typeface="Aptos"/>
              </a:rPr>
              <a:t>20 CelebA + 20 AFHQ-Cat</a:t>
            </a:r>
          </a:p>
        </p:txBody>
      </p:sp>
    </p:spTree>
    <p:extLst>
      <p:ext uri="{BB962C8B-B14F-4D97-AF65-F5344CB8AC3E}">
        <p14:creationId xmlns:p14="http://schemas.microsoft.com/office/powerpoint/2010/main" val="3053990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255A06-F618-477A-8D16-B558A89C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932AF-5BFA-469A-B9E2-2734D949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FLOWER uses three steps at every flow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C5D6A9-B8D2-4DF7-8D3D-A9BAC0CD0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E697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697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AA5FFB-8647-4B05-8F62-3B2D7686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FEF77C-1646-486B-A18A-5EC599C8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4097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Prior destination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C44767-1815-4105-B769-D8CC8082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2880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9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974"/>
                </a:solidFill>
                <a:latin typeface="Aptos"/>
                <a:ea typeface="Aptos"/>
                <a:cs typeface="Aptos"/>
              </a:rPr>
              <a:t>The velocity network predicts x-hat-1.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3FD70F-2050-4FFF-AF2D-A9B3C0F8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4287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45D4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45D4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20AE81-5C56-4449-86A5-D14CB195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4097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Measurement refinement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23C5E0-C18D-484C-9209-E4A39429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2880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9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974"/>
                </a:solidFill>
                <a:latin typeface="Aptos"/>
                <a:ea typeface="Aptos"/>
                <a:cs typeface="Aptos"/>
              </a:rPr>
              <a:t>The assumed sigma weights the likelihood.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412236-3DF9-40EE-9AA4-CD6D9419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B826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3B8264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9C5BAA-5128-41F7-BAAB-5492364E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4097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Time progression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7C2F46-2C1D-4FAD-84A1-0E8E9B7F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2880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9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974"/>
                </a:solidFill>
                <a:latin typeface="Aptos"/>
                <a:ea typeface="Aptos"/>
                <a:cs typeface="Aptos"/>
              </a:rPr>
              <a:t>The refined destination advances the trajectory.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308bed20264eed"/>
          <a:stretch xmlns:a="http://schemas.openxmlformats.org/drawingml/2006/main"/>
        </p:blipFill>
        <p:spPr>
          <a:xfrm xmlns:a="http://schemas.openxmlformats.org/drawingml/2006/main">
            <a:off x="933450" y="2960299"/>
            <a:ext cx="6572250" cy="423051"/>
          </a:xfrm>
          <a:prstGeom xmlns:a="http://schemas.openxmlformats.org/drawingml/2006/main" prst="rect">
            <a:avLst/>
          </a:prstGeom>
        </p:spPr>
      </p:pic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c3d9d595c14fb7"/>
          <a:stretch xmlns:a="http://schemas.openxmlformats.org/drawingml/2006/main"/>
        </p:blipFill>
        <p:spPr>
          <a:xfrm xmlns:a="http://schemas.openxmlformats.org/drawingml/2006/main">
            <a:off x="1126808" y="3905250"/>
            <a:ext cx="6185535" cy="9715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D65136-DF9C-4784-A99C-B7428D2EB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62250"/>
            <a:ext cx="32956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6F1EA"/>
          </a:solidFill>
          <a:ln xmlns:a="http://schemas.openxmlformats.org/drawingml/2006/main" w="9525">
            <a:solidFill>
              <a:srgbClr val="D9E1E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AA76DB-ED47-4C1E-9F9D-DF340EBF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5275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D45D4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45D4C"/>
                </a:solidFill>
                <a:latin typeface="Aptos"/>
                <a:ea typeface="Aptos"/>
                <a:cs typeface="Aptos"/>
              </a:rPr>
              <a:t>Where mismatch acts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E00EA7-E742-47B3-8F04-0ED5175B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71850"/>
            <a:ext cx="26479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6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smaller assumed sigma strengthens the data term. A larger value gives the learned prior more influence.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B2DA5D-8F72-4EB4-98CB-17BEDF26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429250"/>
            <a:ext cx="956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E69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E6974"/>
                </a:solidFill>
                <a:latin typeface="Aptos"/>
                <a:ea typeface="Aptos"/>
                <a:cs typeface="Aptos"/>
              </a:rPr>
              <a:t>The report gives short proofs for the conditional destination, Gaussian refinement, proximal equivalence, and ancestral transition.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0A22D4-39A3-4734-AE38-5CDCE2BF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3CF00F-791E-4986-8E1B-27664FFE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62725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9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974"/>
                </a:solidFill>
                <a:latin typeface="Aptos"/>
                <a:ea typeface="Aptos"/>
                <a:cs typeface="Aptos"/>
              </a:rPr>
              <a:t>FLOWER measurement noise scale mismatch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C57984-A6E8-4CA8-9925-89F393BA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62725"/>
            <a:ext cx="2705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E69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974"/>
                </a:solidFill>
                <a:latin typeface="Aptos"/>
                <a:ea typeface="Aptos"/>
                <a:cs typeface="Aptos"/>
              </a:rPr>
              <a:t>20 CelebA + 20 AFHQ-Cat</a:t>
            </a:r>
          </a:p>
        </p:txBody>
      </p:sp>
    </p:spTree>
    <p:extLst>
      <p:ext uri="{BB962C8B-B14F-4D97-AF65-F5344CB8AC3E}">
        <p14:creationId xmlns:p14="http://schemas.microsoft.com/office/powerpoint/2010/main" val="10469594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6AFE57-1211-4C5C-8B32-757911FB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490D9F-3D20-460D-A77B-435F7525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Ten settings cover five operators and two domains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BDF50F-1042-4117-B5B0-CC497C25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E697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697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8088BF-D170-44E3-8B96-70FA2A7A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1930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CelebA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82899f753b4f9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52625" y="1428750"/>
            <a:ext cx="1504950" cy="1504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A1D368-F93F-464A-9501-026FF7F2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29908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Denoising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9ee05379c6499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38575" y="1428750"/>
            <a:ext cx="1504950" cy="15049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D33825-6577-468F-BA2E-2FA5BC37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9908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Deblurring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de4ba2bf89421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24525" y="1428750"/>
            <a:ext cx="1504950" cy="15049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F8B840-8514-4281-A3A2-33825337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9908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Super-resolution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b7ec682c7c49a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10475" y="1428750"/>
            <a:ext cx="1504950" cy="15049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1594D3-5408-467A-99B3-39FB02DF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9908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Random inpainting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518613b8da4ba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96425" y="1428750"/>
            <a:ext cx="1504950" cy="15049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B431A0-78A8-4327-8B78-DBC89424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9908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Box inpainting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980423-037F-47C4-95E0-DE8BAA80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1005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AFHQ-Cat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b5cb4824364ed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52625" y="3619500"/>
            <a:ext cx="1504950" cy="15049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E492EC-1393-420E-BF73-C6D990B9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51816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Denoising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9786c783a849a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38575" y="3619500"/>
            <a:ext cx="1504950" cy="15049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0738AF-C6E6-4597-9BBE-E2707B06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1816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Deblurring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bd19f48c47495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24525" y="3619500"/>
            <a:ext cx="1504950" cy="150495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F502C0-BD6D-4D67-912C-A35C23FE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51816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Super-resolution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529f64c05a48d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10475" y="3619500"/>
            <a:ext cx="1504950" cy="15049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CB3AE6-C900-4747-B086-0C252BFB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51816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Random inpainting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20981aae31453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96425" y="3619500"/>
            <a:ext cx="1504950" cy="15049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2234FC-74F6-4556-AEF6-F3D76FA7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51816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Box inpainting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275B41-C864-4F82-B94F-4ABC95FF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791200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The same 20 selected images pass through every task within a dataset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7A4309-A0B3-4338-93B8-E7F745E6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7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073997-8461-4906-B780-B3876B6B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62725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9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974"/>
                </a:solidFill>
                <a:latin typeface="Aptos"/>
                <a:ea typeface="Aptos"/>
                <a:cs typeface="Aptos"/>
              </a:rPr>
              <a:t>FLOWER measurement noise scale mismatch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29EDFB-8625-4A8B-9D2B-972F4BEE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62725"/>
            <a:ext cx="2705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E69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974"/>
                </a:solidFill>
                <a:latin typeface="Aptos"/>
                <a:ea typeface="Aptos"/>
                <a:cs typeface="Aptos"/>
              </a:rPr>
              <a:t>20 CelebA + 20 AFHQ-Cat</a:t>
            </a:r>
          </a:p>
        </p:txBody>
      </p:sp>
    </p:spTree>
    <p:extLst>
      <p:ext uri="{BB962C8B-B14F-4D97-AF65-F5344CB8AC3E}">
        <p14:creationId xmlns:p14="http://schemas.microsoft.com/office/powerpoint/2010/main" val="17125669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B1AF83-F4FB-4A3F-A764-502F2EEA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58AA86-6600-4CF8-9F38-99BBCF61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Task parameters match the public FLOWER benchmark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095A35-4B20-4252-A15D-28E4BAD0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E697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697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819150" y="1428750"/>
          <a:ext xmlns:a="http://schemas.openxmlformats.org/drawingml/2006/main" cx="10553700" cy="3714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477825"/>
                <a:gridCol w="1468341"/>
                <a:gridCol w="3303767"/>
                <a:gridCol w="3303767"/>
              </a:tblGrid>
              <a:tr h="6191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Task</a:t>
                      </a:r>
                    </a:p>
                  </a:txBody>
                  <a:tcPr marL="95250" marR="95250" marT="95250" marB="9525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True sigma</a:t>
                      </a:r>
                    </a:p>
                  </a:txBody>
                  <a:tcPr marL="95250" marR="95250" marT="95250" marB="9525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CelebA</a:t>
                      </a:r>
                    </a:p>
                  </a:txBody>
                  <a:tcPr marL="95250" marR="95250" marT="95250" marB="9525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AFHQ-Cat</a:t>
                      </a:r>
                    </a:p>
                  </a:txBody>
                  <a:tcPr marL="95250" marR="95250" marT="95250" marB="95250">
                    <a:solidFill>
                      <a:srgbClr val="17324D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Denoising</a:t>
                      </a:r>
                    </a:p>
                  </a:txBody>
                  <a:tcPr marL="95250" marR="95250" marT="85725" marB="8572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0.20</a:t>
                      </a:r>
                    </a:p>
                  </a:txBody>
                  <a:tcPr marL="95250" marR="95250" marT="85725" marB="8572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Identity, 100 steps</a:t>
                      </a:r>
                    </a:p>
                  </a:txBody>
                  <a:tcPr marL="95250" marR="95250" marT="85725" marB="8572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Identity, 100 steps</a:t>
                      </a:r>
                    </a:p>
                  </a:txBody>
                  <a:tcPr marL="95250" marR="95250" marT="85725" marB="85725" anchor="ctr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Deblurring</a:t>
                      </a:r>
                    </a:p>
                  </a:txBody>
                  <a:tcPr marL="95250" marR="95250" marT="85725" marB="8572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0.05</a:t>
                      </a:r>
                    </a:p>
                  </a:txBody>
                  <a:tcPr marL="95250" marR="95250" marT="85725" marB="8572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Blur sigma 1, 100 steps</a:t>
                      </a:r>
                    </a:p>
                  </a:txBody>
                  <a:tcPr marL="95250" marR="95250" marT="85725" marB="8572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Blur sigma 3, 500 steps</a:t>
                      </a:r>
                    </a:p>
                  </a:txBody>
                  <a:tcPr marL="95250" marR="95250" marT="85725" marB="85725" anchor="ctr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Super-resolution</a:t>
                      </a:r>
                    </a:p>
                  </a:txBody>
                  <a:tcPr marL="95250" marR="95250" marT="85725" marB="8572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0.05</a:t>
                      </a:r>
                    </a:p>
                  </a:txBody>
                  <a:tcPr marL="95250" marR="95250" marT="85725" marB="8572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2x, 100 steps</a:t>
                      </a:r>
                    </a:p>
                  </a:txBody>
                  <a:tcPr marL="95250" marR="95250" marT="85725" marB="8572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4x, 500 steps</a:t>
                      </a:r>
                    </a:p>
                  </a:txBody>
                  <a:tcPr marL="95250" marR="95250" marT="85725" marB="85725" anchor="ctr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Random inpainting</a:t>
                      </a:r>
                    </a:p>
                  </a:txBody>
                  <a:tcPr marL="95250" marR="95250" marT="85725" marB="8572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0.01</a:t>
                      </a:r>
                    </a:p>
                  </a:txBody>
                  <a:tcPr marL="95250" marR="95250" marT="85725" marB="8572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70% missing, 100 steps</a:t>
                      </a:r>
                    </a:p>
                  </a:txBody>
                  <a:tcPr marL="95250" marR="95250" marT="85725" marB="8572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70% missing, 200 steps</a:t>
                      </a:r>
                    </a:p>
                  </a:txBody>
                  <a:tcPr marL="95250" marR="95250" marT="85725" marB="85725" anchor="ctr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Box inpainting</a:t>
                      </a:r>
                    </a:p>
                  </a:txBody>
                  <a:tcPr marL="95250" marR="95250" marT="85725" marB="8572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0.05</a:t>
                      </a:r>
                    </a:p>
                  </a:txBody>
                  <a:tcPr marL="95250" marR="95250" marT="85725" marB="8572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40 x 40, 100 steps</a:t>
                      </a:r>
                    </a:p>
                  </a:txBody>
                  <a:tcPr marL="95250" marR="95250" marT="85725" marB="8572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80 x 80, 100 steps</a:t>
                      </a:r>
                    </a:p>
                  </a:txBody>
                  <a:tcPr marL="95250" marR="95250" marT="85725" marB="85725" anchor="ctr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E3E914-D45B-41EC-90FA-94B6D39F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67350"/>
            <a:ext cx="9791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20 images x 5 ratios x 5 tasks x 2 datasets = 1,000 reconstructions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B37556-AFC4-413A-8820-C1A6190E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2D185E-B2BC-4E26-AB66-B649B735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62725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9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974"/>
                </a:solidFill>
                <a:latin typeface="Aptos"/>
                <a:ea typeface="Aptos"/>
                <a:cs typeface="Aptos"/>
              </a:rPr>
              <a:t>FLOWER measurement noise scale mismatch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138B01-2731-4BCB-AE18-EED194A6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62725"/>
            <a:ext cx="2705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E69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974"/>
                </a:solidFill>
                <a:latin typeface="Aptos"/>
                <a:ea typeface="Aptos"/>
                <a:cs typeface="Aptos"/>
              </a:rPr>
              <a:t>20 CelebA + 20 AFHQ-Cat</a:t>
            </a:r>
          </a:p>
        </p:txBody>
      </p:sp>
    </p:spTree>
    <p:extLst>
      <p:ext uri="{BB962C8B-B14F-4D97-AF65-F5344CB8AC3E}">
        <p14:creationId xmlns:p14="http://schemas.microsoft.com/office/powerpoint/2010/main" val="15405240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C1BA7F-4518-42C1-90BA-E4A6A2E0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99E9D6-81AB-48AB-BA7A-8617A38C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CelebA paired PSNR response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C68954-D682-4ED8-B796-A22E8E24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E697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697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66750" y="1333500"/>
          <a:ext xmlns:a="http://schemas.openxmlformats.org/drawingml/2006/main" cx="78105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66b66050eab405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F0D142-4948-4307-B436-79413F73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621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45D4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45D4C"/>
                </a:solidFill>
                <a:latin typeface="Aptos"/>
                <a:ea typeface="Aptos"/>
                <a:cs typeface="Aptos"/>
              </a:rPr>
              <a:t>Most sensitive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AB9FC5-3EB7-4F30-9629-AE3B5754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8595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Denoising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D7EE8A-35B5-4533-BBF3-46A49D71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962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9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974"/>
                </a:solidFill>
                <a:latin typeface="Aptos"/>
                <a:ea typeface="Aptos"/>
                <a:cs typeface="Aptos"/>
              </a:rPr>
              <a:t>1.05 dB mean absolute response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C5E2D3-00EA-44C1-AD3D-5E120646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671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B826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B8264"/>
                </a:solidFill>
                <a:latin typeface="Aptos"/>
                <a:ea typeface="Aptos"/>
                <a:cs typeface="Aptos"/>
              </a:rPr>
              <a:t>Least sensitive task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029E98-9373-4CE8-9B6F-329C7921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9095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Random inpainting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36A8BB-F5E3-4136-B35F-306E8DB0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815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962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9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974"/>
                </a:solidFill>
                <a:latin typeface="Aptos"/>
                <a:ea typeface="Aptos"/>
                <a:cs typeface="Aptos"/>
              </a:rPr>
              <a:t>0.02 dB mean absolute response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58FAD2-8BCF-43AF-8B6C-9B9020CB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D24A71-3A13-4EF1-9DEB-F09B0EC0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62725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9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974"/>
                </a:solidFill>
                <a:latin typeface="Aptos"/>
                <a:ea typeface="Aptos"/>
                <a:cs typeface="Aptos"/>
              </a:rPr>
              <a:t>FLOWER measurement noise scale mismatch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60F9F0-60A0-485B-A1C0-104AC5E8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62725"/>
            <a:ext cx="2705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E69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974"/>
                </a:solidFill>
                <a:latin typeface="Aptos"/>
                <a:ea typeface="Aptos"/>
                <a:cs typeface="Aptos"/>
              </a:rPr>
              <a:t>20 CelebA + 20 AFHQ-Cat</a:t>
            </a:r>
          </a:p>
        </p:txBody>
      </p:sp>
    </p:spTree>
    <p:extLst>
      <p:ext uri="{BB962C8B-B14F-4D97-AF65-F5344CB8AC3E}">
        <p14:creationId xmlns:p14="http://schemas.microsoft.com/office/powerpoint/2010/main" val="8629112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D60626-1F09-4A00-BC63-3F725240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B7741E-B12C-48A9-A1BC-718F620D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AFHQ-Cat paired PSNR response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A53650-28DC-4F21-92B8-EC2290EB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E697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697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66750" y="1333500"/>
          <a:ext xmlns:a="http://schemas.openxmlformats.org/drawingml/2006/main" cx="78105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d7415158db643f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BF01BD-C1B6-4416-BDE0-4773F283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621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45D4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45D4C"/>
                </a:solidFill>
                <a:latin typeface="Aptos"/>
                <a:ea typeface="Aptos"/>
                <a:cs typeface="Aptos"/>
              </a:rPr>
              <a:t>Most sensitive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7911EB-C00E-4632-B6BF-D44865B7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8595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Denoising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92A7EA-9C78-48A0-912B-2937F6AE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962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9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974"/>
                </a:solidFill>
                <a:latin typeface="Aptos"/>
                <a:ea typeface="Aptos"/>
                <a:cs typeface="Aptos"/>
              </a:rPr>
              <a:t>0.93 dB mean absolute response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4B887B-7859-4616-9201-3748C709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671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B826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B8264"/>
                </a:solidFill>
                <a:latin typeface="Aptos"/>
                <a:ea typeface="Aptos"/>
                <a:cs typeface="Aptos"/>
              </a:rPr>
              <a:t>Least sensitive task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18107E-F9EC-4209-A6C0-420BD212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9095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Random inpainting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04E0E9-108B-4482-8570-AADB70E0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815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962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9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974"/>
                </a:solidFill>
                <a:latin typeface="Aptos"/>
                <a:ea typeface="Aptos"/>
                <a:cs typeface="Aptos"/>
              </a:rPr>
              <a:t>0.03 dB mean absolute response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60F548-5840-4640-BE2A-B1A7B271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80151F-BCBD-4061-9AD5-E0454F67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62725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9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974"/>
                </a:solidFill>
                <a:latin typeface="Aptos"/>
                <a:ea typeface="Aptos"/>
                <a:cs typeface="Aptos"/>
              </a:rPr>
              <a:t>FLOWER measurement noise scale mismatch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71342F-FA76-46A6-813F-CBD91A30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62725"/>
            <a:ext cx="2705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E69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974"/>
                </a:solidFill>
                <a:latin typeface="Aptos"/>
                <a:ea typeface="Aptos"/>
                <a:cs typeface="Aptos"/>
              </a:rPr>
              <a:t>20 CelebA + 20 AFHQ-Cat</a:t>
            </a:r>
          </a:p>
        </p:txBody>
      </p:sp>
    </p:spTree>
    <p:extLst>
      <p:ext uri="{BB962C8B-B14F-4D97-AF65-F5344CB8AC3E}">
        <p14:creationId xmlns:p14="http://schemas.microsoft.com/office/powerpoint/2010/main" val="8806048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E5F741-6C05-40C6-A31B-8C360A24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BAE6EC-BE70-41E4-B561-8194D808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Control results and the paper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E28FA6-3EC4-4B3C-ACB4-37054F1E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E697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697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85800" y="1695450"/>
          <a:ext xmlns:a="http://schemas.openxmlformats.org/drawingml/2006/main" cx="5219700" cy="3333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42491"/>
                <a:gridCol w="1134717"/>
                <a:gridCol w="1021246"/>
                <a:gridCol w="1021246"/>
              </a:tblGrid>
              <a:tr h="5556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Task</a:t>
                      </a:r>
                    </a:p>
                  </a:txBody>
                  <a:tcPr marL="76200" marR="76200" marT="76200" marB="7620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Our control</a:t>
                      </a:r>
                    </a:p>
                  </a:txBody>
                  <a:tcPr marL="76200" marR="76200" marT="76200" marB="7620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Paper</a:t>
                      </a:r>
                    </a:p>
                  </a:txBody>
                  <a:tcPr marL="76200" marR="76200" marT="76200" marB="7620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Difference</a:t>
                      </a:r>
                    </a:p>
                  </a:txBody>
                  <a:tcPr marL="76200" marR="76200" marT="76200" marB="76200">
                    <a:solidFill>
                      <a:srgbClr val="17324D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Denoising</a:t>
                      </a:r>
                    </a:p>
                  </a:txBody>
                  <a:tcPr marL="66675" marR="66675" marT="76200" marB="762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32.22</a:t>
                      </a:r>
                    </a:p>
                  </a:txBody>
                  <a:tcPr marL="66675" marR="66675" marT="76200" marB="762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32.28</a:t>
                      </a:r>
                    </a:p>
                  </a:txBody>
                  <a:tcPr marL="66675" marR="66675" marT="76200" marB="762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-0.06</a:t>
                      </a:r>
                    </a:p>
                  </a:txBody>
                  <a:tcPr marL="66675" marR="66675" marT="76200" marB="76200" anchor="ctr"/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Deblurring</a:t>
                      </a:r>
                    </a:p>
                  </a:txBody>
                  <a:tcPr marL="66675" marR="66675" marT="76200" marB="762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34.74</a:t>
                      </a:r>
                    </a:p>
                  </a:txBody>
                  <a:tcPr marL="66675" marR="66675" marT="76200" marB="762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34.98</a:t>
                      </a:r>
                    </a:p>
                  </a:txBody>
                  <a:tcPr marL="66675" marR="66675" marT="76200" marB="762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-0.24</a:t>
                      </a:r>
                    </a:p>
                  </a:txBody>
                  <a:tcPr marL="66675" marR="66675" marT="76200" marB="76200" anchor="ctr"/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Super-resolution</a:t>
                      </a:r>
                    </a:p>
                  </a:txBody>
                  <a:tcPr marL="66675" marR="66675" marT="76200" marB="762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32.14</a:t>
                      </a:r>
                    </a:p>
                  </a:txBody>
                  <a:tcPr marL="66675" marR="66675" marT="76200" marB="762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32.36</a:t>
                      </a:r>
                    </a:p>
                  </a:txBody>
                  <a:tcPr marL="66675" marR="66675" marT="76200" marB="762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-0.22</a:t>
                      </a:r>
                    </a:p>
                  </a:txBody>
                  <a:tcPr marL="66675" marR="66675" marT="76200" marB="76200" anchor="ctr"/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Random inpainting</a:t>
                      </a:r>
                    </a:p>
                  </a:txBody>
                  <a:tcPr marL="66675" marR="66675" marT="76200" marB="762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32.65</a:t>
                      </a:r>
                    </a:p>
                  </a:txBody>
                  <a:tcPr marL="66675" marR="66675" marT="76200" marB="762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33.08</a:t>
                      </a:r>
                    </a:p>
                  </a:txBody>
                  <a:tcPr marL="66675" marR="66675" marT="76200" marB="762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-0.43</a:t>
                      </a:r>
                    </a:p>
                  </a:txBody>
                  <a:tcPr marL="66675" marR="66675" marT="76200" marB="76200" anchor="ctr"/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Box inpainting</a:t>
                      </a:r>
                    </a:p>
                  </a:txBody>
                  <a:tcPr marL="66675" marR="66675" marT="76200" marB="762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30.54</a:t>
                      </a:r>
                    </a:p>
                  </a:txBody>
                  <a:tcPr marL="66675" marR="66675" marT="76200" marB="762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31.19</a:t>
                      </a:r>
                    </a:p>
                  </a:txBody>
                  <a:tcPr marL="66675" marR="66675" marT="76200" marB="762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-0.65</a:t>
                      </a:r>
                    </a:p>
                  </a:txBody>
                  <a:tcPr marL="66675" marR="66675" marT="76200" marB="76200" anchor="ctr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CD55E1-B390-475D-AC40-D273284A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CelebA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286500" y="1695450"/>
          <a:ext xmlns:a="http://schemas.openxmlformats.org/drawingml/2006/main" cx="5219700" cy="3333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42491"/>
                <a:gridCol w="1134717"/>
                <a:gridCol w="1021246"/>
                <a:gridCol w="1021246"/>
              </a:tblGrid>
              <a:tr h="5556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Task</a:t>
                      </a:r>
                    </a:p>
                  </a:txBody>
                  <a:tcPr marL="76200" marR="76200" marT="76200" marB="7620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Our control</a:t>
                      </a:r>
                    </a:p>
                  </a:txBody>
                  <a:tcPr marL="76200" marR="76200" marT="76200" marB="7620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Paper</a:t>
                      </a:r>
                    </a:p>
                  </a:txBody>
                  <a:tcPr marL="76200" marR="76200" marT="76200" marB="7620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Difference</a:t>
                      </a:r>
                    </a:p>
                  </a:txBody>
                  <a:tcPr marL="76200" marR="76200" marT="76200" marB="76200">
                    <a:solidFill>
                      <a:srgbClr val="17324D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Denoising</a:t>
                      </a:r>
                    </a:p>
                  </a:txBody>
                  <a:tcPr marL="66675" marR="66675" marT="76200" marB="762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31.31</a:t>
                      </a:r>
                    </a:p>
                  </a:txBody>
                  <a:tcPr marL="66675" marR="66675" marT="76200" marB="762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31.69</a:t>
                      </a:r>
                    </a:p>
                  </a:txBody>
                  <a:tcPr marL="66675" marR="66675" marT="76200" marB="762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-0.38</a:t>
                      </a:r>
                    </a:p>
                  </a:txBody>
                  <a:tcPr marL="66675" marR="66675" marT="76200" marB="76200" anchor="ctr"/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Deblurring</a:t>
                      </a:r>
                    </a:p>
                  </a:txBody>
                  <a:tcPr marL="66675" marR="66675" marT="76200" marB="762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27.45</a:t>
                      </a:r>
                    </a:p>
                  </a:txBody>
                  <a:tcPr marL="66675" marR="66675" marT="76200" marB="762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28.64</a:t>
                      </a:r>
                    </a:p>
                  </a:txBody>
                  <a:tcPr marL="66675" marR="66675" marT="76200" marB="762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-1.19</a:t>
                      </a:r>
                    </a:p>
                  </a:txBody>
                  <a:tcPr marL="66675" marR="66675" marT="76200" marB="76200" anchor="ctr"/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Super-resolution</a:t>
                      </a:r>
                    </a:p>
                  </a:txBody>
                  <a:tcPr marL="66675" marR="66675" marT="76200" marB="762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26.15</a:t>
                      </a:r>
                    </a:p>
                  </a:txBody>
                  <a:tcPr marL="66675" marR="66675" marT="76200" marB="762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26.23</a:t>
                      </a:r>
                    </a:p>
                  </a:txBody>
                  <a:tcPr marL="66675" marR="66675" marT="76200" marB="762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-0.08</a:t>
                      </a:r>
                    </a:p>
                  </a:txBody>
                  <a:tcPr marL="66675" marR="66675" marT="76200" marB="76200" anchor="ctr"/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Random inpainting</a:t>
                      </a:r>
                    </a:p>
                  </a:txBody>
                  <a:tcPr marL="66675" marR="66675" marT="76200" marB="762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32.15</a:t>
                      </a:r>
                    </a:p>
                  </a:txBody>
                  <a:tcPr marL="66675" marR="66675" marT="76200" marB="762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32.97</a:t>
                      </a:r>
                    </a:p>
                  </a:txBody>
                  <a:tcPr marL="66675" marR="66675" marT="76200" marB="762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-0.82</a:t>
                      </a:r>
                    </a:p>
                  </a:txBody>
                  <a:tcPr marL="66675" marR="66675" marT="76200" marB="76200" anchor="ctr"/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Box inpainting</a:t>
                      </a:r>
                    </a:p>
                  </a:txBody>
                  <a:tcPr marL="66675" marR="66675" marT="76200" marB="762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26.70</a:t>
                      </a:r>
                    </a:p>
                  </a:txBody>
                  <a:tcPr marL="66675" marR="66675" marT="76200" marB="762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26.19</a:t>
                      </a:r>
                    </a:p>
                  </a:txBody>
                  <a:tcPr marL="66675" marR="66675" marT="76200" marB="76200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12B"/>
                          </a:solidFill>
                          <a:latin typeface="Aptos"/>
                          <a:ea typeface="Aptos"/>
                          <a:cs typeface="Aptos"/>
                        </a:rPr>
                        <a:t>0.51</a:t>
                      </a:r>
                    </a:p>
                  </a:txBody>
                  <a:tcPr marL="66675" marR="66675" marT="76200" marB="76200" anchor="ctr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DBDE8A-71AA-43D9-85BE-06855F3A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144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AFHQ-Cat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70F574-193F-472A-9704-DF721F63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10200"/>
            <a:ext cx="9677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E69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974"/>
                </a:solidFill>
                <a:latin typeface="Aptos"/>
                <a:ea typeface="Aptos"/>
                <a:cs typeface="Aptos"/>
              </a:rPr>
              <a:t>Our control uses 20 fixed images from each paper benchmark pool. The paper values average 100 images, so the differences are contextual rather than exact replication errors.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02828C-9444-4192-9DB5-7458EB1D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ECB821-F977-443A-95E1-ED74CB9B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62725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9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974"/>
                </a:solidFill>
                <a:latin typeface="Aptos"/>
                <a:ea typeface="Aptos"/>
                <a:cs typeface="Aptos"/>
              </a:rPr>
              <a:t>FLOWER measurement noise scale mismatch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B0EDDE-93F9-455E-8BDD-50D0ACE2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62725"/>
            <a:ext cx="2705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E69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974"/>
                </a:solidFill>
                <a:latin typeface="Aptos"/>
                <a:ea typeface="Aptos"/>
                <a:cs typeface="Aptos"/>
              </a:rPr>
              <a:t>20 CelebA + 20 AFHQ-Cat</a:t>
            </a:r>
          </a:p>
        </p:txBody>
      </p:sp>
    </p:spTree>
    <p:extLst>
      <p:ext uri="{BB962C8B-B14F-4D97-AF65-F5344CB8AC3E}">
        <p14:creationId xmlns:p14="http://schemas.microsoft.com/office/powerpoint/2010/main" val="5531541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B8DADE-5E6E-47B8-9708-86266BD6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21DA6D-4B4A-4B50-8FCD-9FE64361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CelebA final reconstructions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A835C8-CBD9-446A-8DCB-C4DBEB6D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E697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697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e1f6b540e04a7f"/>
          <a:stretch xmlns:a="http://schemas.openxmlformats.org/drawingml/2006/main"/>
        </p:blipFill>
        <p:spPr>
          <a:xfrm xmlns:a="http://schemas.openxmlformats.org/drawingml/2006/main">
            <a:off x="552450" y="1662768"/>
            <a:ext cx="11087100" cy="358961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D1A82D-A26D-431B-A7F1-F1E762FA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82930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469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E69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974"/>
                </a:solidFill>
                <a:latin typeface="Aptos"/>
                <a:ea typeface="Aptos"/>
                <a:cs typeface="Aptos"/>
              </a:rPr>
              <a:t>Top row: denoising (most sensitive). Bottom row: random inpainting (least sensitive). The image was selected before examining results.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EF704D-ECD4-4939-8481-8C5EFB71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821CB1-C7D3-46F4-B563-2B0E2D80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62725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9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974"/>
                </a:solidFill>
                <a:latin typeface="Aptos"/>
                <a:ea typeface="Aptos"/>
                <a:cs typeface="Aptos"/>
              </a:rPr>
              <a:t>FLOWER measurement noise scale mismatch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9977FA-8057-4058-A50B-DE832378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62725"/>
            <a:ext cx="2705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E69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974"/>
                </a:solidFill>
                <a:latin typeface="Aptos"/>
                <a:ea typeface="Aptos"/>
                <a:cs typeface="Aptos"/>
              </a:rPr>
              <a:t>20 CelebA + 20 AFHQ-Cat</a:t>
            </a:r>
          </a:p>
        </p:txBody>
      </p:sp>
    </p:spTree>
    <p:extLst>
      <p:ext uri="{BB962C8B-B14F-4D97-AF65-F5344CB8AC3E}">
        <p14:creationId xmlns:p14="http://schemas.microsoft.com/office/powerpoint/2010/main" val="16866679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5217F8-090C-43F8-AA2A-30D12E32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3C0DDD-DCC7-45B9-984F-D82D8A6B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AFHQ-Cat final reconstructions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D13DCF-84F3-4A40-93B4-12031D43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E697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697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6b13d8f8ff473f"/>
          <a:stretch xmlns:a="http://schemas.openxmlformats.org/drawingml/2006/main"/>
        </p:blipFill>
        <p:spPr>
          <a:xfrm xmlns:a="http://schemas.openxmlformats.org/drawingml/2006/main">
            <a:off x="552450" y="1662768"/>
            <a:ext cx="11087100" cy="358961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FB2D32-24F7-4C85-BBFE-D91926C4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82930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581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E69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974"/>
                </a:solidFill>
                <a:latin typeface="Aptos"/>
                <a:ea typeface="Aptos"/>
                <a:cs typeface="Aptos"/>
              </a:rPr>
              <a:t>Top row: denoising (most sensitive). Bottom row: random inpainting (least sensitive). The same selection rule is used across domains.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E91672-12A4-421B-98FB-EEB04090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2E6641-6480-48DA-A553-D29B142F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62725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9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974"/>
                </a:solidFill>
                <a:latin typeface="Aptos"/>
                <a:ea typeface="Aptos"/>
                <a:cs typeface="Aptos"/>
              </a:rPr>
              <a:t>FLOWER measurement noise scale mismatch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98B388-D930-426F-91E6-8BBD2B96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62725"/>
            <a:ext cx="2705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E69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974"/>
                </a:solidFill>
                <a:latin typeface="Aptos"/>
                <a:ea typeface="Aptos"/>
                <a:cs typeface="Aptos"/>
              </a:rPr>
              <a:t>20 CelebA + 20 AFHQ-Cat</a:t>
            </a:r>
          </a:p>
        </p:txBody>
      </p:sp>
    </p:spTree>
    <p:extLst>
      <p:ext uri="{BB962C8B-B14F-4D97-AF65-F5344CB8AC3E}">
        <p14:creationId xmlns:p14="http://schemas.microsoft.com/office/powerpoint/2010/main" val="16788411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274B4A-489F-4048-8F16-B2AC6A21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DFDB7A-B9D7-4EB5-A487-EC98E43A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Noise mismatch changes the reconstruction trajectory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C5439D-3EF3-4055-9065-D804FECC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E697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6974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dc470429a14ed5"/>
          <a:stretch xmlns:a="http://schemas.openxmlformats.org/drawingml/2006/main"/>
        </p:blipFill>
        <p:spPr>
          <a:xfrm xmlns:a="http://schemas.openxmlformats.org/drawingml/2006/main">
            <a:off x="3571648" y="1123950"/>
            <a:ext cx="5048704" cy="5010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913C5B-3726-47A4-ADEF-1A7D44A1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Rows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41EA1C-6F48-4DE5-B123-B1594DF8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209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0.5x sigma</a:t>
            </a:r>
          </a:p>
          <a:p xmlns:a="http://schemas.openxmlformats.org/drawingml/2006/main">
            <a:pPr algn="ctr">
              <a:defRPr sz="14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0.75x sigma</a:t>
            </a:r>
          </a:p>
          <a:p xmlns:a="http://schemas.openxmlformats.org/drawingml/2006/main">
            <a:pPr algn="ctr">
              <a:defRPr sz="14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1.0x sigma</a:t>
            </a:r>
          </a:p>
          <a:p xmlns:a="http://schemas.openxmlformats.org/drawingml/2006/main">
            <a:pPr algn="ctr">
              <a:defRPr sz="14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1.25x sigma</a:t>
            </a:r>
          </a:p>
          <a:p xmlns:a="http://schemas.openxmlformats.org/drawingml/2006/main">
            <a:pPr algn="ctr">
              <a:defRPr sz="14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1.5x sigma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A7213D-AC34-460E-81B6-A720C86F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05050"/>
            <a:ext cx="22669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 w="9525">
            <a:solidFill>
              <a:srgbClr val="D9E1E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259497-3306-4AE2-9A4A-27A124C3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457450"/>
            <a:ext cx="184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Controlled comparison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FC71DD-834C-4B3E-84B8-05705195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19400"/>
            <a:ext cx="18478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61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Every row shares the same source-noise sequence. Visible separation is caused by the assumed sigma and its downstream effects.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CAC1A8-2466-4948-9B02-D2A16C7C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8DA3C5-DBE1-4E84-ADF4-AA2EDF48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62725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9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974"/>
                </a:solidFill>
                <a:latin typeface="Aptos"/>
                <a:ea typeface="Aptos"/>
                <a:cs typeface="Aptos"/>
              </a:rPr>
              <a:t>FLOWER measurement noise scale mismatch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949106-7761-4078-A51B-F1BACE7F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62725"/>
            <a:ext cx="2705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E69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974"/>
                </a:solidFill>
                <a:latin typeface="Aptos"/>
                <a:ea typeface="Aptos"/>
                <a:cs typeface="Aptos"/>
              </a:rPr>
              <a:t>20 CelebA + 20 AFHQ-Cat</a:t>
            </a:r>
          </a:p>
        </p:txBody>
      </p:sp>
    </p:spTree>
    <p:extLst>
      <p:ext uri="{BB962C8B-B14F-4D97-AF65-F5344CB8AC3E}">
        <p14:creationId xmlns:p14="http://schemas.microsoft.com/office/powerpoint/2010/main" val="11682947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D202F2-8AE4-4EF0-AD8F-934F7410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731624-3D00-47BB-AC4B-F9242618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The direct effect appears in measurement refinement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9B4740-7006-4638-8D51-B2357C4A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E697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6974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f4ebcbcf104393"/>
          <a:stretch xmlns:a="http://schemas.openxmlformats.org/drawingml/2006/main"/>
        </p:blipFill>
        <p:spPr>
          <a:xfrm xmlns:a="http://schemas.openxmlformats.org/drawingml/2006/main">
            <a:off x="495300" y="1466765"/>
            <a:ext cx="11201400" cy="413401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BA9F48-6EDE-4A42-977B-8CE9AA7B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791200"/>
            <a:ext cx="9944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9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974"/>
                </a:solidFill>
                <a:latin typeface="Aptos"/>
                <a:ea typeface="Aptos"/>
                <a:cs typeface="Aptos"/>
              </a:rPr>
              <a:t>Columns compare the prior destination, refined destination, and next trajectory state at three times. Rows compare ratios 0.5, 1.0, and 1.5.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6DAE79-421E-474B-BBDB-7B835FF9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AC27D2-5164-46C8-A8DC-B823007F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62725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9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974"/>
                </a:solidFill>
                <a:latin typeface="Aptos"/>
                <a:ea typeface="Aptos"/>
                <a:cs typeface="Aptos"/>
              </a:rPr>
              <a:t>FLOWER measurement noise scale mismatch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ECE40A-C7D8-4134-B38E-02A4FA0F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62725"/>
            <a:ext cx="2705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E69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974"/>
                </a:solidFill>
                <a:latin typeface="Aptos"/>
                <a:ea typeface="Aptos"/>
                <a:cs typeface="Aptos"/>
              </a:rPr>
              <a:t>20 CelebA + 20 AFHQ-Cat</a:t>
            </a:r>
          </a:p>
        </p:txBody>
      </p:sp>
    </p:spTree>
    <p:extLst>
      <p:ext uri="{BB962C8B-B14F-4D97-AF65-F5344CB8AC3E}">
        <p14:creationId xmlns:p14="http://schemas.microsoft.com/office/powerpoint/2010/main" val="1223171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FC4B51-73CF-4E1B-9AE9-C96A2423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893EFC-B1DB-40BD-B3CD-9F163E26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Mismatch sensitivity is task-specific and asymmetric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9E19BB-932E-47BB-87CB-5161CF97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E697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6974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28650" y="1390650"/>
          <a:ext xmlns:a="http://schemas.openxmlformats.org/drawingml/2006/main" cx="6191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d39d618e353446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5C9C9C-908B-4AAF-BE4C-E33DA6A1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906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45D4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45D4C"/>
                </a:solidFill>
                <a:latin typeface="Aptos"/>
                <a:ea typeface="Aptos"/>
                <a:cs typeface="Aptos"/>
              </a:rPr>
              <a:t>Highest response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F9D939-EE09-442D-9998-DCA4B82A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764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CelebA Denoising   1.05 dB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BB2CFD-DF9E-4F47-9B2E-9CAC27E6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050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826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B8264"/>
                </a:solidFill>
                <a:latin typeface="Aptos"/>
                <a:ea typeface="Aptos"/>
                <a:cs typeface="Aptos"/>
              </a:rPr>
              <a:t>Most tolerant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7FB017-2AF3-4637-A615-21D080C2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908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5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CelebA Random inpainting   0.02 dB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5FB66C-090B-4873-A18B-D5FDE27D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19450"/>
            <a:ext cx="39433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6F1EA"/>
          </a:solidFill>
          <a:ln xmlns:a="http://schemas.openxmlformats.org/drawingml/2006/main" w="9525">
            <a:solidFill>
              <a:srgbClr val="D9E1E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66332F-5277-4918-9655-EC5B5BD3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33750"/>
            <a:ext cx="3448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758A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758A6"/>
                </a:solidFill>
                <a:latin typeface="Aptos"/>
                <a:ea typeface="Aptos"/>
                <a:cs typeface="Aptos"/>
              </a:rPr>
              <a:t>Underestimation can help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479A4F-A77D-4E78-AD80-4D224457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38550"/>
            <a:ext cx="3409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228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At 0.5x sigma, super-resolution gains 0.42 dB on CelebA and 0.47 dB on AFHQ-Cat.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56B8F3-0C64-47E7-87E7-2D952610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577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758A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758A6"/>
                </a:solidFill>
                <a:latin typeface="Aptos"/>
                <a:ea typeface="Aptos"/>
                <a:cs typeface="Aptos"/>
              </a:rPr>
              <a:t>Evidence boundary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F1AC3E-3043-4558-90AD-27D3E53A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143500"/>
            <a:ext cx="3714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9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974"/>
                </a:solidFill>
                <a:latin typeface="Aptos"/>
                <a:ea typeface="Aptos"/>
                <a:cs typeface="Aptos"/>
              </a:rPr>
              <a:t>The claims apply to released Flower1-OT checkpoints, five tested ratios, and fixed 20-image samples. No additional model was trained.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20C09D-D6FE-4C52-994C-8BE4710B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28FF92-18AD-4D91-8652-9FB76203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62725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9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974"/>
                </a:solidFill>
                <a:latin typeface="Aptos"/>
                <a:ea typeface="Aptos"/>
                <a:cs typeface="Aptos"/>
              </a:rPr>
              <a:t>Full tables, confidence intervals, mathematical derivations, and limitations are in the report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472E97-8AF8-4991-8C3F-F80083AB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62725"/>
            <a:ext cx="2705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E69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974"/>
                </a:solidFill>
                <a:latin typeface="Aptos"/>
                <a:ea typeface="Aptos"/>
                <a:cs typeface="Aptos"/>
              </a:rPr>
              <a:t>20 CelebA + 20 AFHQ-Cat</a:t>
            </a:r>
          </a:p>
        </p:txBody>
      </p:sp>
    </p:spTree>
    <p:extLst>
      <p:ext uri="{BB962C8B-B14F-4D97-AF65-F5344CB8AC3E}">
        <p14:creationId xmlns:p14="http://schemas.microsoft.com/office/powerpoint/2010/main" val="14302538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2026-10-14T16:36:24.0280000Z</dcterms:created>
  <dcterms:modified xsi:type="dcterms:W3CDTF">2026-10-14T16:36:24.0280000Z</dcterms:modified>
</coreProperties>
</file>